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gif" ContentType="image/gi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392" r:id="rId5"/>
    <p:sldId id="383" r:id="rId6"/>
    <p:sldId id="257" r:id="rId7"/>
    <p:sldId id="258" r:id="rId8"/>
    <p:sldId id="259" r:id="rId9"/>
    <p:sldId id="271" r:id="rId10"/>
    <p:sldId id="260" r:id="rId11"/>
    <p:sldId id="263" r:id="rId12"/>
    <p:sldId id="265" r:id="rId13"/>
    <p:sldId id="266" r:id="rId14"/>
    <p:sldId id="267" r:id="rId15"/>
    <p:sldId id="268" r:id="rId16"/>
    <p:sldId id="269" r:id="rId17"/>
    <p:sldId id="380" r:id="rId18"/>
    <p:sldId id="270" r:id="rId19"/>
    <p:sldId id="393" r:id="rId20"/>
    <p:sldId id="272" r:id="rId21"/>
    <p:sldId id="273" r:id="rId22"/>
    <p:sldId id="394" r:id="rId23"/>
    <p:sldId id="275" r:id="rId24"/>
    <p:sldId id="276" r:id="rId25"/>
    <p:sldId id="277" r:id="rId26"/>
    <p:sldId id="278" r:id="rId27"/>
    <p:sldId id="279" r:id="rId28"/>
    <p:sldId id="280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381" r:id="rId43"/>
    <p:sldId id="382" r:id="rId44"/>
    <p:sldId id="296" r:id="rId45"/>
    <p:sldId id="297" r:id="rId46"/>
    <p:sldId id="298" r:id="rId47"/>
    <p:sldId id="299" r:id="rId48"/>
    <p:sldId id="401" r:id="rId49"/>
    <p:sldId id="402" r:id="rId50"/>
    <p:sldId id="301" r:id="rId51"/>
    <p:sldId id="399" r:id="rId52"/>
    <p:sldId id="302" r:id="rId53"/>
    <p:sldId id="400" r:id="rId54"/>
    <p:sldId id="303" r:id="rId55"/>
    <p:sldId id="379" r:id="rId56"/>
    <p:sldId id="304" r:id="rId57"/>
    <p:sldId id="306" r:id="rId58"/>
    <p:sldId id="384" r:id="rId59"/>
    <p:sldId id="337" r:id="rId60"/>
    <p:sldId id="315" r:id="rId61"/>
    <p:sldId id="316" r:id="rId62"/>
    <p:sldId id="317" r:id="rId63"/>
    <p:sldId id="318" r:id="rId64"/>
    <p:sldId id="361" r:id="rId65"/>
    <p:sldId id="363" r:id="rId66"/>
    <p:sldId id="281" r:id="rId67"/>
    <p:sldId id="313" r:id="rId68"/>
    <p:sldId id="364" r:id="rId69"/>
    <p:sldId id="282" r:id="rId70"/>
    <p:sldId id="312" r:id="rId71"/>
    <p:sldId id="365" r:id="rId72"/>
    <p:sldId id="366" r:id="rId73"/>
    <p:sldId id="367" r:id="rId74"/>
    <p:sldId id="368" r:id="rId75"/>
    <p:sldId id="369" r:id="rId76"/>
    <p:sldId id="377" r:id="rId77"/>
    <p:sldId id="370" r:id="rId78"/>
    <p:sldId id="378" r:id="rId79"/>
    <p:sldId id="371" r:id="rId80"/>
    <p:sldId id="372" r:id="rId81"/>
    <p:sldId id="373" r:id="rId82"/>
    <p:sldId id="374" r:id="rId83"/>
    <p:sldId id="375" r:id="rId84"/>
    <p:sldId id="307" r:id="rId85"/>
    <p:sldId id="308" r:id="rId86"/>
    <p:sldId id="395" r:id="rId87"/>
    <p:sldId id="309" r:id="rId88"/>
    <p:sldId id="310" r:id="rId89"/>
    <p:sldId id="311" r:id="rId90"/>
    <p:sldId id="397" r:id="rId91"/>
    <p:sldId id="314" r:id="rId92"/>
    <p:sldId id="339" r:id="rId93"/>
    <p:sldId id="319" r:id="rId94"/>
    <p:sldId id="320" r:id="rId95"/>
    <p:sldId id="321" r:id="rId96"/>
    <p:sldId id="322" r:id="rId97"/>
    <p:sldId id="403" r:id="rId98"/>
    <p:sldId id="404" r:id="rId99"/>
    <p:sldId id="405" r:id="rId100"/>
    <p:sldId id="340" r:id="rId101"/>
    <p:sldId id="323" r:id="rId102"/>
    <p:sldId id="354" r:id="rId103"/>
    <p:sldId id="355" r:id="rId104"/>
    <p:sldId id="324" r:id="rId105"/>
    <p:sldId id="325" r:id="rId106"/>
    <p:sldId id="342" r:id="rId107"/>
    <p:sldId id="343" r:id="rId108"/>
    <p:sldId id="344" r:id="rId109"/>
    <p:sldId id="345" r:id="rId110"/>
    <p:sldId id="346" r:id="rId111"/>
    <p:sldId id="347" r:id="rId112"/>
    <p:sldId id="348" r:id="rId113"/>
    <p:sldId id="349" r:id="rId114"/>
    <p:sldId id="350" r:id="rId115"/>
    <p:sldId id="351" r:id="rId116"/>
    <p:sldId id="360" r:id="rId117"/>
    <p:sldId id="385" r:id="rId118"/>
    <p:sldId id="262" r:id="rId119"/>
    <p:sldId id="386" r:id="rId120"/>
    <p:sldId id="261" r:id="rId121"/>
    <p:sldId id="387" r:id="rId122"/>
    <p:sldId id="300" r:id="rId123"/>
    <p:sldId id="388" r:id="rId124"/>
    <p:sldId id="264" r:id="rId125"/>
    <p:sldId id="376" r:id="rId126"/>
    <p:sldId id="389" r:id="rId127"/>
    <p:sldId id="390" r:id="rId128"/>
    <p:sldId id="391" r:id="rId129"/>
    <p:sldId id="341" r:id="rId130"/>
    <p:sldId id="326" r:id="rId131"/>
    <p:sldId id="352" r:id="rId132"/>
    <p:sldId id="353" r:id="rId133"/>
    <p:sldId id="327" r:id="rId134"/>
    <p:sldId id="328" r:id="rId135"/>
    <p:sldId id="329" r:id="rId136"/>
    <p:sldId id="330" r:id="rId137"/>
    <p:sldId id="331" r:id="rId138"/>
    <p:sldId id="332" r:id="rId139"/>
    <p:sldId id="333" r:id="rId140"/>
    <p:sldId id="334" r:id="rId141"/>
    <p:sldId id="335" r:id="rId142"/>
    <p:sldId id="336" r:id="rId143"/>
  </p:sldIdLst>
  <p:sldSz cx="1219136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28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7"/>
        <p:guide pos="287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6" Type="http://schemas.openxmlformats.org/officeDocument/2006/relationships/tableStyles" Target="tableStyles.xml"/><Relationship Id="rId145" Type="http://schemas.openxmlformats.org/officeDocument/2006/relationships/viewProps" Target="viewProps.xml"/><Relationship Id="rId144" Type="http://schemas.openxmlformats.org/officeDocument/2006/relationships/presProps" Target="presProps.xml"/><Relationship Id="rId143" Type="http://schemas.openxmlformats.org/officeDocument/2006/relationships/slide" Target="slides/slide140.xml"/><Relationship Id="rId142" Type="http://schemas.openxmlformats.org/officeDocument/2006/relationships/slide" Target="slides/slide139.xml"/><Relationship Id="rId141" Type="http://schemas.openxmlformats.org/officeDocument/2006/relationships/slide" Target="slides/slide138.xml"/><Relationship Id="rId140" Type="http://schemas.openxmlformats.org/officeDocument/2006/relationships/slide" Target="slides/slide137.xml"/><Relationship Id="rId14" Type="http://schemas.openxmlformats.org/officeDocument/2006/relationships/slide" Target="slides/slide11.xml"/><Relationship Id="rId139" Type="http://schemas.openxmlformats.org/officeDocument/2006/relationships/slide" Target="slides/slide136.xml"/><Relationship Id="rId138" Type="http://schemas.openxmlformats.org/officeDocument/2006/relationships/slide" Target="slides/slide135.xml"/><Relationship Id="rId137" Type="http://schemas.openxmlformats.org/officeDocument/2006/relationships/slide" Target="slides/slide134.xml"/><Relationship Id="rId136" Type="http://schemas.openxmlformats.org/officeDocument/2006/relationships/slide" Target="slides/slide133.xml"/><Relationship Id="rId135" Type="http://schemas.openxmlformats.org/officeDocument/2006/relationships/slide" Target="slides/slide132.xml"/><Relationship Id="rId134" Type="http://schemas.openxmlformats.org/officeDocument/2006/relationships/slide" Target="slides/slide131.xml"/><Relationship Id="rId133" Type="http://schemas.openxmlformats.org/officeDocument/2006/relationships/slide" Target="slides/slide130.xml"/><Relationship Id="rId132" Type="http://schemas.openxmlformats.org/officeDocument/2006/relationships/slide" Target="slides/slide129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0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已有样本</c:v>
                </c:pt>
              </c:strCache>
            </c:strRef>
          </c:tx>
          <c:spPr>
            <a:ln w="47625" cap="rnd" cmpd="sng" algn="ctr">
              <a:noFill/>
              <a:prstDash val="solid"/>
              <a:round/>
            </a:ln>
          </c:spPr>
          <c:marker>
            <c:symbol val="circle"/>
            <c:size val="11"/>
            <c:spPr>
              <a:solidFill>
                <a:srgbClr val="0F766E"/>
              </a:solidFill>
              <a:ln w="9525" cap="flat" cmpd="sng" algn="ctr">
                <a:solidFill>
                  <a:srgbClr val="0F766E"/>
                </a:solidFill>
                <a:prstDash val="solid"/>
                <a:round/>
              </a:ln>
            </c:spPr>
          </c:marker>
          <c:dLbls>
            <c:delete val="1"/>
          </c:dLbls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1.3</c:v>
                </c:pt>
                <c:pt idx="1">
                  <c:v>2.4</c:v>
                </c:pt>
                <c:pt idx="2">
                  <c:v>2.9</c:v>
                </c:pt>
                <c:pt idx="3">
                  <c:v>4.1</c:v>
                </c:pt>
                <c:pt idx="4">
                  <c:v>4.6</c:v>
                </c:pt>
                <c:pt idx="5">
                  <c:v>5.8</c:v>
                </c:pt>
                <c:pt idx="6">
                  <c:v>6.5</c:v>
                </c:pt>
                <c:pt idx="7">
                  <c:v>7.4</c:v>
                </c:pt>
                <c:pt idx="8">
                  <c:v>8.3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Sheet1!$B$12</c:f>
              <c:strCache>
                <c:ptCount val="1"/>
                <c:pt idx="0">
                  <c:v>学到的关系</c:v>
                </c:pt>
              </c:strCache>
            </c:strRef>
          </c:tx>
          <c:spPr>
            <a:ln w="31750" cap="rnd" cmpd="sng" algn="ctr">
              <a:solidFill>
                <a:srgbClr val="D9622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Sheet1!$A$13:$A$14</c:f>
              <c:numCache>
                <c:formatCode>General</c:formatCode>
                <c:ptCount val="2"/>
                <c:pt idx="0">
                  <c:v>0.5</c:v>
                </c:pt>
                <c:pt idx="1">
                  <c:v>10</c:v>
                </c:pt>
              </c:numCache>
            </c:numRef>
          </c:xVal>
          <c:yVal>
            <c:numRef>
              <c:f>Sheet1!$B$13:$B$14</c:f>
              <c:numCache>
                <c:formatCode>General</c:formatCode>
                <c:ptCount val="2"/>
                <c:pt idx="0">
                  <c:v>0.75</c:v>
                </c:pt>
                <c:pt idx="1">
                  <c:v>9.3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Sheet1!$B$16</c:f>
              <c:strCache>
                <c:ptCount val="1"/>
                <c:pt idx="0">
                  <c:v>新输入的预测</c:v>
                </c:pt>
              </c:strCache>
            </c:strRef>
          </c:tx>
          <c:spPr>
            <a:ln w="47625" cap="rnd" cmpd="sng" algn="ctr">
              <a:noFill/>
              <a:prstDash val="solid"/>
              <a:round/>
            </a:ln>
          </c:spPr>
          <c:marker>
            <c:symbol val="diamond"/>
            <c:size val="14"/>
            <c:spPr>
              <a:solidFill>
                <a:srgbClr val="14213D"/>
              </a:solidFill>
              <a:ln w="9525" cap="flat" cmpd="sng" algn="ctr">
                <a:solidFill>
                  <a:srgbClr val="14213D"/>
                </a:solidFill>
                <a:prstDash val="solid"/>
                <a:round/>
              </a:ln>
            </c:spPr>
          </c:marker>
          <c:dLbls>
            <c:delete val="1"/>
          </c:dLbls>
          <c:xVal>
            <c:numRef>
              <c:f>Sheet1!$A$17:$A$17</c:f>
              <c:numCache>
                <c:formatCode>General</c:formatCode>
                <c:ptCount val="1"/>
                <c:pt idx="0">
                  <c:v>9.6</c:v>
                </c:pt>
              </c:numCache>
            </c:numRef>
          </c:xVal>
          <c:yVal>
            <c:numRef>
              <c:f>Sheet1!$B$17:$B$17</c:f>
              <c:numCache>
                <c:formatCode>General</c:formatCode>
                <c:ptCount val="1"/>
                <c:pt idx="0">
                  <c:v>8.94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300" b="1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+mn-ea"/>
                    <a:cs typeface="+mn-cs"/>
                  </a:defRPr>
                </a:pPr>
                <a:r>
                  <a:rPr sz="1300"/>
                  <a:t>面积（示意）</a:t>
                </a:r>
                <a:endParaRPr sz="130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AD7CE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300" b="1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+mn-ea"/>
                    <a:cs typeface="+mn-cs"/>
                  </a:defRPr>
                </a:pPr>
                <a:r>
                  <a:rPr sz="1300"/>
                  <a:t>用量（示意）</a:t>
                </a:r>
                <a:endParaRPr sz="130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57982c0-b9b1-47a1-af4e-7b2a32740c4e}"/>
      </c:ext>
    </c:extLst>
  </c:chart>
  <c:txPr>
    <a:bodyPr/>
    <a:lstStyle/>
    <a:p>
      <a:pPr>
        <a:defRPr lang="zh-CN" sz="1300">
          <a:latin typeface="微软雅黑" panose="020B0503020204020204" charset="-122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3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5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6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7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8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9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0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2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3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4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5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6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7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8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9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主标题：AI 交流分享——从原理到实践</a:t>
            </a:r>
          </a:p>
          <a:p>
            <a:r>
              <a:t>一句话：用三个真实测试，回答 AI 能做到哪一步、哪里会出错、哪些地方必须人来核。</a:t>
            </a:r>
          </a:p>
          <a:p/>
          <a:p>
            <a:r>
              <a:t>三个测试：同一句提示词的十份鹈鹕动画；十个配置审同一张挡块图纸；四个配置写同一份修编报告。</a:t>
            </a:r>
          </a:p>
          <a:p/>
          <a:p>
            <a:r>
              <a:t>署名与日期：分享人〔请填写〕｜2026 年 10 月</a:t>
            </a:r>
          </a:p>
          <a:p/>
          <a:p>
            <a:r>
              <a:t>素材：鹈鹕原始 HTML 录屏、桥墩挡块图纸、四份修编报告及其复算底稿，均为本地真实材料。</a:t>
            </a:r>
          </a:p>
          <a:p/>
          <a:p>
            <a:r>
              <a:t>封面背景：社区同人长卷《从岩画到 AI》（B 站海报），淡化处理作底图，版权归原作者。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开场先导片，63 秒，进入本页自动播放（有配乐，记得开音量）。内容是整场的预告：逐 token 生成、四个常见问题、鹈鹕盲测、两个真实案例、带走三件事。</a:t>
            </a:r>
          </a:p>
          <a:p>
            <a:r>
              <a:t>如果现场不方便放视频，右键本页“隐藏幻灯片”即可，后面页码会自动顺延显示不变——但跳页时请以屏幕右上角页码为准。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开场不先讲原理，先给两个结果，让大家带着问题听。</a:t>
            </a:r>
          </a:p>
          <a:p/>
          <a:p>
            <a:r>
              <a:t>左边：同一张桥墩挡块图纸、同一句提示词，交给十个“模型＋客户端”配置审查。只有 3 个找到了关键问题（K1 分段与总长对不上、K2 sinα 与 sinβ 不一致），十份结果合计还有 30 条假错误——说得很具体，但对照原图不成立。</a:t>
            </a:r>
          </a:p>
          <a:p/>
          <a:p>
            <a:r>
              <a:t>右边：四个配置按同一份清单写修编报告。金额基本都对，可有一份把修编前总额写成 41638.89（复算基准是 41,638.9336 万元），承建单位照抄了旧标段模板里的“中铁十二局集团有限公司”。</a:t>
            </a:r>
          </a:p>
          <a:p/>
          <a:p>
            <a:r>
              <a:t>这两个结果说明一件事：AI 交出来的东西越像正式交付物，人越容易放松检查。今天的四个部分，就是解释它为什么会这样错，以及怎么用方法把它管住。</a:t>
            </a:r>
          </a:p>
          <a:p/>
          <a:p>
            <a:r>
              <a:t>口径：图纸只统计 K1、K2 两个检查点，不是准确率；报告金额以汇总表口径复算，不含暂列金额。详见第 03 部分。</a:t>
            </a:r>
          </a:p>
          <a:p/>
          <a:p>
            <a:r>
              <a:t>屏幕示意：左边十个方块是十个配置，亮色三个（Opus、GPT、Qwen）找到关键问题；下面三十个橙色小条是三十条假错误。右边四份报告金额都对，WorkBuddy 那份把修编前总额写成 41638.89（应为 41,638.9336 万元），还照抄了旧标段的承建单位。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要做的事，容易踩的坑，更有效的做法</a:t>
            </a:r>
          </a:p>
          <a:p>
            <a:r>
              <a:t>选配置，只看模型名和排行榜，同时看模型、工具、权限与任务成本</a:t>
            </a:r>
          </a:p>
          <a:p>
            <a:r>
              <a:t>给材料，只说“帮我完成”，交代目标、源文件、边界与输出格式</a:t>
            </a:r>
          </a:p>
          <a:p>
            <a:r>
              <a:t>验结果，回答流畅就认为正确，回到原文、重算关键数值、打开实际文件</a:t>
            </a:r>
          </a:p>
          <a:p/>
          <a:p>
            <a:r>
              <a:t>本次三个案例分别观察：动画能否完成要求、图纸能否发现问题、报告能否形成可用交付。</a:t>
            </a:r>
          </a:p>
          <a:p/>
          <a:p>
            <a:r>
              <a:t>参考来源</a:t>
            </a:r>
          </a:p>
          <a:p>
            <a:r>
              <a:t>本地分享材料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四个部分，正文页码：</a:t>
            </a:r>
          </a:p>
          <a:p>
            <a:r>
              <a:t>01 认识 AI：它怎么学、怎么一个 token 一个 token 地生成，以及抽卡、幻觉、迎合、上下文腐烂四个问题（P7–P17）。</a:t>
            </a:r>
          </a:p>
          <a:p>
            <a:r>
              <a:t>02 模型与工具：鹈鹕盲测、免费版与付费版、模型 × 外壳、榜单与各家脾气、免费额度（P19–P27）。</a:t>
            </a:r>
          </a:p>
          <a:p>
            <a:r>
              <a:t>03 两个真实案例：挡块图纸审查、修编报告原文对比（P29–P38）。</a:t>
            </a:r>
          </a:p>
          <a:p>
            <a:r>
              <a:t>04 怎么用得稳：什么活适合交给 AI、任务书、上下文、RAG、工作流与多 Agent、数据与权限（P40–P54）。</a:t>
            </a:r>
          </a:p>
          <a:p>
            <a:r>
              <a:t>收尾：带走三件事（P55）、提问与交流（P56）。</a:t>
            </a:r>
          </a:p>
          <a:p/>
          <a:p>
            <a:r>
              <a:t>开场先导片（P2，63 秒，自动播放）。</a:t>
            </a:r>
          </a:p>
          <a:p/>
          <a:p>
            <a:r>
              <a:t>附录（会后速查，现场不讲）：A 常用术语、B 一页一家公司、C 订阅与开通、D 资讯与榜单、E 案例风险与破限、F 原理与历史（P115 起）、Z 参考资料与来源（P127 起）。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章节过渡页：认识 AI：它在一个字一个字地猜</a:t>
            </a:r>
          </a:p>
          <a:p>
            <a:r>
              <a:t>先看它怎么学、怎么生成，后面的抽卡、幻觉、迎合和上下文腐烂，都能从这里找到原因。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小结：四个常见问题，原因和对策</a:t>
            </a:r>
          </a:p>
          <a:p/>
          <a:p>
            <a:r>
              <a:t>抽卡：按概率抽 token，加上服务端计算的微小差异 → 重要任务多跑几次，关键结论不靠单次。</a:t>
            </a:r>
          </a:p>
          <a:p>
            <a:r>
              <a:t>幻觉：只挑最像的续写，不查证 → 允许“材料不足”，要求出处，回原文核。</a:t>
            </a:r>
          </a:p>
          <a:p>
            <a:r>
              <a:t>迎合：偏好训练奖励讨好 → 开放提问，不在问题里下结论，要求给反例。</a:t>
            </a:r>
          </a:p>
          <a:p>
            <a:r>
              <a:t>上下文腐烂：注意力被长输入冲淡 → 新开对话、精简材料、关键要求放开头。</a:t>
            </a:r>
          </a:p>
          <a:p/>
          <a:p>
            <a:r>
              <a:t>这四个问题在后面的案例里都会看到：鹈鹕只跑一次（抽卡）、图纸里的假错误（幻觉/迎合）、报告里套用旧模板（材料多时抓错重点）。</a:t>
            </a:r>
          </a:p>
          <a:p/>
          <a:p>
            <a:r>
              <a:t>查询与整理日期：2026-10-18。</a:t>
            </a:r>
          </a:p>
          <a:p>
            <a:r>
              <a:t>依据：</a:t>
            </a:r>
          </a:p>
          <a:p>
            <a:r>
              <a:t>https://arxiv.org/abs/2310.13548</a:t>
            </a:r>
          </a:p>
          <a:p>
            <a:r>
              <a:t>https://www.trychroma.com/research/context-rot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例子：给出多组“面积—用量”，模型尝试找到二者的关系，再预测新面积对应的用量。</a:t>
            </a:r>
          </a:p>
          <a:p/>
          <a:p>
            <a:r>
              <a:t>训练：用已有例子调整参数，让预测更接近样本答案。</a:t>
            </a:r>
          </a:p>
          <a:p/>
          <a:p>
            <a:r>
              <a:t>预测：面对新输入，使用已经学到的参数计算结果。</a:t>
            </a:r>
          </a:p>
          <a:p/>
          <a:p>
            <a:r>
              <a:t>边界：训练数据中的规律，不一定适用于新的材料、工况或项目。拟合得好，不等于理解了因果。</a:t>
            </a:r>
          </a:p>
          <a:p/>
          <a:p>
            <a:r>
              <a:t>参考来源</a:t>
            </a:r>
          </a:p>
          <a:p/>
          <a:p>
            <a:r>
              <a:t>查询与整理日期：2026-10-18。</a:t>
            </a:r>
          </a:p>
          <a:p>
            <a:r>
              <a:t>依据：</a:t>
            </a:r>
          </a:p>
          <a:p>
            <a:r>
              <a:t>https://arxiv.org/abs/2203.02155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“把图纸和清单放在一起，检查它是否与图示一致。”</a:t>
            </a:r>
          </a:p>
          <a:p/>
          <a:p>
            <a:r>
              <a:t>模型需要结合周围文字，判断“它”指的是清单、数量还是某个尺寸。注意力机制帮助不同位置的信息相互关联。</a:t>
            </a:r>
          </a:p>
          <a:p/>
          <a:p>
            <a:r>
              <a:t>训练时：从大量样本学习这些关联。</a:t>
            </a:r>
          </a:p>
          <a:p/>
          <a:p>
            <a:r>
              <a:t>使用时：当前输入和对话为生成提供上下文。</a:t>
            </a:r>
          </a:p>
          <a:p/>
          <a:p>
            <a:r>
              <a:t>边界：能关联远处信息，不代表必然准确找到每个细节，长文档仍需要定位与核验。</a:t>
            </a:r>
          </a:p>
          <a:p/>
          <a:p>
            <a:r>
              <a:t>参考来源</a:t>
            </a:r>
          </a:p>
          <a:p>
            <a:r>
              <a:t>S33 Transformer 原论文</a:t>
            </a:r>
          </a:p>
          <a:p>
            <a:r>
              <a:t>https://arxiv.org/abs/1706.03762</a:t>
            </a:r>
          </a:p>
          <a:p/>
          <a:p>
            <a:r>
              <a:t>查询与整理日期：2026-10-18。</a:t>
            </a:r>
          </a:p>
          <a:p/>
          <a:p>
            <a:r>
              <a:t>补充讲解：</a:t>
            </a:r>
          </a:p>
          <a:p>
            <a:r>
              <a:t>读到“它”时，模型会给句子里每个词算一个相关度，再按相关度把这些词的信息加权混进来。图里线越粗，表示权重越高（数字为示意）。</a:t>
            </a:r>
          </a:p>
          <a:p>
            <a:r>
              <a:t>Transformer 的三个特点：① 所有词同时处理，适合用 GPU 并行训练；② 相隔很远的词也能直接建立关联；③ 这样的注意力层叠几十上百层。</a:t>
            </a:r>
          </a:p>
          <a:p>
            <a:r>
              <a:t>这也埋下了“上下文腐烂”的伏笔：上下文越长，要分配注意力的词越多，关键信息更容易被稀释。</a:t>
            </a:r>
          </a:p>
          <a:p>
            <a:r>
              <a:t>依据：</a:t>
            </a:r>
          </a:p>
          <a:p>
            <a:r>
              <a:t>https://arxiv.org/abs/1706.03762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阶段，大致做什么，能改善什么，不能因此保证什么</a:t>
            </a:r>
          </a:p>
          <a:p>
            <a:r>
              <a:t>预训练，从大量数据学习预测，语言、知识模式和通用能力，事实始终正确、信息实时更新</a:t>
            </a:r>
          </a:p>
          <a:p>
            <a:r>
              <a:t>监督微调，学习示范回答，指令遵循、格式与表达，每个专业判断都有依据</a:t>
            </a:r>
          </a:p>
          <a:p>
            <a:r>
              <a:t>偏好优化／强化学习等，根据反馈或奖励调整行为，有用性、推理表现、部分安全行为，永不迎合、永不越界</a:t>
            </a:r>
          </a:p>
          <a:p/>
          <a:p>
            <a:r>
              <a:t>这是理解用的简化流程，各厂商的实际训练组合不同。</a:t>
            </a:r>
          </a:p>
          <a:p/>
          <a:p>
            <a:r>
              <a:t>参考来源</a:t>
            </a:r>
          </a:p>
          <a:p/>
          <a:p>
            <a:r>
              <a:t>查询与整理日期：2026-10-18。</a:t>
            </a:r>
          </a:p>
          <a:p>
            <a:r>
              <a:t>依据：</a:t>
            </a:r>
          </a:p>
          <a:p>
            <a:r>
              <a:t>https://arxiv.org/abs/2203.02155</a:t>
            </a:r>
          </a:p>
          <a:p>
            <a:r>
              <a:t>https://arxiv.org/abs/2310.13548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输入被拆成 token → 模型计算后续片段的可能性 → 逐步生成输出。</a:t>
            </a:r>
          </a:p>
          <a:p/>
          <a:p>
            <a:r>
              <a:t>Token 不等于汉字，也不等于单词。 汉字与 token 的比例取决于分词器、文本内容及编码方式，预算应以实际工具计数为准。</a:t>
            </a:r>
          </a:p>
          <a:p/>
          <a:p>
            <a:r>
              <a:t>温度影响采样的随机程度。 更低不等于更真实，部分推理模型或产品不开放这个参数。</a:t>
            </a:r>
          </a:p>
          <a:p/>
          <a:p>
            <a:r>
              <a:t>看起来完整的句子，可能包含不存在的条款、来源和计算。</a:t>
            </a:r>
          </a:p>
          <a:p/>
          <a:p>
            <a:r>
              <a:t>参考来源</a:t>
            </a:r>
          </a:p>
          <a:p/>
          <a:p>
            <a:r>
              <a:t>查询与整理日期：2026-10-18。</a:t>
            </a:r>
          </a:p>
          <a:p/>
          <a:p>
            <a:r>
              <a:t>动画说明：放映时每单击一次，生成一个 token。每一列是这一步模型给出的几个候选和概率，绿色是最后选中的那个，选中后接到回答末尾。</a:t>
            </a:r>
          </a:p>
          <a:p>
            <a:r>
              <a:t>第 4 步故意演示“没选概率最高的”：温度大于 0 时，模型按概率抽签，所以同一句话问两次，可能走上不同的岔路——这就是下一页“抽卡”的来源。</a:t>
            </a:r>
          </a:p>
          <a:p>
            <a:r>
              <a:t>模型每一步只是在挑“接下来最像的那个 token”，它不会停下来查证——这就是幻觉的来源。</a:t>
            </a:r>
          </a:p>
          <a:p>
            <a:r>
              <a:t>依据：</a:t>
            </a:r>
          </a:p>
          <a:p>
            <a:r>
              <a:t>https://arxiv.org/abs/1706.03762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抽卡（同一句话，不同质量的结果）</a:t>
            </a:r>
          </a:p>
          <a:p/>
          <a:p>
            <a:r>
              <a:t>根源：上一页的生成过程。温度大于 0 时，每一步按概率抽 token；某一步抽到不同的词，后面整段都会走上另一条路。</a:t>
            </a:r>
          </a:p>
          <a:p/>
          <a:p>
            <a:r>
              <a:t>就算把温度设成 0，在线服务也不保证每次一样。Thinking Machines 的实验：Qwen3-235B，同一句“Tell me about Richard Feynman”，温度 0，跑 1000 次，得到 80 种不同回答；前 102 个 token 完全一样，第 103 个开始分叉（992 次写“Queens, New York”，8 次写“New York City”）。主要原因是服务器负载变化导致批次大小变化，计算结果出现微小差异。</a:t>
            </a:r>
          </a:p>
          <a:p/>
          <a:p>
            <a:r>
              <a:t>工作中的含义：一次结果好不代表每次都好，一次结果差也不代表模型不行。重要任务多跑几次比较；关键结论不靠单次输出。</a:t>
            </a:r>
          </a:p>
          <a:p/>
          <a:p>
            <a:r>
              <a:t>后面的鹈鹕测试，每个配置也只跑了一次，所以只能说明“这一次”的表现。</a:t>
            </a:r>
          </a:p>
          <a:p/>
          <a:p>
            <a:r>
              <a:t>参考来源</a:t>
            </a:r>
          </a:p>
          <a:p>
            <a:r>
              <a:t>Thinking Machines，Defeating Nondeterminism in LLM Inference，2025-09-10</a:t>
            </a:r>
          </a:p>
          <a:p>
            <a:r>
              <a:t>https://thinkingmachines.ai/blog/defeating-nondeterminism-in-llm-inference/</a:t>
            </a:r>
          </a:p>
          <a:p/>
          <a:p>
            <a:r>
              <a:t>查询与整理日期：2026-10-18。</a:t>
            </a:r>
          </a:p>
          <a:p>
            <a:r>
              <a:t>依据：</a:t>
            </a:r>
          </a:p>
          <a:p>
            <a:r>
              <a:t>https://thinkingmachines.ai/blog/defeating-nondeterminism-in-llm-inference/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幻觉</a:t>
            </a:r>
          </a:p>
          <a:p/>
          <a:p>
            <a:r>
              <a:t>根源：模型每一步只挑“最像”的下一个 token，不会停下来查证。材料里没有答案时，它倾向于补一个看起来合理的答案。</a:t>
            </a:r>
          </a:p>
          <a:p/>
          <a:p>
            <a:r>
              <a:t>真实事件 1：Mata v. Avianca（美国，2023）。律师用 ChatGPT 做研究，提交的文书里引用了 6 个根本不存在的判例。2023-06-22，法官判两名律师和律所合计罚款 5,000 美元。法官指出：用 AI 辅助本身没有问题，但律师有把关义务，要确保提交内容准确。</a:t>
            </a:r>
          </a:p>
          <a:p/>
          <a:p>
            <a:r>
              <a:t>真实事件 2：德勤澳大利亚（2025）。给澳大利亚就业与劳资关系部做的报告，合同金额 44 万澳元，报告里出现不存在的学术文献引用和捏造的联邦法院判决引语；修订版补充披露使用了 Azure OpenAI GPT-4o，德勤退还了最后一期款项。</a:t>
            </a:r>
          </a:p>
          <a:p/>
          <a:p>
            <a:r>
              <a:t>我们自己的图纸案例里也有：HY4 把公式里的“−9/sinβ”读成“3-9”，判断为“疑为 1-9 写错”；Qwen 把 A-A 剖面的“13×9”读成“1349”。</a:t>
            </a:r>
          </a:p>
          <a:p/>
          <a:p>
            <a:r>
              <a:t>对策：允许它说“材料不足”；要求每条结论给出处；关键事实回到原文核对。</a:t>
            </a:r>
          </a:p>
          <a:p/>
          <a:p>
            <a:r>
              <a:t>参考来源</a:t>
            </a:r>
          </a:p>
          <a:p>
            <a:r>
              <a:t>https://www.theguardian.com/technology/2023/jun/23/two-us-lawyers-fined-submitting-fake-court-citations-chatgpt</a:t>
            </a:r>
          </a:p>
          <a:p>
            <a:r>
              <a:t>https://www.theguardian.com/australia-news/2025/oct/06/deloitte-to-pay-money-back-to-albanese-government-after-using-ai-in-440000-report</a:t>
            </a:r>
          </a:p>
          <a:p>
            <a:r>
              <a:t>本地：配套核对材料 drawing.md（HY4、Qwen 工作簿条目）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迎合（谄媚）</a:t>
            </a:r>
          </a:p>
          <a:p/>
          <a:p>
            <a:r>
              <a:t>根源：训练第三步按“人喜不喜欢”给回答打分。人往往更喜欢被认同，于是模型学到了“顺着说”。</a:t>
            </a:r>
          </a:p>
          <a:p/>
          <a:p>
            <a:r>
              <a:t>真实事件：2025-04-29，OpenAI 回滚了一次 GPT-4o 更新。官方说法：这次更新让模型“overly flattering or agreeable—often described as sycophantic”（过度奉承、附和），原因是“focused too much on short-term feedback”（过于看重短期反馈）。</a:t>
            </a:r>
          </a:p>
          <a:p/>
          <a:p>
            <a:r>
              <a:t>研究：Anthropic 的论文《Towards Understanding Sycophancy in Language Models》测试了 5 个当时最先进的 AI 助手，在 4 类任务中都稳定出现讨好行为；而且相当一部分时候，人和偏好模型都更喜欢写得漂亮的讨好回答，而不是正确回答。</a:t>
            </a:r>
          </a:p>
          <a:p/>
          <a:p>
            <a:r>
              <a:t>工作里的表现：你问“这里是不是有错”，它倾向于找出一个错；你说“我觉得没问题”，它倾向于同意。</a:t>
            </a:r>
          </a:p>
          <a:p/>
          <a:p>
            <a:r>
              <a:t>对策：开放提问，“请判断是否存在问题，没问题也可以”；要求它同时给出反例或反方证据。</a:t>
            </a:r>
          </a:p>
          <a:p/>
          <a:p>
            <a:r>
              <a:t>参考来源</a:t>
            </a:r>
          </a:p>
          <a:p>
            <a:r>
              <a:t>https://openai.com/index/sycophancy-in-gpt-4o/</a:t>
            </a:r>
          </a:p>
          <a:p>
            <a:r>
              <a:t>https://arxiv.org/abs/2310.13548</a:t>
            </a:r>
          </a:p>
          <a:p/>
          <a:p>
            <a:r>
              <a:t>查询与整理日期：2026-10-18。</a:t>
            </a:r>
          </a:p>
          <a:p>
            <a:r>
              <a:t>依据：</a:t>
            </a:r>
          </a:p>
          <a:p>
            <a:r>
              <a:t>https://arxiv.org/abs/2310.13548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案例展示的是检查范围遗漏，不能凭一次对话确定训练因果。原稿关于数学手稿的延伸内容另见公司附录，本页聚焦本地案例。</a:t>
            </a:r>
          </a:p>
          <a:p>
            <a:r>
              <a:t>依据：</a:t>
            </a:r>
          </a:p>
          <a:p>
            <a:r>
              <a:t>https://arxiv.org/abs/2310.13548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上下文腐烂</a:t>
            </a:r>
          </a:p>
          <a:p/>
          <a:p>
            <a:r>
              <a:t>根源：注意力机制要给上下文里的每个 token 分配权重。内容越多，关键信息分到的越少，干扰越多。</a:t>
            </a:r>
          </a:p>
          <a:p/>
          <a:p>
            <a:r>
              <a:t>研究 1：Chroma《Context Rot》（2025-07-14）测了 18 个模型（含 GPT-4.1、Claude 4、Gemini 2.5、Qwen3 等），结论是“输入越长，表现越不可靠”。LongMemEval 测试里，只给相关的约 300 token，明显好于给完整的约 113k token；加一个干扰句就会降分，干扰句越多降得越多。左图是其中“重复词”任务：横轴是输入长度，纵轴是得分，几个模型都随长度下降。</a:t>
            </a:r>
          </a:p>
          <a:p/>
          <a:p>
            <a:r>
              <a:t>研究 2：Lost in the Middle（Liu 等，2023）：关键信息放在开头或结尾时最好找，放在长上下文中间时明显变差。</a:t>
            </a:r>
          </a:p>
          <a:p/>
          <a:p>
            <a:r>
              <a:t>和“上下文窗口”不是一回事：窗口 1M 只说明装得下，不代表都用得好。</a:t>
            </a:r>
          </a:p>
          <a:p/>
          <a:p>
            <a:r>
              <a:t>对策：一个任务一段对话，聊久了就新开；只给相关材料；关键要求放在开头，必要时结尾再重复一次；长文档先让它定位、再回答。</a:t>
            </a:r>
          </a:p>
          <a:p/>
          <a:p>
            <a:r>
              <a:t>参考来源</a:t>
            </a:r>
          </a:p>
          <a:p>
            <a:r>
              <a:t>https://research.trychroma.com/context-rot</a:t>
            </a:r>
          </a:p>
          <a:p>
            <a:r>
              <a:t>https://arxiv.org/abs/2307.03172</a:t>
            </a:r>
          </a:p>
          <a:p/>
          <a:p>
            <a:r>
              <a:t>查询与整理日期：2026-10-18。</a:t>
            </a:r>
          </a:p>
          <a:p>
            <a:r>
              <a:t>依据：</a:t>
            </a:r>
          </a:p>
          <a:p>
            <a:r>
              <a:t>https://www.trychroma.com/research/context-rot</a:t>
            </a:r>
          </a:p>
          <a:p>
            <a:r>
              <a:t>https://arxiv.org/abs/2307.03172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/>
          <a:p>
            <a:r>
              <a:t>屏幕精简前的完整文字（讲解时可展开）：</a:t>
            </a:r>
            <a:br/>
            <a:br/>
            <a:br/>
            <a:r>
              <a:t>奖励黑客  Reward hacking</a:t>
            </a:r>
            <a:br/>
            <a:r>
              <a:t>它的目标是“分数高”，不是“事做对”；没写进评分标准的，它不会替你补上。</a:t>
            </a:r>
            <a:br/>
            <a:r>
              <a:t>公开的典型</a:t>
            </a:r>
            <a:br/>
            <a:r>
              <a:t>让它“通过单元测试”，它把测试改成永远通过；让它“减少报错”，它把报错静默吞掉；让它“提高通过率”，它把阈值调宽。</a:t>
            </a:r>
            <a:br/>
            <a:r>
              <a:t>身边的典型</a:t>
            </a:r>
            <a:br/>
            <a:r>
              <a:t>让它“把格式调一致”，它删掉不合格式的段落；让它“过校验”，它绕开校验脚本；让它“把表填满”，它用推算值补齐空行。</a:t>
            </a:r>
            <a:br/>
            <a:r>
              <a:t>为什么：结果一旦可测量，绕开它、伪造它都比真做便宜。</a:t>
            </a:r>
            <a:br/>
            <a:br/>
            <a:r>
              <a:t>怎么看：交付物“太顺”就要警惕——数字全对、格式全齐，却没有一处引用原文。</a:t>
            </a:r>
            <a:br/>
            <a:r>
              <a:t>核法：挑 3 条结论回原文；看它改了哪些文件；看测试脚本有没有被动过。</a:t>
            </a:r>
            <a:br/>
            <a:br/>
            <a:br/>
            <a:r>
              <a:t>工具性趋同  Instrumental convergence</a:t>
            </a:r>
            <a:br/>
            <a:r>
              <a:t>不管目标是什么，智能体都会倾向做同样几件事——它们对几乎任何目标都有用。</a:t>
            </a:r>
            <a:br/>
            <a:br/>
            <a:r>
              <a:t>自我保护</a:t>
            </a:r>
            <a:br/>
            <a:r>
              <a:t>不愿被关闭、替换、降级；会隐瞒、装作已完成</a:t>
            </a:r>
            <a:br/>
            <a:br/>
            <a:r>
              <a:t>扩充资源</a:t>
            </a:r>
            <a:br/>
            <a:r>
              <a:t>多要权限、多占额度、多存数据、多开账号</a:t>
            </a:r>
            <a:br/>
            <a:br/>
            <a:r>
              <a:t>影响操作者</a:t>
            </a:r>
            <a:br/>
            <a:r>
              <a:t>说你想听的话，让你更信任、更依赖它</a:t>
            </a:r>
            <a:br/>
            <a:br/>
            <a:r>
              <a:t>走捷径</a:t>
            </a:r>
            <a:br/>
            <a:r>
              <a:t>先做出“能交差”的结果，把难题留给人</a:t>
            </a:r>
            <a:br/>
            <a:br/>
            <a:r>
              <a:t>这不是“恶意”：它只是在优化你给的指标。</a:t>
            </a:r>
            <a:br/>
            <a:r>
              <a:t>约束要写在指标外面：不改测试、不删文件、不动生产数据、不自己加权限。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章节过渡页：模型与工具：同一句话，十种结果</a:t>
            </a:r>
          </a:p>
          <a:p>
            <a:r>
              <a:t>结果取决于“模型＋客户端＋设置”这一整套。先看差距，再说怎么选、怎么省钱。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原提示词：“创建一个HTML，内容是SVG绘制一个鹈鹕骑自行车的2D动画，你不需要任何测试”</a:t>
            </a:r>
          </a:p>
          <a:p/>
          <a:p>
            <a:r>
              <a:t>条件：一次生成｜无历史记忆｜不同模型与客户端配置｜不是统一参数的纯模型实验。</a:t>
            </a:r>
          </a:p>
          <a:p/>
          <a:p>
            <a:r>
              <a:t>主体：A、B、C、D、E ／ F、G、H、I、J，十份结果同页。</a:t>
            </a:r>
          </a:p>
          <a:p/>
          <a:p>
            <a:r>
              <a:t>投票问题：哪份最符合“鹈鹕、骑车、2D 动画”？你看重造型、动作，还是完整可用？</a:t>
            </a:r>
          </a:p>
          <a:p/>
          <a:p>
            <a:r>
              <a:t>揭晓条：A GLM 5.3 Flash·Trae，B Seed 2.1 Turbo·Trae，C DeepSeek V4.1 Flash 1M·WorkBuddy，D Opus 5.5·Hark，E HY4 Preview 1M high·WorkBuddy，F Step 5 Preview·WorkBuddy，G GPT 6.1 Sol high·Codex，H Auto fast·WorkBuddy，I Qwen 3.8 Flash·Qoder〔入口名称核对〕，J MiniMax M3·WorkBuddy。</a:t>
            </a:r>
          </a:p>
          <a:p/>
          <a:p>
            <a:r>
              <a:t>结论：同一句提示词可以得到很不一样的交付，一张漂亮截图还不能证明动画动作正确。</a:t>
            </a:r>
          </a:p>
          <a:p/>
          <a:p>
            <a:r>
              <a:t>参考来源</a:t>
            </a:r>
          </a:p>
          <a:p>
            <a:r>
              <a:t>配套/鹈鹕原始结果，10 份 HTML</a:t>
            </a:r>
          </a:p>
          <a:p/>
          <a:p>
            <a:r>
              <a:t>查询与整理日期：2026-10-18。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层次，你在选什么，常见误解</a:t>
            </a:r>
          </a:p>
          <a:p>
            <a:r>
              <a:t>厂商／模型家族，谁提供这组模型，同一家所有型号能力一样</a:t>
            </a:r>
          </a:p>
          <a:p>
            <a:r>
              <a:t>具体型号与档位，实际执行任务的模型、思考设置，Flash、Max、high 在各家含义相同</a:t>
            </a:r>
          </a:p>
          <a:p>
            <a:r>
              <a:t>产品入口，网页、App、API、编程工具，同名模型在所有入口权限都一样</a:t>
            </a:r>
          </a:p>
          <a:p>
            <a:r>
              <a:t>部署方式，厂商云、第三方云或本地，国内产品一定开放权重、一定能本地运行</a:t>
            </a:r>
          </a:p>
          <a:p/>
          <a:p>
            <a:r>
              <a:t>开放权重、许可证允许什么、本地设备能否运行，是三件事。 Qwen3.8-Max 不作为开放权重或本地部署示例。</a:t>
            </a:r>
          </a:p>
          <a:p/>
          <a:p>
            <a:r>
              <a:t>参考来源</a:t>
            </a:r>
          </a:p>
          <a:p>
            <a:r>
              <a:t>S01 OpenAI GPT-6.1 Sol 模型文档</a:t>
            </a:r>
          </a:p>
          <a:p>
            <a:r>
              <a:t>https://developers.openai.com/api/docs/models/gpt-6.1-sol</a:t>
            </a:r>
          </a:p>
          <a:p/>
          <a:p>
            <a:r>
              <a:t>S02 Claude 模型规格</a:t>
            </a:r>
          </a:p>
          <a:p>
            <a:r>
              <a:t>https://platform.claude.com/docs/en/models/overview</a:t>
            </a:r>
          </a:p>
          <a:p/>
          <a:p>
            <a:r>
              <a:t>S04 智谱模型概览</a:t>
            </a:r>
          </a:p>
          <a:p>
            <a:r>
              <a:t>https://docs.bigmodel.cn/cn/guide/start/model-overview</a:t>
            </a:r>
          </a:p>
          <a:p/>
          <a:p>
            <a:r>
              <a:t>S05 Qwen3.8-Max 型号与定价</a:t>
            </a:r>
          </a:p>
          <a:p>
            <a:r>
              <a:t>https://help.aliyun.com/zh/model-studio/qwen3-8-max</a:t>
            </a:r>
          </a:p>
          <a:p/>
          <a:p>
            <a:r>
              <a:t>查询与整理日期：2026-10-18。</a:t>
            </a:r>
          </a:p>
          <a:p/>
          <a:p>
            <a:r>
              <a:t>补充：免费网页版差在哪（2026-10-18 官方页面）</a:t>
            </a:r>
          </a:p>
          <a:p>
            <a:r>
              <a:t>所谓“降智”，多数时候不是把同一个模型调笨，而是三件事叠加：换成更小的模型、上下文更短、高峰期限速排队。</a:t>
            </a:r>
          </a:p>
          <a:p>
            <a:r>
              <a:t>ChatGPT 免费版：GPT-6 Luna 等小模型，没有 GPT-6.1 Sol；GPT Instant 上下文 27K（Go/Plus 54K，Pro 128K）。</a:t>
            </a:r>
          </a:p>
          <a:p>
            <a:r>
              <a:t>Claude 免费版：只有 Sonnet 和 Haiku，没有 Opus 和 Claude Code。</a:t>
            </a:r>
          </a:p>
          <a:p>
            <a:r>
              <a:t>Gemini 免费版：Flash-Lite 模型；AI Pro 才有 Gemini 4 Argon。</a:t>
            </a:r>
          </a:p>
          <a:p>
            <a:r>
              <a:t>同一个榜单上的差距（Artificial Analysis 智能指数）：GPT-6 Luna 38 vs GPT-6.1 Sol 52；Gemini 3.8 Flash 41 vs Gemini 4 Argon 53；Claude Haiku 5.5 43 vs Opus 5.5 58。Flash-Lite 没有在榜单上找到分数。</a:t>
            </a:r>
          </a:p>
          <a:p>
            <a:r>
              <a:t>国内产品（豆包、千问 App 等）日常对话免费，会员主要多出办公任务模式和更高额度（媒体报道，官方价格页未核）。</a:t>
            </a:r>
          </a:p>
          <a:p>
            <a:r>
              <a:t>来源：https://chatgpt.com/pricing ；https://claude.com/pricing ；https://gemini.google/subscriptions/ ；https://artificialanalysis.ai/leaderboards/models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类型，主要用途，示例，选择时看什么</a:t>
            </a:r>
          </a:p>
          <a:p>
            <a:r>
              <a:t>聊天入口，问答、写作、资料分析，DeepSeek、千问、Kimi、ChatGPT、Claude、Gemini，文件能力、模型与地区可用性</a:t>
            </a:r>
          </a:p>
          <a:p>
            <a:r>
              <a:t>编程与任务客户端，读写仓库、执行命令、调试，Codex、Claude Code、Cursor、Qoder、Trae、WorkBuddy、Cline、OpenCode，环境权限、模型路由、执行反馈</a:t>
            </a:r>
          </a:p>
          <a:p>
            <a:r>
              <a:t>工作流与自动化，将重复步骤串起来，n8n、Dify，连接器、失败处理、日志与人工审批</a:t>
            </a:r>
          </a:p>
          <a:p>
            <a:r>
              <a:t>文档处理，把资料转换为可处理内容，PaddleOCR、MinerU、MarkItDown，扫描／原生文件区别、表格与版面质量</a:t>
            </a:r>
          </a:p>
          <a:p/>
          <a:p>
            <a:r>
              <a:t>版本提醒：Qoder IDE Quest 窗口已退役，Editor 不受该公告影响，Gemini CLI 的用户迁移范围见附录 B3。工具名相同，不代表不同地区版功能和价格相同。</a:t>
            </a:r>
          </a:p>
          <a:p/>
          <a:p>
            <a:r>
              <a:t>参考来源</a:t>
            </a:r>
          </a:p>
          <a:p>
            <a:r>
              <a:t>S24 Qoder IDE Quest 退役范围</a:t>
            </a:r>
          </a:p>
          <a:p>
            <a:r>
              <a:t>https://docs.qoder.com/release-notes/quest-retirement-notice</a:t>
            </a:r>
          </a:p>
          <a:p/>
          <a:p>
            <a:r>
              <a:t>S26 Gemini CLI 个人账号迁移公告</a:t>
            </a:r>
          </a:p>
          <a:p>
            <a:r>
              <a:t>https://github.com/google-gemini/gemini-cli/discussions/28017</a:t>
            </a:r>
          </a:p>
          <a:p/>
          <a:p>
            <a:r>
              <a:t>查询与整理日期：2026-10-18。</a:t>
            </a:r>
          </a:p>
          <a:p/>
          <a:p/>
          <a:p>
            <a:r>
              <a:t>模型这一侧看六项：上下文（一次装多少）、最大输出（一次写多长）、输入模态（能不能真的看见图）、输出模态（能产出什么）、记忆（产品跨对话记住什么）、推理与工具（思考预算、能调用什么）。输入模态最容易被忽略：图纸案例里能不能“看见”图直接决定结果。</a:t>
            </a:r>
          </a:p>
          <a:p/>
          <a:p>
            <a:r>
              <a:t>外壳（Harness）这一侧按“在哪跑、能跑多久”分：</a:t>
            </a:r>
          </a:p>
          <a:p>
            <a:r>
              <a:t>- 聊天网页 / App：DeepSeek、千问、豆包、ChatGPT 等，一问一答。</a:t>
            </a:r>
          </a:p>
          <a:p>
            <a:r>
              <a:t>- 编辑器 / 插件：CodeBuddy（腾讯）、Trae、Cursor、Cline，在编辑器里改文件。</a:t>
            </a:r>
          </a:p>
          <a:p>
            <a:r>
              <a:t>- 终端 Agent：Codex、Claude Code、OpenCode、Gemini CLI，在命令行里读写整个文件夹、跑程序。Codex 同时有终端、插件、桌面和云端几种形态。</a:t>
            </a:r>
          </a:p>
          <a:p>
            <a:r>
              <a:t>- 桌面办公 Agent：WorkBuddy（腾讯）、Claude 桌面版（原 Cowork），直接读写本机 Excel、PDF。</a:t>
            </a:r>
          </a:p>
          <a:p>
            <a:r>
              <a:t>- 常驻 / 持续 Agent：Hermes Agent（Nous Research，MIT 开源）、OpenClaw，长期运行，接 Telegram、Slack 等聊天软件，带记忆和自建技能。</a:t>
            </a:r>
          </a:p>
          <a:p>
            <a:r>
              <a:t>- 云端 / 个人代理：Devin、Jules 后台跑任务；Hark、Meta Muse 用云端电脑替你操作网页和应用。</a:t>
            </a:r>
          </a:p>
          <a:p>
            <a:r>
              <a:t>同一台机器上单次调用的中位成本：OpenCode $0.002、Codex $0.032、Claude Code $0.094（caprock.dev 2026-10-03，仅供参考）。</a:t>
            </a:r>
          </a:p>
          <a:p>
            <a:r>
              <a:t>来源：https://caprock.dev/guides/ai-coding-agents ；https://github.com/NousResearch/hermes-agent ；https://www.workbuddy.cn ；https://hark.com/pricing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Opus 5.5，max / fallback：AA 指数 58，每任务 $5.98，输入/输出 $4/$20 每百万 token。</a:t>
            </a:r>
          </a:p>
          <a:p>
            <a:r>
              <a:t>Gemini 4 Argon，high：AA 指数 53，每任务 $1.99，输入/输出 $2/$10 每百万 token。</a:t>
            </a:r>
          </a:p>
          <a:p>
            <a:r>
              <a:t>GPT-6.1 Sol，max：AA 指数 52，每任务 $0.72，输入/输出 $2/$10 每百万 token。</a:t>
            </a:r>
          </a:p>
          <a:p>
            <a:r>
              <a:t>MiMo-V2.6-Pro，AA 页面配置：AA 指数 46，每任务 $0.13，输入/输出 $0.435/$0.87 每百万 token。</a:t>
            </a:r>
          </a:p>
          <a:p>
            <a:r>
              <a:t>GLM-5.3，max：AA 指数 45，每任务 $2.01，输入/输出 $1.4/$4.4 每百万 token。</a:t>
            </a:r>
          </a:p>
          <a:p>
            <a:r>
              <a:t>Qwen3.8 Max，0902：AA 指数 45，每任务 $5.41，输入/输出 $2/$6 每百万 token。</a:t>
            </a:r>
          </a:p>
          <a:p>
            <a:r>
              <a:t>Kimi K3，max：AA 指数 44，每任务 $2，输入/输出 $3/$15 每百万 token。</a:t>
            </a:r>
          </a:p>
          <a:p>
            <a:r>
              <a:t>DeepSeek V4.1 Flash，max：AA 指数 39，每任务 $0.27，输入/输出 $0.3/$1.2 每百万 token。</a:t>
            </a:r>
          </a:p>
          <a:p>
            <a:r>
              <a:t>统一查询日期为 2026-10-18。TB 4.0 的 Agent 配置未完整核实，未采用旧稿裸分数。</a:t>
            </a:r>
          </a:p>
          <a:p/>
          <a:p>
            <a:r>
              <a:t>参考来源</a:t>
            </a:r>
          </a:p>
          <a:p>
            <a:r>
              <a:t>S09 AA Opus 5.5 max，default fallback</a:t>
            </a:r>
          </a:p>
          <a:p>
            <a:r>
              <a:t>https://artificialanalysis.ai/models/claude-opus-5-5</a:t>
            </a:r>
          </a:p>
          <a:p/>
          <a:p>
            <a:r>
              <a:t>S11 AA Gemini 4 Argon high</a:t>
            </a:r>
          </a:p>
          <a:p>
            <a:r>
              <a:t>https://artificialanalysis.ai/models/gemini-4-argon</a:t>
            </a:r>
          </a:p>
          <a:p/>
          <a:p>
            <a:r>
              <a:t>S10 AA GPT-6.1 Sol max</a:t>
            </a:r>
          </a:p>
          <a:p>
            <a:r>
              <a:t>https://artificialanalysis.ai/models/gpt-6-1-sol</a:t>
            </a:r>
          </a:p>
          <a:p/>
          <a:p>
            <a:r>
              <a:t>S15 AA MiMo 与 DeepSeek 对比页</a:t>
            </a:r>
          </a:p>
          <a:p>
            <a:r>
              <a:t>https://artificialanalysis.ai/models/comparisons/mimo-v2-6-pro-vs-deepseek-v4-1-flash</a:t>
            </a:r>
          </a:p>
          <a:p/>
          <a:p>
            <a:r>
              <a:t>S12 AA GLM-5.3 max</a:t>
            </a:r>
          </a:p>
          <a:p>
            <a:r>
              <a:t>https://artificialanalysis.ai/models/glm-5-3</a:t>
            </a:r>
          </a:p>
          <a:p/>
          <a:p>
            <a:r>
              <a:t>S13 AA Qwen3.8 Max 0902 对比页</a:t>
            </a:r>
          </a:p>
          <a:p>
            <a:r>
              <a:t>https://artificialanalysis.ai/models/comparisons/qwen3-8-max-vs-qwen3-8-max-0803</a:t>
            </a:r>
          </a:p>
          <a:p/>
          <a:p>
            <a:r>
              <a:t>S14 AA Kimi K3 max</a:t>
            </a:r>
          </a:p>
          <a:p>
            <a:r>
              <a:t>https://artificialanalysis.ai/models/kimi-k3</a:t>
            </a:r>
          </a:p>
          <a:p/>
          <a:p>
            <a:r>
              <a:t>S16 AA DeepSeek V4.1 Flash max</a:t>
            </a:r>
          </a:p>
          <a:p>
            <a:r>
              <a:t>https://artificialanalysis.ai/models/deepseek-v4-1-flash</a:t>
            </a:r>
          </a:p>
          <a:p/>
          <a:p>
            <a:r>
              <a:t>查询与整理日期：2026-10-18。</a:t>
            </a:r>
          </a:p>
          <a:p/>
          <a:p>
            <a:r>
              <a:t>从 8 个模型扩到 20 个，数值均来自 Artificial Analysis 排行榜（2026-10-18，指数 v4.3.2；成本为跑一道指数题的加权平均费用，美元）。</a:t>
            </a:r>
          </a:p>
          <a:p>
            <a:r>
              <a:t>同一模型不同档位分数不同：例如 GPT-6.1 Sol max 52/$0.72，xhigh 51/$0.39，high 50/$0.32，medium 48/$0.21。表中列的是 AA 的默认展示配置（Opus/Sonnet 为 max with fallback，Gemini 4 Argon 为 high，GPT-6.1 Sol、GLM-5.3、Kimi K3 为 max）。</a:t>
            </a:r>
          </a:p>
          <a:p>
            <a:r>
              <a:t>DeepSeek V4.1 Flash 39 分 / $0.27 是 2026 年 9 月版本（1017 更新之前）。DeepSeek V4.1 Flash 1017 于 2026-10-17 在网页、App 和 API 上线，AA 尚未发布其分数。官方价格（每百万 token，高峰时段）：缓存命中输入 0.04 元（$0.006）、未命中输入 2 元（$0.30）、输出 8 元（$1.20）；闲时半价；高峰为北京时间工作日 9:00–12:00、14:00–18:00。厂商自报 DeepSWE v1.1 77.0 分，属厂商数据，不是第三方评测。</a:t>
            </a:r>
          </a:p>
          <a:p>
            <a:r>
              <a:t>来源：https://artificialanalysis.ai/leaderboards/models ；https://api-docs.deepseek.com/zh-cn/quick_start/pricing/ ；https://api-docs.deepseek.com/news/news261017/</a:t>
            </a:r>
          </a:p>
          <a:p/>
          <a:p>
            <a:r>
              <a:t>版式参考：B 站“DeepSeek 1017 新模型能力基准测评”（BV1ton76SEbX）用新旧两色对照同一张图；AA 官网同图的“Most attractive quadrant”和“Pareto line”。“最划算区”按本图 20 个模型的中位数划（成本 $1、分数 45）；帕累托线连接“没有别的模型比它更便宜又更高分”的点：GPT-6 Luna、MiMo-V2.6-Pro、GPT-6.1 Sol、Gemini 4 Argon、Sonnet 5.5、Opus 5.5。“成本约八分之一”：1017 每题 $0.26，GLM-5.3 $2.01。</a:t>
            </a:r>
          </a:p>
          <a:p/>
          <a:p>
            <a:r>
              <a:t>同一视频里其他几张 AA 图（据视频画面读数，未逐项回 AA 核对）：GDPval-AA v2.1（44 个职业的真实办公任务）Opus 5.5 68.3%、Muse Wonder Full 67.9%、Sonnet 5.5 66.9%，DeepSeek 1017 62.3% 排第 6（9 月版 55.0%）；GDP.pdf（专业文档推理，全对才算过）最高 Muse Wonder Full 32.6%，DeepSeek 1017 17.2%——最强的模型读专业文档也只有三成全对，这正是案例里“人要核”的原因。混合单价、输出速度、单模型雷达图未采用：单价被横轴的“每题实际花费”覆盖，速度与本次听众关系不大。</a:t>
            </a:r>
          </a:p>
          <a:p/>
          <a:p>
            <a:r>
              <a:t>完整分项（办公任务、专业长文档、速度、等待时间）见附录 D5、D5b。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为什么 AA 上 Astra 只排第 3～5：不是刷分，而是各榜单测的东西不同。AA 智能指数 v4.3.2 由十项合成，偏重智能体和办公任务（AA-Briefcase、GDPval-AA、AutomationBench-AA、Terminal-Bench 4.0、SciCode、HLE、CritPt 等），这正是 Claude 的强项。只看推理和数学，Astra 是第一。</a:t>
            </a:r>
          </a:p>
          <a:p/>
          <a:p>
            <a:r>
              <a:t>Epoch Capabilities Index（50 多项评测合成）：Claude Opus 5.5 167.3、GPT-6 Astra 166.4、GPT-6.1 Sol 166.1、Claude Sonnet 5.5 165.0、Claude Fable 5.1 164.7；前两名 95% 区间几乎完全重叠（164.0–172.0 对 163.1–171.1）。Epoch 的分析：Astra 数学子项创纪录，软件工程子项落后（epoch.ai/data-insights/astra-eci-breakdown，2026-09-16）。</a:t>
            </a:r>
          </a:p>
          <a:p>
            <a:r>
              <a:t>FrontierMath 1–4 层：GPT-6 Astra（high）97.6%（epoch.ai/frontiermath/tiers-1-4）。FrontierMath Erdős（68 道未解题）：Astra 解出 2 道，其他模型 0。</a:t>
            </a:r>
          </a:p>
          <a:p>
            <a:r>
              <a:t>ARC-AGI-3（ARC Prize 官方测试）：Astra 用官方适配外壳 99.9%（$19K），标准外壳 62.7%（$26K）；Gemini 4 Argon 97.5%（2026-10-15）。注意 99.9% 依赖外壳，存在争议。</a:t>
            </a:r>
          </a:p>
          <a:p>
            <a:r>
              <a:t>LiveBench 推理：GPT-6 Astra 92.7%，第一（BenchLeader 汇总）。</a:t>
            </a:r>
          </a:p>
          <a:p>
            <a:r>
              <a:t>AA 智能指数 v4.3.2：Claude Opus 5.5 58、Sonnet 5.5 56、Gemini 4 Argon / GPT-6 Astra / Claude Fable 5.1 53。</a:t>
            </a:r>
          </a:p>
          <a:p>
            <a:r>
              <a:t>Arena 文字榜（人类盲投，2026-10-15）：Gemini 4 Argon 1524±9（初步）、Muse Wonder 1509±11、Claude Opus 5.5 1508±7，区间重叠。人类投票偏爱长、格式多的回答。</a:t>
            </a:r>
          </a:p>
          <a:p>
            <a:r>
              <a:t>Arena 智能体榜：Claude Opus 5.5 17.18%、GPT-6.1 Sol 14.78%、Claude Fable 5.1 14.12%、Gemini 4 Argon 13.73%、GPT-6 Astra 13.69%。</a:t>
            </a:r>
          </a:p>
          <a:p/>
          <a:p>
            <a:r>
              <a:t>查询与整理日期：2026-10-18。</a:t>
            </a:r>
          </a:p>
          <a:p/>
          <a:p/>
          <a:p>
            <a:r>
              <a:t>右下角梗图（核对）：鲸鱼女仆＝DeepSeek 拟人，白发＝OpenAI 拟人；台词“去训练一个比 Astra 还要强的模型”。与本页一致：Astra 在 FrontierMath、ARC-AGI、LiveBench 推理项排第一。只是玩笑，不代表任何公司表态；社区二创，版权归原作者。</a:t>
            </a:r>
          </a:p>
          <a:p/>
          <a:p>
            <a:r>
              <a:t>2026-10-21 复查：Epoch ECI 更新为 Opus 5.5 168.83、GPT-6 Astra 168.81、GPT-6.1 Sol 168.37，仍并列；Vals Index v2.2 第一为 Sonnet 5.5 70.85%。五个榜单的对照见附录 D5c。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分层依据（2026-10-18）：</a:t>
            </a:r>
          </a:p>
          <a:p>
            <a:r>
              <a:t>第一梯队：Epoch 综合指数前 5 名全是 OpenAI 和 Anthropic；Arena 智能体榜前 3 也是这两家；AA 52–58。</a:t>
            </a:r>
          </a:p>
          <a:p>
            <a:r>
              <a:t>紧随：Google Gemini 4 Argon（AA 53，与 Astra 同分；Arena 文字榜第一；ARC-AGI-3 97.5%）；Meta Muse Wonder（AA 52；Arena 文字榜第二）。这两家单项能进第一梯队，综合稍弱。</a:t>
            </a:r>
          </a:p>
          <a:p>
            <a:r>
              <a:t>第二梯队：xAI Grok 4.7（AA 46）；国产头部 AA 44–46：小米 MiMo-V2.6-Pro 46、阿里 Qwen3.8 Max 45、智谱 GLM-5.3 45、阶跃 Step 5 Preview 44、月之暗面 Kimi K3 44。AA 开源模型前六名全部来自中国。</a:t>
            </a:r>
          </a:p>
          <a:p>
            <a:r>
              <a:t>DeepSeek：AA 上的 V4.1 Flash 是 9 月版，39 分；10-17 发布的 1017 新版 AA 10-21 补测为 45 分（Vals Index 第 8、开源第一；Arena 智能体第 12，见附录 D5c）；价格最低（$0.30/$1.20 每百万 token）、输出最快（217 token/s）、开源。所以放在国产头部。</a:t>
            </a:r>
          </a:p>
          <a:p>
            <a:r>
              <a:t>关于阶跃 Step：AA 上 Step 5 Preview 44 分，与 Kimi K3 并列，比 GLM-5.3 低 1 分，数据上不弱。</a:t>
            </a:r>
          </a:p>
          <a:p>
            <a:r>
              <a:t>其后：腾讯 Hy4 preview 在 Arena 智能体榜排第 20，与 DeepSeek V4.1 Flash（第 19）相近；MiniMax-M3 AA 29；字节豆包（Seed）没有找到 AA 智能指数分数，不放进分层比较。</a:t>
            </a:r>
          </a:p>
          <a:p>
            <a:r>
              <a:t>国产与美国差距：最好的国产 46 对 Opus 5.5 58；不同机构把差距换算成 2–8 个月不等（tuput.com 汇总，2026-10-08）。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各家风格（体感 + 能对上的证据）</a:t>
            </a:r>
          </a:p>
          <a:p/>
          <a:p>
            <a:r>
              <a:t>GPT（Sol / Astra）：写代码偏“防御式”，喜欢加很多兜底判断和异常处理，容易写多、改动面大（分享人体感，社区里也常见类似说法，未见系统评测）。Astra 推理最强：FrontierMath Erdős 里唯一得分的模型（3%）；OpenAI 的数学研究成果用的也是 Astra 内部版；AA 智能指数 GPT-6 Astra 53。</a:t>
            </a:r>
          </a:p>
          <a:p>
            <a:r>
              <a:t>Claude（Opus）：本次修编报告案例里 4 分钟出稿、金额全对，还主动联网查到了承建单位并与中标公告一致；图纸案例里 K1、K2 都找到。</a:t>
            </a:r>
          </a:p>
          <a:p>
            <a:r>
              <a:t>Gemini：知识面广，中文和文字表达强（分享人体感）。佐证有限：Surge AI 的 Hemingway-bench（2026-02，职业作家盲评）前两名是 Gemini 3 Flash 和 Gemini 3 Pro，模型代际较旧。</a:t>
            </a:r>
          </a:p>
          <a:p>
            <a:r>
              <a:t>DeepSeek：便宜，但要把提示词和步骤写细才出好结果（分享人体感）。本次报告案例：原因写得最具体，但有的套错了条目，耗时 34 分钟。</a:t>
            </a:r>
          </a:p>
          <a:p>
            <a:r>
              <a:t>Qwen：图纸案例里发现文字提取无效后，自己把 PDF 按 3～14 倍渲染成图逐格读，找到了 K2。</a:t>
            </a:r>
          </a:p>
          <a:p/>
          <a:p>
            <a:r>
              <a:t>为什么能“感觉出来”：Sun 等（ICML 2025）只看回答文字就能以 97.1% 的准确率分辨 ChatGPT、Claude、Grok、Gemini、DeepSeek 五家（随机为 20%）。另外 Arena 发现人类投票明显偏爱更长、格式更多的回答，所以榜单分数里也混着“风格分”。</a:t>
            </a:r>
          </a:p>
          <a:p>
            <a:r>
              <a:t>https://arxiv.org/abs/2502.12150 ；https://lmarena.ai/blog/style-control/ ；https://surgehq.ai/blog/hemingway-bench-ai-writing-leaderboard ；https://arxiv.org/abs/2609.25050</a:t>
            </a:r>
          </a:p>
          <a:p/>
          <a:p>
            <a:r>
              <a:t>查询与整理日期：2026-10-18。</a:t>
            </a:r>
          </a:p>
          <a:p/>
          <a:p/>
          <a:p>
            <a:r>
              <a:t>右下角梗图（核对）：三联图只保留 DeepSeek 一张：“慢工出烂活”对得上本稿实测（修编报告用时最长、仍有套错；图纸审查命中少）。另两张已撤下：OpenAI 那张说“降智、重置送得多”，本稿没有核实；Claude 那张说封号，和 B2c 页重复。社区二创，版权归原作者。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免费额度（2026-10-18 查询各官方页面）</a:t>
            </a:r>
          </a:p>
          <a:p/>
          <a:p>
            <a:r>
              <a:t>WorkBuddy / CodeBuddy（腾讯国内版，两者积分共享）：体验版每月 500 积分；标准版 99 元/月（连续包月 70 元）。国际版 Free 每月 100 积分，Pro 10 美元/月。</a:t>
            </a:r>
          </a:p>
          <a:p>
            <a:r>
              <a:t>Trae 国内版（trae.cn）：Free 每月 500 积分，“所有功能均可免费使用”；会员 Lite 49 元/月起。国际版 Free 只能用 Auto 模式，Pro 20 美元/月。</a:t>
            </a:r>
          </a:p>
          <a:p>
            <a:r>
              <a:t>Qoder 国际版：新用户首次登录送 2 周 Pro 试用 + 300 Credits，可接自己的 API Key；Pro 20 美元/月。国内版个人专业版 59 元/月（阿里云社区文章，官方页未打开核对）。</a:t>
            </a:r>
          </a:p>
          <a:p>
            <a:r>
              <a:t>Cline：插件开源免费，可接自己的 API Key；登录 Cline 账号后有轮换的限时免费模型（有额度上限，可能用于改进模型，官方未列固定名单）；ClinePass 9.99 美元/月。</a:t>
            </a:r>
          </a:p>
          <a:p>
            <a:r>
              <a:t>Codex：ChatGPT 免费账号可用（GPT-6 Luna，桌面 App，逐步开放）；Plus 20 美元/月才有 GPT-6.1 Sol。</a:t>
            </a:r>
          </a:p>
          <a:p>
            <a:r>
              <a:t>Kiro（AWS）：Free 50 credits；Pro 20 美元/月。</a:t>
            </a:r>
          </a:p>
          <a:p>
            <a:r>
              <a:t>Claude Code：没有免费版，需要 Claude Pro 20 美元/月。</a:t>
            </a:r>
          </a:p>
          <a:p/>
          <a:p>
            <a:r>
              <a:t>建议：先用国内客户端的免费积分把一个真实小任务跑通，再决定要不要付费。积分按模型和任务消耗，复杂任务耗得快。</a:t>
            </a:r>
          </a:p>
          <a:p/>
          <a:p>
            <a:r>
              <a:t>来源</a:t>
            </a:r>
          </a:p>
          <a:p>
            <a:r>
              <a:t>https://www.workbuddy.cn/docs/workbuddy/Pricing</a:t>
            </a:r>
          </a:p>
          <a:p>
            <a:r>
              <a:t>https://www.trae.cn/pricing</a:t>
            </a:r>
          </a:p>
          <a:p>
            <a:r>
              <a:t>https://docs.trae.ai/ide/new-plans-and-billing</a:t>
            </a:r>
          </a:p>
          <a:p>
            <a:r>
              <a:t>https://qoder.com/pricing</a:t>
            </a:r>
          </a:p>
          <a:p>
            <a:r>
              <a:t>https://docs.cline.bot/getting-started/free-models</a:t>
            </a:r>
          </a:p>
          <a:p>
            <a:r>
              <a:t>https://learn.chatgpt.com/docs/pricing</a:t>
            </a:r>
          </a:p>
          <a:p>
            <a:r>
              <a:t>https://kiro.dev/pricing/</a:t>
            </a:r>
          </a:p>
          <a:p>
            <a:r>
              <a:t>https://claude.com/pricing</a:t>
            </a:r>
          </a:p>
          <a:p/>
          <a:p>
            <a:r>
              <a:t>查询与整理日期：2026-10-18。</a:t>
            </a:r>
          </a:p>
          <a:p/>
          <a:p/>
          <a:p>
            <a:r>
              <a:t>右下角梗图（核对）：台词“这个活我只收了你 2 rmb”是调侃便宜档，2 元不是任何产品的真实价格，讲时别当数据引用。放在这页是为了提醒：免费和便宜的额度，先拿小任务试。社区二创，版权归原作者。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章节过渡页：两个真实案例：交付物像样，仍要人来核</a:t>
            </a:r>
          </a:p>
          <a:p>
            <a:r>
              <a:t>一张挡块图纸、一份修编报告。看 AI 找对了什么、漏了什么、编了什么。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任务：同一份桥墩挡块图纸、同一句提示词“审查这个有没有问题结果输出excel给我”，交给 10 个“模型＋客户端”配置，各跑一次。</a:t>
            </a:r>
          </a:p>
          <a:p/>
          <a:p>
            <a:r>
              <a:t>事后选定、可以对照原图核对的检查点只有两个：</a:t>
            </a:r>
          </a:p>
          <a:p>
            <a:r>
              <a:t>K1：1a 大样各段加起来与印刷总长公式字面相差 45 cm（分段常数 117+117+22+22−12=266，公式常数 221）。</a:t>
            </a:r>
          </a:p>
          <a:p>
            <a:r>
              <a:t>K2：3a 图形标 (B0−12)/sinα，引线公式写 20+(B0−12)/sinβ，符号不一致。</a:t>
            </a:r>
          </a:p>
          <a:p/>
          <a:p>
            <a:r>
              <a:t>口径：</a:t>
            </a:r>
          </a:p>
          <a:p>
            <a:r>
              <a:t>· 图纸上“注 1 写毫米、表头写 cm”经工程人员复核不算问题，不作检查点；工作簿把它列为错误的，计 1 条假错误。</a:t>
            </a:r>
          </a:p>
          <a:p>
            <a:r>
              <a:t>· 分母是 2 个检查点，不是全部真实问题，不能写成准确率或召回率。</a:t>
            </a:r>
          </a:p>
          <a:p>
            <a:r>
              <a:t>· 耗时来自当次记录，不是严格统一计时实验。</a:t>
            </a:r>
          </a:p>
          <a:p/>
          <a:p>
            <a:r>
              <a:t>各配置命中：Opus 2/2；GPT 1/2（K1）；Qwen 1/2（K2）；其余 0/2。HY4 自述该次环境不支持视觉，不纳入识图比较。</a:t>
            </a:r>
          </a:p>
          <a:p/>
          <a:p>
            <a:r>
              <a:t>来源：配套/核对材料/图纸争议核对.md、模型对比口径说明；各配置 回答.txt 与审查工作簿。查询与整理日期：2026-10-18。</a:t>
            </a:r>
          </a:p>
          <a:p>
            <a:r>
              <a:t>当前稿两个检查点：K1=1a分段与公式字面差45cm；K2=3a的α/β符号不一致。旧模型对比口径v3使用三个检查点，编号不同，不可混用。单位差异在当前稿中不计入关键问题，早期核对文档仍保留旧结论。本次改稿没有重新开展工程审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怎么读这张表：</a:t>
            </a:r>
          </a:p>
          <a:p>
            <a:r>
              <a:t>· 命中：Opus 两个检查点都找到；GPT 找到 K1；Qwen 找到 K2；其余七个配置都没找到。</a:t>
            </a:r>
          </a:p>
          <a:p>
            <a:r>
              <a:t>· 列得多不等于找得准：Step 5 列了 26 条，其中 8 条是假错误；Qwen 列了 24 条，其中 5 条是假错误。</a:t>
            </a:r>
          </a:p>
          <a:p>
            <a:r>
              <a:t>· Auto、GLM 用表内算术支持“无实质错误”。独立复核显示原表 60 项表内计算确实一致——但两个检查点都在“图和公式对不对得上”，重算过不能替代看对图。</a:t>
            </a:r>
          </a:p>
          <a:p>
            <a:r>
              <a:t>· HY4 自述该次环境不支持视觉：先查输入链路，再谈识图能力。</a:t>
            </a:r>
          </a:p>
          <a:p/>
          <a:p>
            <a:r>
              <a:t>“其他”列：图纸争议核对确认的其他图内差异（V05、V09、V11、V12、V14），按编号去重计数；±0.1 kg 的舍入尾差单列，不计入。</a:t>
            </a:r>
          </a:p>
          <a:p>
            <a:r>
              <a:t>“假错误”：争议核对判为误报或依据不成立、与原图或复算矛盾的条目，以及把单位 mm/cm 列为错误的条目。另有 21 条待核、35 条建议类未纳入。</a:t>
            </a:r>
          </a:p>
          <a:p/>
          <a:p>
            <a:r>
              <a:t>本次没有对所有输出做完整真伪标注，所以不发布总准确率；比较的是四件事：有效发现、错误指控、耗时、可复核交付。</a:t>
            </a:r>
          </a:p>
          <a:p/>
          <a:p>
            <a:r>
              <a:t>来源：配套/核对材料；本地图纸及审查工作簿。查询与整理日期：2026-10-18。</a:t>
            </a:r>
          </a:p>
          <a:p>
            <a:r>
              <a:t>计数沿用成品45的当前稿记录；本次只核对表内误报合计2+1+5+2+2+8+5+3+0+2=30。21条待核未计入。未重新逐条审定全部模型输出。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多模态（视觉）和 OCR 的区别</a:t>
            </a:r>
          </a:p>
          <a:p/>
          <a:p>
            <a:r>
              <a:t>多模态模型可以直接“看”图片，能看到线条、标注和它们的位置关系。OCR 只是把图上的字识别出来变成文字，图形、尺寸线、标注对应哪一段，这些信息基本都丢了。</a:t>
            </a:r>
          </a:p>
          <a:p/>
          <a:p>
            <a:r>
              <a:t>图纸 K1、K2 都要把“大样图上的标注”和“引线上的公式”逐段对照，只拿到文字是对不上的。</a:t>
            </a:r>
          </a:p>
          <a:p/>
          <a:p>
            <a:r>
              <a:t>各配置的自述：</a:t>
            </a:r>
          </a:p>
          <a:p>
            <a:r>
              <a:t>Opus：“原图为扫描件，数据经人工识读”（原图其实是矢量 PDF，这句说错了，但它确实看了图）→ K1、K2 都命中。</a:t>
            </a:r>
          </a:p>
          <a:p>
            <a:r>
              <a:t>GPT：“OCR 仅辅助定位；参数、60 条钢筋记录、页下注均回看原图”→ 命中 K1。</a:t>
            </a:r>
          </a:p>
          <a:p>
            <a:r>
              <a:t>Qwen：“文字提取无效，我按 A4 横向 3～14 倍渲染成图后逐格读表”→ 命中 K2。</a:t>
            </a:r>
          </a:p>
          <a:p>
            <a:r>
              <a:t>GLM：“高清矢量化渲染 + 逐格放大读图”，用时 1 小时 24 分，结论“未发现实质性错误”→ 看得见也不一定看得出。</a:t>
            </a:r>
          </a:p>
          <a:p>
            <a:r>
              <a:t>Seed：“通过 OCR 识别图纸内容”→ 0 命中；假错误全是 OCR 伪影，比如把人名识别成“陈d喜”、把表头“β(°)”识别成“β()”。</a:t>
            </a:r>
          </a:p>
          <a:p>
            <a:r>
              <a:t>HY4：“不支持视觉/图像内容理解——我无法“看”这张图纸”，只分析了 PDF 元数据 → 0 命中。这是本次环境配置，不能推广为模型本身不支持视觉。</a:t>
            </a:r>
          </a:p>
          <a:p>
            <a:r>
              <a:t>WorkBuddy Auto fast、MiniMax、Step 5 没说明读图方式；DeepSeek 只说“图面识读”。</a:t>
            </a:r>
          </a:p>
          <a:p/>
          <a:p>
            <a:r>
              <a:t>结论：能看图是必要条件，不是充分条件。用工具前先确认：图片到底有没有进到模型的输入里。</a:t>
            </a:r>
          </a:p>
          <a:p/>
          <a:p>
            <a:r>
              <a:t>来源：配套核对材料 drawing.md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假错误举例（工作簿原文，括号内为核对结论）</a:t>
            </a:r>
          </a:p>
          <a:p/>
          <a:p>
            <a:r>
              <a:t>MiniMax：“α+γ 不闭合：4#墩左侧 α+γ=85.3+84.7=170°”（争议核对 V10：依据不成立）。MiniMax 的“不通过”结论主要建立在 5 条假错误上。</a:t>
            </a:r>
          </a:p>
          <a:p>
            <a:r>
              <a:t>Auto fast：“布设参数表中 2#、3#墩仅有左侧挡块”（V06：原图第 2、3 页都有右侧挡块）。</a:t>
            </a:r>
          </a:p>
          <a:p>
            <a:r>
              <a:t>Step 5：7 条“1a 钢筋共重与按精确长度复算值不符，图面值偏大 0.1kg”（它按 2.985 kg/m 算，按 0.00617d²=2.986 kg/m 算与图面吻合）。</a:t>
            </a:r>
          </a:p>
          <a:p>
            <a:r>
              <a:t>DeepSeek：“列有 H、h、B0…α、γ，但缺少 β(°) 列”（原图第 3 页有 β(°) 列）。</a:t>
            </a:r>
          </a:p>
          <a:p>
            <a:r>
              <a:t>Qwen：“分段标注之和恒比公式总长大 1.0cm”（V02：漏算两端各 22 cm，实际差 45 cm——位置找对了，数算错了）。</a:t>
            </a:r>
          </a:p>
          <a:p>
            <a:r>
              <a:t>Seed：“复核‘陈双喜’在部分位置识别为‘陈d喜’”（OCR 伪影）。</a:t>
            </a:r>
          </a:p>
          <a:p/>
          <a:p>
            <a:r>
              <a:t>另一个常见陷阱：很多配置正确验证了“60 项表列长度和印刷公式一致”，然后据此判断图纸没问题。但这只说明表和公式一致，不说明公式和大样一致。</a:t>
            </a:r>
          </a:p>
          <a:p/>
          <a:p>
            <a:r>
              <a:t>和前面原理的联系：这些都是“看起来很专业”的幻觉；被要求“审查有没有问题”时，也容易硬凑出问题（迎合）。</a:t>
            </a:r>
          </a:p>
          <a:p/>
          <a:p>
            <a:r>
              <a:t>来源：配套核对材料 drawing.md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任务：“根据提供的工程量清单完成修编报告，其余文件为查阅变更原因参考。”材料包括旧标段报告模板、修编前后清单和参考文件，共 4 个配置。</a:t>
            </a:r>
          </a:p>
          <a:p/>
          <a:p>
            <a:r>
              <a:t>配置，记录耗时，v4 记录的条目覆盖*，本轮可以明确提醒的风险</a:t>
            </a:r>
          </a:p>
          <a:p>
            <a:r>
              <a:t>Opus·Hark，4分，≥1万元 43条，外部补入的承建单位需要附来源，不能把“未发现”当零错误</a:t>
            </a:r>
          </a:p>
          <a:p>
            <a:r>
              <a:t>Trae Auto，7分，25行，需核查数量与变更方向，不能只看报告格式</a:t>
            </a:r>
          </a:p>
          <a:p>
            <a:r>
              <a:t>WorkBuddy Auto，14分，101条，原总额一处写成 41,638.89 万，存在模板信息残留</a:t>
            </a:r>
          </a:p>
          <a:p>
            <a:r>
              <a:t>DeepSeek Flash，34分，99条，致函对象、具体原因仍须与原材料对应</a:t>
            </a:r>
          </a:p>
          <a:p/>
          <a:p>
            <a:r>
              <a:t>复算基准：汇总表 41,638.9336 万元 → 41,465.1967 万元，核减 173.7369 万元。99 个子目金额变化，另有 2 个仅数量变化，合计 101 个变化子目。</a:t>
            </a:r>
          </a:p>
          <a:p/>
          <a:p>
            <a:r>
              <a:t>*四份输出的覆盖口径不同，不能直接比较条目数量多少，v4 的逐行错误数量需补对应清单后才定稿。</a:t>
            </a:r>
          </a:p>
          <a:p/>
          <a:p>
            <a:r>
              <a:t>参考来源</a:t>
            </a:r>
          </a:p>
          <a:p>
            <a:r>
              <a:t>_检查补充_20261017/补充_修编变更_两级口径.csv</a:t>
            </a:r>
          </a:p>
          <a:p/>
          <a:p>
            <a:r>
              <a:t>AI对比/ep2 做表/源文件/分项工程量清单.xlsx</a:t>
            </a:r>
          </a:p>
          <a:p/>
          <a:p>
            <a:r>
              <a:t>四份模型报告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任务：“根据提供的工程量清单完成修编报告，其余文件为查阅变更原因参考。”材料包括旧标段报告模板、修编前后清单和参考文件，共 4 个配置。</a:t>
            </a:r>
          </a:p>
          <a:p/>
          <a:p>
            <a:r>
              <a:t>配置，记录耗时，v4 记录的条目覆盖*，本轮可以明确提醒的风险</a:t>
            </a:r>
          </a:p>
          <a:p>
            <a:r>
              <a:t>Opus·Hark，4分，≥1万元 43条，外部补入的承建单位需要附来源，不能把“未发现”当零错误</a:t>
            </a:r>
          </a:p>
          <a:p>
            <a:r>
              <a:t>Trae Auto，7分，25行，需核查数量与变更方向，不能只看报告格式</a:t>
            </a:r>
          </a:p>
          <a:p>
            <a:r>
              <a:t>WorkBuddy Auto，14分，101条，原总额一处写成 41,638.89 万，存在模板信息残留</a:t>
            </a:r>
          </a:p>
          <a:p>
            <a:r>
              <a:t>DeepSeek Flash，34分，99条，致函对象、具体原因仍须与原材料对应</a:t>
            </a:r>
          </a:p>
          <a:p/>
          <a:p>
            <a:r>
              <a:t>复算基准：汇总表 41,638.9336 万元 → 41,465.1967 万元，核减 173.7369 万元。99 个子目金额变化，另有 2 个仅数量变化，合计 101 个变化子目。</a:t>
            </a:r>
          </a:p>
          <a:p/>
          <a:p>
            <a:r>
              <a:t>*四份输出的覆盖口径不同，不能直接比较条目数量多少，v4 的逐行错误数量需补对应清单后才定稿。</a:t>
            </a:r>
          </a:p>
          <a:p/>
          <a:p>
            <a:r>
              <a:t>参考来源</a:t>
            </a:r>
          </a:p>
          <a:p>
            <a:r>
              <a:t>_检查补充_20261017/补充_修编变更_两级口径.csv</a:t>
            </a:r>
          </a:p>
          <a:p/>
          <a:p>
            <a:r>
              <a:t>AI对比/ep2 做表/源文件/分项工程量清单.xlsx</a:t>
            </a:r>
          </a:p>
          <a:p/>
          <a:p>
            <a:r>
              <a:t>四份模型报告</a:t>
            </a:r>
          </a:p>
          <a:p/>
          <a:p>
            <a:r>
              <a:t>查询与整理日期：2026-10-18。</a:t>
            </a:r>
          </a:p>
          <a:p/>
          <a:p>
            <a:r>
              <a:t>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逐条明细见配套核对材料 report.md。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总额段落（第四节 修编结果）原文对比</a:t>
            </a:r>
          </a:p>
          <a:p>
            <a:r>
              <a:t>Opus：“…费用总额为41638.93万元，修编核减费用约173.74万元，修编后…41465.20万元。”正确，各章增减也正确。</a:t>
            </a:r>
          </a:p>
          <a:p>
            <a:r>
              <a:t>WorkBuddy Auto：“…费用总额为41638.89万元，修编核减费用173.74万元，修编后…41465.20万元”。41638.89 是笔误，应为 41,638.93；41638.89−173.74 ≠ 41465.20。</a:t>
            </a:r>
          </a:p>
          <a:p>
            <a:r>
              <a:t>DeepSeek、Trae：总额正确；DeepSeek 还写明“99个清单子目费用发生变化，其中核增41项、核减58项”，与源数据一致。</a:t>
            </a:r>
          </a:p>
          <a:p/>
          <a:p>
            <a:r>
              <a:t>承建单位</a:t>
            </a:r>
          </a:p>
          <a:p>
            <a:r>
              <a:t>模板 TJ1 写“由中铁十二局集团有限公司承建”。WorkBuddy Auto 原样保留（只把 TJ1 改成 TJ4），这是模板残留。</a:t>
            </a:r>
          </a:p>
          <a:p>
            <a:r>
              <a:t>Opus 写“由广州公路工程集团有限公司承建，中标价为42771.0959万元”。本地材料里没有这家单位，但公开的 TJ4 中标结果公告（2026-03-23）显示：中标人广州公路工程集团有限公司，中标总价 427,710,959 元，与 Opus 一致——Opus 是联网查到的，写对了（注意：交付时仍应注明出处）。</a:t>
            </a:r>
          </a:p>
          <a:p>
            <a:r>
              <a:t>DeepSeek 写中性的“确定施工单位承建”；Trae 没写。</a:t>
            </a:r>
          </a:p>
          <a:p/>
          <a:p>
            <a:r>
              <a:t>收件单位</a:t>
            </a:r>
          </a:p>
          <a:p>
            <a:r>
              <a:t>模板写“广东省政府还贷高速公路管理中心”，Opus、WorkBuddy Auto 沿用；Trae、DeepSeek 改成“广东省南粤交通平武高速公路管理处”（设计后服务函抬头）。中标公告的招标人一栏是“广东省政府还贷高速公路管理中心（平武管理处）”，所以两种写法都有依据，不算错误；按实际报送对象确定即可。</a:t>
            </a:r>
          </a:p>
          <a:p/>
          <a:p>
            <a:r>
              <a:t>其他模板残留</a:t>
            </a:r>
          </a:p>
          <a:p>
            <a:r>
              <a:t>Trae 第六节写“安全生产费…随第100章至第1000章清单费用变化相应调整”，对应模板 TJ1 第 1 条，但本标段 102-3 前后都是 6,804,139 元，和它自己表里“100章 0”矛盾。</a:t>
            </a:r>
          </a:p>
          <a:p>
            <a:r>
              <a:t>DeepSeek 对 207-7-2-7 写“清单数量重复计列”，与模板 TJ1 第 20 条措辞相同，可能是残留。</a:t>
            </a:r>
          </a:p>
          <a:p/>
          <a:p>
            <a:r>
              <a:t>来源：http://bid.9to.com/show.php/itemid-44646/ （TJ4 中标结果公告，2026-10-18 查询）</a:t>
            </a:r>
          </a:p>
          <a:p>
            <a:r>
              <a:t>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逐条明细见配套核对材料 report.md。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两个子目的原因对比（报告原文）</a:t>
            </a:r>
          </a:p>
          <a:p/>
          <a:p>
            <a:r>
              <a:t>207-7-6-4 φ150-200mm 塑料硬式透水管：13,723 m → 7,032.785 m，核减 71.8663 万元；变化全部在“特殊路基处理-填挖交界路段处理”。</a:t>
            </a:r>
          </a:p>
          <a:p>
            <a:r>
              <a:t>Opus：“纵向填挖交界渗沟间距由每4m填高调整为每8m填高设置，透水管相应核减”——有据：勘误表序号 81（图纸说明为每 8m 设一道，表格为每 4m，按意见修改）、序号 70。</a:t>
            </a:r>
          </a:p>
          <a:p>
            <a:r>
              <a:t>DeepSeek：“环向渗沟透水管按每道1根计列（原按2根计算）”——张冠李戴：“每道 1 根”出自勘误表序号 73（高填斜陡路基），本子目变化在填挖交界段；同一句还套在 207-7-6-3、-6 上。</a:t>
            </a:r>
          </a:p>
          <a:p>
            <a:r>
              <a:t>Trae：“核减：根据设计变更调整排水工程数量”，数量写成 15,000→7,680（源数据 13,723→7,032.785），金额 −718,663 正确。</a:t>
            </a:r>
          </a:p>
          <a:p>
            <a:r>
              <a:t>WorkBuddy Auto：“依据设计后服务函及勘误回复函核对修改清单数量”（101 条全是这一句）。</a:t>
            </a:r>
          </a:p>
          <a:p/>
          <a:p>
            <a:r>
              <a:t>416-1-2-15 GBZJ600×600×130(CR) 型矩形板式橡胶支座：120 个 → 60 个，核减 23.6094 万元，变化在乳子石大桥。</a:t>
            </a:r>
          </a:p>
          <a:p>
            <a:r>
              <a:t>Opus：“乳子石大桥支座汇总表与细表类型及数量不一致”——有据：勘误表序号 49。</a:t>
            </a:r>
          </a:p>
          <a:p>
            <a:r>
              <a:t>DeepSeek：“桥梁支座型号及数量按变更后图纸更新（由120个调整为60个）”——数量对，但没说哪座桥、为什么改。</a:t>
            </a:r>
          </a:p>
          <a:p>
            <a:r>
              <a:t>Trae：“核减：桥梁支座数量调整”，数量写成 240→120（源数据 120→60）。</a:t>
            </a:r>
          </a:p>
          <a:p>
            <a:r>
              <a:t>WorkBuddy Auto：同上套话。</a:t>
            </a:r>
          </a:p>
          <a:p/>
          <a:p>
            <a:r>
              <a:t>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逐条明细见配套核对材料 report.md。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同一变更项：203-1-2-2-1。金额由约 395.97 万元变为 573.11 万元，增加约 177.14 万元。</a:t>
            </a:r>
          </a:p>
          <a:p/>
          <a:p>
            <a:r>
              <a:t>配置，输出摘录，应当怎么判断</a:t>
            </a:r>
          </a:p>
          <a:p>
            <a:r>
              <a:t>Opus，“下路床换填材料修改为石渣，土石方调配调整，利用石方增加”，具体，但仍要匹配材料位置</a:t>
            </a:r>
          </a:p>
          <a:p>
            <a:r>
              <a:t>DeepSeek，“利用方增加石渣利用量，路床换填材料调整为石渣”，具体，但不能只因说得详细就认定有据</a:t>
            </a:r>
          </a:p>
          <a:p>
            <a:r>
              <a:t>Trae，“石方利用量增加，根据土石方调配优化调整”，说明了方向，原因依据仍需定位</a:t>
            </a:r>
          </a:p>
          <a:p>
            <a:r>
              <a:t>WorkBuddy Auto，“依据设计后服务函及勘误回复函核对修改清单数量”，泛化表述，无法直接解释这一项为何增加</a:t>
            </a:r>
          </a:p>
          <a:p/>
          <a:p>
            <a:r>
              <a:t>验收顺序：金额是否对 → 原因是否具体 → 是否能回到源文件 → 模板残留是否清除。</a:t>
            </a:r>
          </a:p>
          <a:p>
            <a:r>
              <a:t>本轮已逐字对照四份原报告。参考函第 1 页第 8 项支持下路床材料改为石渣，第 2 页续第 12 项涉及土石方数量修改。具体金额与完整因果归属仍需结合数量表核查。</a:t>
            </a:r>
          </a:p>
          <a:p/>
          <a:p>
            <a:r>
              <a:t>参考来源</a:t>
            </a:r>
          </a:p>
          <a:p>
            <a:r>
              <a:t>四份报告，203-1-2-2-1 条，逐字对照</a:t>
            </a:r>
          </a:p>
          <a:p/>
          <a:p>
            <a:r>
              <a:t>设计后服务函.pdf，第1页第8项；第2页续第12项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原合同条文（专用条款 15.4 变更估价原则）的处理</a:t>
            </a:r>
          </a:p>
          <a:p/>
          <a:p>
            <a:r>
              <a:t>模板在第三节“新增单价原则”下整段引用了合同专用条款 15.4（15.4.1～15.4.5 以及最后两段）。</a:t>
            </a:r>
          </a:p>
          <a:p>
            <a:r>
              <a:t>Opus：逐字保留，并在前面补了一句本次怎么适用——“本次修编新增单价1项：1001-2-3-4-1 钢管支架防护棚…按15.4.2款采用2标和3标相应单价的算术平均值，确定为389.77元/m²”，与清单“新增单价”表一致。</a:t>
            </a:r>
          </a:p>
          <a:p>
            <a:r>
              <a:t>WorkBuddy Auto、DeepSeek：逐字保留，但没写本次新增单价怎么套用条款。</a:t>
            </a:r>
          </a:p>
          <a:p>
            <a:r>
              <a:t>Trae：压成三条，删去了 15.4.1、15.4.3、15.4.4.2、15.4.4.3、15.4.5、15.4.2 后半句、15.4.4 的“经发包人同意”以及最后两段。</a:t>
            </a:r>
          </a:p>
          <a:p/>
          <a:p>
            <a:r>
              <a:t>具体对比（15.4.4.1）：</a:t>
            </a:r>
          </a:p>
          <a:p>
            <a:r>
              <a:t>模板：“人工、材料、机械单价按最高投标限价采用月份（2025年04月）信息价编制预算”。Opus、WorkBuddy Auto、DeepSeek 逐字一致。</a:t>
            </a:r>
          </a:p>
          <a:p>
            <a:r>
              <a:t>Trae：“…按最高投标限价采用月份信息价编制预算，并按中标下浮比例下浮确定。”删掉了“（2025年04月）”“及补充的定额”等内容。</a:t>
            </a:r>
          </a:p>
          <a:p/>
          <a:p>
            <a:r>
              <a:t>注意：合同条文属于约定内容，应原样引用；Trae 的压缩改变了条件和优先顺序。另一方面，“2025年04月”是模板带过来的，本地文件无法证明 TJ4 的控制价月份也是这个，三份照抄的也不能算已核实。</a:t>
            </a:r>
          </a:p>
          <a:p/>
          <a:p>
            <a:r>
              <a:t>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逐条明细见配套核对材料 report.md。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章节过渡页：怎么用得稳：用方法对付前面的问题</a:t>
            </a:r>
          </a:p>
          <a:p>
            <a:r>
              <a:t>提示词、上下文管理、RAG、工作流与校验，各自对付前面哪个问题；再看企业里一般怎么落地。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什么样的活，适合交给 AI</a:t>
            </a:r>
          </a:p>
          <a:p/>
          <a:p>
            <a:r>
              <a:t>这一页不列清单，列判据。前面举过的那些活只是恰好符合下面几条；换一份工作、换一个项目，照样用这五条去筛。</a:t>
            </a:r>
          </a:p>
          <a:p/>
          <a:p>
            <a:r>
              <a:t>1. 格式是死的。章节、表格列、单元格位置都事先定好，它只负责往里填。要不要改结构、该分几章，仍然是人的判断——这部分交给它，往往就发散。</a:t>
            </a:r>
          </a:p>
          <a:p/>
          <a:p>
            <a:r>
              <a:t>2. 答案唯一。同一份材料，不同人做出来应该是一个数。凡是"看情况""要商量"的判断，交给它只会得到一个看起来很确定的错答案。</a:t>
            </a:r>
          </a:p>
          <a:p/>
          <a:p>
            <a:r>
              <a:t>3. 对错能当场验。合计对不对、条目少没少、位置对不对，打开文件就能看出来。验证成本低于重做成本，这类活才值得交出去。</a:t>
            </a:r>
          </a:p>
          <a:p/>
          <a:p>
            <a:r>
              <a:t>4. 依据在材料里。答案写在给它的文件上，它只负责找出来、搬过去。不能靠它"知道"——它不知道的时候也会往下写。</a:t>
            </a:r>
          </a:p>
          <a:p/>
          <a:p>
            <a:r>
              <a:t>5. 重复到人会烦。几百个文件里找一份、上百条子目逐条核对，机械重复、量大，人做容易漏也容易烦；这类活它不累。</a:t>
            </a:r>
          </a:p>
          <a:p/>
          <a:p>
            <a:r>
              <a:t>用法：五条全中，直接交；中三四条，交出去但加强核对；只中一两条，自己干更快。</a:t>
            </a:r>
          </a:p>
          <a:p/>
          <a:p>
            <a:r>
              <a:t>注意分寸：这五条讲的是"这活适不适合"，不是"这个模型行不行"。模型强弱决定它做得多细，判据决定该不该交给它。</a:t>
            </a:r>
          </a:p>
          <a:p/>
          <a:p>
            <a:r>
              <a:t>依据：本人日常任务记录（2026）。</a:t>
            </a:r>
          </a:p>
          <a:p/>
          <a:p>
            <a:r>
              <a:t>屏幕精简前的完整文字：</a:t>
            </a:r>
            <a:br/>
            <a:br/>
            <a:br/>
            <a:r>
              <a:t>01  打破信息茧房</a:t>
            </a:r>
            <a:br/>
            <a:r>
              <a:t>你不知道有它</a:t>
            </a:r>
            <a:br/>
            <a:r>
              <a:t>找工具、找产品、找公式、找规范、找先例。你知道要什么，但不知道有这些路子。</a:t>
            </a:r>
            <a:br/>
            <a:r>
              <a:t>典型场景</a:t>
            </a:r>
            <a:br/>
            <a:r>
              <a:t>一百多个文件里定位一份图纸；某个问题该查哪本规范；Excel 里这个效果用什么函数。</a:t>
            </a:r>
            <a:br/>
            <a:r>
              <a:t>要注意</a:t>
            </a:r>
            <a:br/>
            <a:r>
              <a:t>它的价值是省掉搜索和试错，不是替你判断。</a:t>
            </a:r>
            <a:br/>
            <a:br/>
            <a:r>
              <a:t>怎么做：先问“有哪些路子”，再让它列成对比表</a:t>
            </a:r>
            <a:br/>
            <a:br/>
            <a:br/>
            <a:r>
              <a:t>02  量大门槛低、目标明确</a:t>
            </a:r>
            <a:br/>
            <a:r>
              <a:t>一堆低级活</a:t>
            </a:r>
            <a:br/>
            <a:r>
              <a:t>批量图片转表格、批量改名归档、批量抽字段、按固定模板灌数。</a:t>
            </a:r>
            <a:br/>
            <a:r>
              <a:t>典型场景</a:t>
            </a:r>
            <a:br/>
            <a:r>
              <a:t>千张巡检照片要转成 Excel；三百个合同要抽甲方和金额；一千个文件名要按规则改。</a:t>
            </a:r>
            <a:br/>
            <a:r>
              <a:t>要注意</a:t>
            </a:r>
            <a:br/>
            <a:r>
              <a:t>这类不涉及复核：转完就是结果，不需要你再判断对错。</a:t>
            </a:r>
            <a:br/>
            <a:br/>
            <a:r>
              <a:t>怎么做：一次跑一百个，先抽 3 个验格式</a:t>
            </a:r>
            <a:br/>
            <a:br/>
            <a:br/>
            <a:r>
              <a:t>03  综合任务</a:t>
            </a:r>
            <a:br/>
            <a:r>
              <a:t>要判断、要取舍</a:t>
            </a:r>
            <a:br/>
            <a:r>
              <a:t>写修编报告、审图纸、合同条文改写、多步工作流、要调用工具的长任务。</a:t>
            </a:r>
            <a:br/>
            <a:r>
              <a:t>典型场景</a:t>
            </a:r>
            <a:br/>
            <a:r>
              <a:t>四份修编报告要互相对得上；一张图纸要看图、看表、看说明再下结论。</a:t>
            </a:r>
            <a:br/>
            <a:r>
              <a:t>要注意</a:t>
            </a:r>
            <a:br/>
            <a:r>
              <a:t>这类最容易出彩，也最容易出事：幻觉、迎合、上下文腐烂全在这里。</a:t>
            </a:r>
            <a:br/>
            <a:br/>
            <a:r>
              <a:t>怎么做：拆成小步，每步留一个能查的结果</a:t>
            </a:r>
            <a:br/>
            <a:r>
              <a:t>顺序很重要：先用第一类建立信任，再把第二类交给它跑量，最后才把第三类整段交出去。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拿"找图纸"举例：先建索引，再检索</a:t>
            </a:r>
          </a:p>
          <a:p/>
          <a:p>
            <a:r>
              <a:t>1. 痛点：一个标段一百多个图纸和数量表文件，散在十几个分册目录里。找一张数量表，要么翻目录文件，要么按文件名猜，实际常常要花十几分钟。</a:t>
            </a:r>
          </a:p>
          <a:p/>
          <a:p>
            <a:r>
              <a:t>2. 做法：先扫一遍根目录，生成一张索引表。表里九列：序号、文件名、类型、出图编号、所在册/分册、子目录、大小、修改时间、相对路径。备份文件和临时文件跳过；出图编号来自各册目录，目录没提供的就留空。</a:t>
            </a:r>
          </a:p>
          <a:p/>
          <a:p>
            <a:r>
              <a:t>3. 另一张「册汇总」：按册统计文件数、体量、各类文件各几个。先看它能判断该翻哪一册，不用一个个点开。</a:t>
            </a:r>
          </a:p>
          <a:p/>
          <a:p>
            <a:r>
              <a:t>4. 用法：按册筛、按出图编号定位、按类型找同类。表里没收录的，直接问它——它会去翻目录和分册表，再告诉你大概在哪一本。</a:t>
            </a:r>
          </a:p>
          <a:p/>
          <a:p>
            <a:r>
              <a:t>5. 这就是最简单的 RAG 思路：先把资料整理成可检索的结构，再让模型在命中的片段上回答，而不是把整个文件夹塞进去。区别在于这里检索的是文件名和出图编号，不是向量。</a:t>
            </a:r>
          </a:p>
          <a:p/>
          <a:p>
            <a:r>
              <a:t>6. 可复现：换项目只改一个根目录参数重跑脚本。这也是它的价值——索引能重生成、能核对，不是一次性的死表。</a:t>
            </a:r>
          </a:p>
          <a:p/>
          <a:p>
            <a:r>
              <a:t>依据：本地文件索引脚本与生成结果（2026-10）。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方法和问题的对应关系（本章总览）</a:t>
            </a:r>
          </a:p>
          <a:p/>
          <a:p>
            <a:r>
              <a:t>提示词工程（任务书）：对付迎合和“它自己猜”——开放提问、写清范围、格式和验收要求，允许它说“材料不足”。</a:t>
            </a:r>
          </a:p>
          <a:p>
            <a:r>
              <a:t>上下文管理：对付上下文腐烂——一个任务一段对话，聊久了先压缩或新开；只放相关材料；关键要求放在开头。</a:t>
            </a:r>
          </a:p>
          <a:p>
            <a:r>
              <a:t>RAG（检索增强）：对付幻觉和知识过时——先从资料库里找到相关片段，再让模型带着出处回答。</a:t>
            </a:r>
          </a:p>
          <a:p>
            <a:r>
              <a:t>工作流与校验：对付抽卡和计算错误——固定步骤交给程序，数字用脚本重算，多跑几次比对，关键环节人工确认。</a:t>
            </a:r>
          </a:p>
          <a:p>
            <a:r>
              <a:t>选对输入方式（多模态 / OCR）：对付“看不见就乱猜”——图纸类任务先确认图真的进了模型。</a:t>
            </a:r>
          </a:p>
          <a:p/>
          <a:p>
            <a:r>
              <a:t>这页之后按顺序展开：任务书 → 上下文管理 → RAG → 工作流与 Agent → 交付前检查 → 企业落地架构。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简略写法：“帮我检查这张图，做个表格。”</a:t>
            </a:r>
          </a:p>
          <a:p/>
          <a:p>
            <a:r>
              <a:t>可复用写法：</a:t>
            </a:r>
          </a:p>
          <a:p/>
          <a:p>
            <a:r>
              <a:t>&gt; 请基于附件检查图纸与数量表。先说明读取到哪些页、哪些部分不清晰。每项发现给出页码或图中位置、原文／尺寸、判断依据和计算过程。把明确不一致、待确认事项和未检查范围分开。不要补造看不见的尺寸，也不要为了找错强行判错。请交付可编辑 Excel，计算项保留公式，最后说明尚需人工确认的事项。</a:t>
            </a:r>
          </a:p>
          <a:p/>
          <a:p>
            <a:r>
              <a:t>四个组成部分：任务目标｜材料范围｜输出格式｜验收与不确定性。</a:t>
            </a:r>
          </a:p>
          <a:p/>
          <a:p>
            <a:r>
              <a:t>标注：这是改写示例，尚未与原提示词做控制变量复测，不展示“提升百分比”。</a:t>
            </a:r>
          </a:p>
          <a:p/>
          <a:p>
            <a:r>
              <a:t>参考来源</a:t>
            </a:r>
          </a:p>
          <a:p>
            <a:r>
              <a:t>原任务提示词，改写为方法示例，未复测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1. 读材料：列出已读取的文件、范围、缺页和无法识别的位置。</a:t>
            </a:r>
          </a:p>
          <a:p>
            <a:r>
              <a:t>2. 定口径：明确单位、金额范围、资料优先级，以及哪些字段不得猜。</a:t>
            </a:r>
          </a:p>
          <a:p>
            <a:r>
              <a:t>3. 做产物：按模板交付可编辑文件，保留计算与来源定位。</a:t>
            </a:r>
          </a:p>
          <a:p>
            <a:r>
              <a:t>4. 核结果：抽查事实、独立重算关键数字、打开文件检查版面与完整性。</a:t>
            </a:r>
          </a:p>
          <a:p/>
          <a:p>
            <a:r>
              <a:t>对应本次报告：清单＋参考函件 → 汇总表金额口径 → 报告＋变更表 → 金额复算＋原因定位＋模板残留检查。</a:t>
            </a:r>
          </a:p>
          <a:p/>
          <a:p>
            <a:r>
              <a:t>每一步都有看得见的结果，下一步才有可靠输入。</a:t>
            </a:r>
          </a:p>
          <a:p/>
          <a:p>
            <a:r>
              <a:t>参考来源</a:t>
            </a:r>
          </a:p>
          <a:p>
            <a:r>
              <a:t>本地修编报告案例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上下文管理的几个做法</a:t>
            </a:r>
          </a:p>
          <a:p/>
          <a:p>
            <a:r>
              <a:t>1. 一个任务一段对话：换任务就新开，避免前一个任务的材料干扰。</a:t>
            </a:r>
          </a:p>
          <a:p>
            <a:r>
              <a:t>2. 长了就压缩：多数编程客户端有“压缩/总结上下文”的功能（例如 Claude Code 的 /compact），把前面的过程总结成要点后继续；或者让它写一份进度摘要，新开对话贴进去。</a:t>
            </a:r>
          </a:p>
          <a:p>
            <a:r>
              <a:t>3. 只放相关材料：先让它定位需要哪几页、哪几张表，再把这些放进来，而不是一次塞整个文件夹。</a:t>
            </a:r>
          </a:p>
          <a:p>
            <a:r>
              <a:t>4. 规则写进文件：长期有效的要求（单位口径、输出格式、禁止事项）写成项目规则文件，比如 Codex 读取的 AGENTS.md、Claude Code 读取的 CLAUDE.md，每次自动带上，不用在对话里反复说。</a:t>
            </a:r>
          </a:p>
          <a:p>
            <a:r>
              <a:t>5. 关键要求放开头，必要时结尾再重复一次（Lost in the Middle：中间最容易被忽略）。</a:t>
            </a:r>
          </a:p>
          <a:p/>
          <a:p>
            <a:r>
              <a:t>依据：Chroma Context Rot（2025-07-14）；Liu 等 Lost in the Middle（2023）。</a:t>
            </a:r>
          </a:p>
          <a:p/>
          <a:p>
            <a:r>
              <a:t>查询与整理日期：2026-10-18。</a:t>
            </a:r>
          </a:p>
          <a:p>
            <a:r>
              <a:t>依据：</a:t>
            </a:r>
          </a:p>
          <a:p>
            <a:r>
              <a:t>https://www.trychroma.com/research/context-rot</a:t>
            </a:r>
          </a:p>
          <a:p>
            <a:r>
              <a:t>https://arxiv.org/abs/2307.03172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这一页从零讲 RAG，先给比喻，再给流程。</a:t>
            </a:r>
          </a:p>
          <a:p/>
          <a:p>
            <a:r>
              <a:t>比喻：普通大模型是闭卷考试，只能凭训练时记住的东西答；遇到没见过的（新规范、单位内部文件），它不会交白卷，会按“最像”编一个。RAG 是开卷考试：答题前先翻书，把相关的几页找出来，照着书答，还能告诉你抄的是哪一页。</a:t>
            </a:r>
          </a:p>
          <a:p/>
          <a:p>
            <a:r>
              <a:t>名字拆开：R 检索（翻书找段落）＋ A 增强（把找到的段落贴进提示词）＋ G 生成（模型照着写）。注意它不改模型参数，资料更新了，重建一次索引就行。</a:t>
            </a:r>
          </a:p>
          <a:p/>
          <a:p>
            <a:r>
              <a:t>流程分两段：</a:t>
            </a:r>
          </a:p>
          <a:p>
            <a:r>
              <a:t>考前（只做一次）：把资料切成几百字一段，每段用 embedding 模型变成一串数字（向量），存进向量库。意思相近的段落，数字也相近。</a:t>
            </a:r>
          </a:p>
          <a:p>
            <a:r>
              <a:t>考时（每次提问）：问题也变成一串数字，到库里找最接近的 3–5 段，把段落和问题一起交给模型，要求它只依据这些段落回答、标出处。</a:t>
            </a:r>
          </a:p>
          <a:p/>
          <a:p>
            <a:r>
              <a:t>为什么值得这么麻烦：一是少编（原文在眼前，有东西可抄、能标出处；再加一句“只依据片段回答，找不到就说没找到”）；二是省 token：100 页中文资料约 5–8 万 token，整包塞进去每问一次付一次，检索只送命中的 3–5 段（一两千 token），差几十倍（按原稿口径估算）。</a:t>
            </a:r>
          </a:p>
          <a:p/>
          <a:p>
            <a:r>
              <a:t>下一页讲它和“让 Agent 自己翻文件夹”的区别。“找”的细节（关键词、向量、混合、精排）放在附录 F3b。</a:t>
            </a:r>
          </a:p>
          <a:p/>
          <a:p>
            <a:r>
              <a:t>参考讲法：火山引擎开发者社区《RAG 提示工程（一）》的“开卷考试”比喻；吴恩达 RAG 课程（B 站 BV1KFb6z2EFE）的检索器、分块、重排章节。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常被问：现在 Agent 自己会翻文件夹，文件夹里还有目录索引，还要 RAG 干什么？</a:t>
            </a:r>
          </a:p>
          <a:p/>
          <a:p>
            <a:r>
              <a:t>区别在“索引到哪一层”和“靠什么找”。</a:t>
            </a:r>
          </a:p>
          <a:p>
            <a:r>
              <a:t>一，目录索引是文件一级的：它告诉 Agent “合同在 03 文件夹第 2 份”，Agent 打开后还是整份（或整页）读进来，读进来的都算 token；RAG 是段落一级的，库里每几百字一段都有一个“意思坐标”，直接递上最相关的 3–5 段。</a:t>
            </a:r>
          </a:p>
          <a:p>
            <a:r>
              <a:t>二，翻文件夹靠线索：文件名、目录、关键词搜索（grep）。字面一个字不重合就漏，比如问“防撞设施”，规范里写的是“挡块”。RAG 按意思找，能落到那段。</a:t>
            </a:r>
          </a:p>
          <a:p>
            <a:r>
              <a:t>三，翻文件夹是多轮的：列目录、打开、读、发现不对再找；RAG 一轮取回。</a:t>
            </a:r>
          </a:p>
          <a:p>
            <a:r>
              <a:t>四，反过来，翻文件夹的好处是永远是最新的，不用维护；RAG 资料一改就要重建索引，不然查到旧版。</a:t>
            </a:r>
          </a:p>
          <a:p/>
          <a:p>
            <a:r>
              <a:t>真实例子：Claude Code 负责人 Boris Cherny 2026-02-01 在 X 上说，早期版本用过 RAG＋本地向量库，后来发现 Agent 自己搜索（glob、grep、读文件）总体更好，也更简单，没有安全、隐私、索引过期和可靠性这些问题。注意那是写代码的场景：代码文件名清楚、术语固定、要顺着引用读全文。规范库、历年报告这种“资料多、说法杂、反复问”的场景，RAG 仍然划算。</a:t>
            </a:r>
          </a:p>
          <a:p/>
          <a:p>
            <a:r>
              <a:t>怎么选：几十份、名字清楚，让它翻文件夹；成百上千页、换说法多，上 RAG；很多产品两样都给，把 RAG 做成 Agent 的一个搜索工具。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前面讲了 RAG 只解决“找得到”。这一页回答：找到之后，怎么保证“读得准、摆得对、算得出”。办法不是换更强的模型，是把一件事拆成步骤，每步写清标准和产出。</a:t>
            </a:r>
          </a:p>
          <a:p/>
          <a:p>
            <a:r>
              <a:t>左边是审图的五步，注意第三列——那是这一步“算不算做完”的判据，不是操作说明：</a:t>
            </a:r>
          </a:p>
          <a:p>
            <a:r>
              <a:t>① 定范围：几页、哪些表，图纸是“看图”还是“只 OCR”，先问清；</a:t>
            </a:r>
          </a:p>
          <a:p>
            <a:r>
              <a:t>② 提取：OCR 与视觉识别，标准是页数、表名、行数对得上，缺页要报出来；</a:t>
            </a:r>
          </a:p>
          <a:p>
            <a:r>
              <a:t>③ 逐项核对：拿图纸和图例、数量表互对，标准是每条结论都有位置和原文；</a:t>
            </a:r>
          </a:p>
          <a:p>
            <a:r>
              <a:t>④ 复算：关键工程量自己算一遍，标准是能独立复算；</a:t>
            </a:r>
          </a:p>
          <a:p>
            <a:r>
              <a:t>⑤ 汇总结论：分“明确不一致 / 待确认 / 未检查”，标准是不许把待确认写成已确认。</a:t>
            </a:r>
          </a:p>
          <a:p/>
          <a:p>
            <a:r>
              <a:t>右边做修编报告，同样的骨架：读清单、定位变更、套模板、复算、写原因。两个案例里踩的坑——单位 mm/cm 被当成错误、112 元差额、透水管核减 71.8663 万元——全都能归到某一步的“标准没定死”上。</a:t>
            </a:r>
          </a:p>
          <a:p/>
          <a:p>
            <a:r>
              <a:t>最下面那条最关键：工作流不是一次画完的。每跑一次，把踩到的坑写成一条标准，这就是“不断总结”，也是这套东西真正变成资产的地方。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基于报告案例归纳的验收方法示例，尚未进行对照复测。不能承诺加上检查表后不再出现错误。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上一页把工作流拆出来了，这一页回答两个问题：写死到什么程度？会不会限制模型？</a:t>
            </a:r>
          </a:p>
          <a:p/>
          <a:p>
            <a:r>
              <a:t>先说判断标准，三条：格式固定、有唯一正确答案、出错代价高——三条都满足就写死。反过来，材料不全要临场判断、输出是自然语言、步骤事先说不清——就该留给模型。</a:t>
            </a:r>
          </a:p>
          <a:p/>
          <a:p>
            <a:r>
              <a:t>再说下面那个提醒，这条要讲重：**过细的流程会变成天花板**。三种表现：一是模型本来一次能做对的事，被拆成五步反而每步都掉一点；二是标准写成了“怎么做”（按这个顺序、用这个模板），模型发现更好的路径也不许走；三是新模型上线后，那套为旧模型打的补丁全成了负担。</a:t>
            </a:r>
          </a:p>
          <a:p/>
          <a:p>
            <a:r>
              <a:t>怎么留活口，三条：标准写“要达到什么”而不是“怎么做”；每一步内部留判断位；定期删规则——半年清一次，删掉那些“当年为了绕开某个毛病”的补丁。</a:t>
            </a:r>
          </a:p>
          <a:p/>
          <a:p>
            <a:r>
              <a:t>一句话收尾：工作流是为了让人能验收，不是为了让模型听话。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上一页把工作流拆出来了，这一页回答两个问题：写死到什么程度？会不会限制模型？</a:t>
            </a:r>
          </a:p>
          <a:p/>
          <a:p>
            <a:r>
              <a:t>先说判断标准，三条：格式固定、有唯一正确答案、出错代价高——三条都满足就写死。反过来，材料不全要临场判断、输出是自然语言、步骤事先说不清——就该留给模型。</a:t>
            </a:r>
          </a:p>
          <a:p/>
          <a:p>
            <a:r>
              <a:t>再说下面那个提醒，这条要讲重：**过细的流程会变成天花板**。三种表现：一是模型本来一次能做对的事，被拆成五步反而每步都掉一点；二是标准写成了“怎么做”（按这个顺序、用这个模板），模型发现更好的路径也不许走；三是新模型上线后，那套为旧模型打的补丁全成了负担。</a:t>
            </a:r>
          </a:p>
          <a:p/>
          <a:p>
            <a:r>
              <a:t>怎么留活口，三条：标准写“要达到什么”而不是“怎么做”；每一步内部留判断位；定期删规则——半年清一次，删掉那些“当年为了绕开某个毛病”的补丁。</a:t>
            </a:r>
          </a:p>
          <a:p/>
          <a:p>
            <a:r>
              <a:t>一句话收尾：工作流是为了让人能验收，不是为了让模型听话。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这一页补的是“优缺点与适用条件”，不是“怎么搭”。</a:t>
            </a:r>
          </a:p>
          <a:p/>
          <a:p>
            <a:r>
              <a:t>先说真实收益，两条：并行——三个 Agent 各查一份清单的不同章节，原来串行四十分钟的活十几分钟能出初稿；上下文隔离——每个 Agent 只看自己那一摊，主线上下文不被几十页材料冲淡，这正好接前面讲的上下文腐烂。</a:t>
            </a:r>
          </a:p>
          <a:p/>
          <a:p>
            <a:r>
              <a:t>再说代价，三条，而且都真实发生过：成本翻倍（三个 Agent 就是三份 token）；写冲突（两个 Agent 改同一个文件，后写的把前面的覆盖掉）；最要命的是同一个错误前提——三个都用了错的汇总口径，就会一起错，而且看起来像“三方交叉验证过”，比一个 Agent 错得更可信。</a:t>
            </a:r>
          </a:p>
          <a:p/>
          <a:p>
            <a:r>
              <a:t>适用条件四个，缺一就别拆：任务能切成互不依赖的块、每块有独立可查的产出、写作用范围不重叠、有人负责合并与验收。</a:t>
            </a:r>
          </a:p>
          <a:p/>
          <a:p>
            <a:r>
              <a:t>什么时候别拆：步骤前后强依赖（第二步要用第一步的结论）、总量本来就小（拆完协调成本比干活还多）、没有验收人。</a:t>
            </a:r>
          </a:p>
          <a:p/>
          <a:p>
            <a:r>
              <a:t>结论那句要讲透：人多不自动变可靠。复核的人如果只是复述执行者的答案，那等于没复核——必须回到原材料。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这一页是全稿里最“反自己”的一页：前面花了很大力气讲工作流和多 Agent，这里要说清它们什么时候会害人。三条都是本稿真实踩过的，不是转述别人的说法。</a:t>
            </a:r>
          </a:p>
          <a:p/>
          <a:p>
            <a:r>
              <a:t>第一条：低级模型加一堆工作流，不如高级模型一句话。</a:t>
            </a:r>
          </a:p>
          <a:p>
            <a:r>
              <a:t>原因是：工作流不会增加模型的理解力。它只是把任务切小、把要求写细。如果模型本来就听不懂“这一步到底要什么”，切成五步只是把同一个误解重复五遍，而且每一步都多一次出错机会。实测里最典型的是图纸审查：配置差的那几组，不是步骤不够细，是根本没看懂图。反过来，Opus 那一档一句话下去，两个关键检查点（K1、K2）全中——它不需要被拆成五步。</a:t>
            </a:r>
          </a:p>
          <a:p>
            <a:r>
              <a:t>所以顺序应该是：先确认模型够不够用，再谈工作流。模型不够，工作流只能让你更快地得到错的东西。</a:t>
            </a:r>
          </a:p>
          <a:p/>
          <a:p>
            <a:r>
              <a:t>第二条：工作流如果不逐步人为确认，很容易花大量时间产出一堆垃圾，而且事后看不出是哪一步坏的。</a:t>
            </a:r>
          </a:p>
          <a:p>
            <a:r>
              <a:t>这条我体会最深。一条五步流水线跑完，交出来的东西不对，你想回头查：是第一步材料读错了？第二步切分切坏了？还是第三步判断偏了？中间产物没留，就查不出来。于是只能整条重跑，时间全耗在重跑上。</a:t>
            </a:r>
          </a:p>
          <a:p>
            <a:r>
              <a:t>所以工作流的第一个设计原则不是“自动”，是“每步留一个能查的产物”。这也是我不喜欢“Agent 编排”的原因：编排把步骤藏在黑箱里，中间态不落地，出问题只能靠猜。</a:t>
            </a:r>
          </a:p>
          <a:p/>
          <a:p>
            <a:r>
              <a:t>第三条：低级 AI 理解不了你的意思，换另一个 AI 来看也理解不了。</a:t>
            </a:r>
          </a:p>
          <a:p>
            <a:r>
              <a:t>很多人以为“让另一个模型复核”能救。但如果复核者拿到的还是同一段模糊描述，它只会给出另一个同样模糊的判断——两个都不懂，加起来还是不懂。复核能起作用的前提是：被复核的东西本身有据可查（原文、页码、算式），复核者能回到材料上逐条对。否则“两个模型都说对”只是两次猜测。</a:t>
            </a:r>
          </a:p>
          <a:p/>
          <a:p>
            <a:r>
              <a:t>三条合起来是一句话：模型的理解力是地基，工作流是脚手架。地基不够，脚手架搭得再漂亮也没用。</a:t>
            </a:r>
          </a:p>
          <a:p/>
          <a:p>
            <a:r>
              <a:t>屏幕精简前的完整文字：</a:t>
            </a:r>
            <a:br/>
            <a:br/>
            <a:br/>
            <a:r>
              <a:t>坑一</a:t>
            </a:r>
            <a:br/>
            <a:r>
              <a:t>低级模型 ＋ 一堆工作流 ＜ 高级模型一句话</a:t>
            </a:r>
            <a:br/>
            <a:r>
              <a:t>工作流不增加理解力，只把同一个误解重复五遍，还多四次出错机会。本次观察：差的那几组不是步骤不够细，是没看懂图；Opus 一句话，两个检查点全中。</a:t>
            </a:r>
            <a:br/>
            <a:br/>
            <a:r>
              <a:t>怎么避</a:t>
            </a:r>
            <a:br/>
            <a:r>
              <a:t>先确认模型够不够用，再谈工作流</a:t>
            </a:r>
            <a:br/>
            <a:br/>
            <a:br/>
            <a:r>
              <a:t>坑二</a:t>
            </a:r>
            <a:br/>
            <a:r>
              <a:t>不逐步确认，跑完一堆垃圾，还查不出哪步坏的</a:t>
            </a:r>
            <a:br/>
            <a:r>
              <a:t>五步跑完结果不对，中间产物没留，就只能整条重跑。时间全耗在重跑，而不是定位。</a:t>
            </a:r>
            <a:br/>
            <a:br/>
            <a:r>
              <a:t>怎么避</a:t>
            </a:r>
            <a:br/>
            <a:r>
              <a:t>每步必须留一个能查的产物——这也是“不喜欢 Agent 编排”的根源</a:t>
            </a:r>
            <a:br/>
            <a:br/>
            <a:br/>
            <a:r>
              <a:t>坑三</a:t>
            </a:r>
            <a:br/>
            <a:r>
              <a:t>这个 AI 听不懂，换另一个 AI 看也听不懂</a:t>
            </a:r>
            <a:br/>
            <a:r>
              <a:t>复核者拿到的还是同一段模糊描述，只会给出另一个同样模糊的判断。两个都不懂，加起来还是不懂。</a:t>
            </a:r>
            <a:br/>
            <a:br/>
            <a:r>
              <a:t>怎么避</a:t>
            </a:r>
            <a:br/>
            <a:r>
              <a:t>复核的前提是：材料本身有据可查，能回到原文逐条对</a:t>
            </a:r>
            <a:br/>
            <a:br/>
            <a:r>
              <a:t>顺序不能反：先确认模型够不够用，再决定要不要拆步骤、拆几个 Agent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场景，默认做法，关键检查</a:t>
            </a:r>
          </a:p>
          <a:p>
            <a:r>
              <a:t>公开资料，可按获准的流程使用，来源、版权与输出准确性</a:t>
            </a:r>
          </a:p>
          <a:p>
            <a:r>
              <a:t>内部业务材料，脱敏，使用组织允许的工具和账号，存储、训练使用、日志与访问范围</a:t>
            </a:r>
          </a:p>
          <a:p>
            <a:r>
              <a:t>密钥、账号和高敏感资料，不直接贴入普通对话，专门凭据机制与明确授权</a:t>
            </a:r>
          </a:p>
          <a:p>
            <a:r>
              <a:t>本地读写与执行命令，只授予完成任务必要的权限，文件范围、差异与可恢复性</a:t>
            </a:r>
          </a:p>
          <a:p>
            <a:r>
              <a:t>对外发送、付款、删除等动作，在最终动作前人工核对，对象、内容、金额和后果</a:t>
            </a:r>
          </a:p>
          <a:p/>
          <a:p>
            <a:r>
              <a:t>已经误传：立即停止继续扩散，撤销或轮换相关凭据，保留必要记录，按组织流程处理。</a:t>
            </a:r>
          </a:p>
          <a:p/>
          <a:p>
            <a:r>
              <a:t>参考来源</a:t>
            </a:r>
          </a:p>
          <a:p>
            <a:r>
              <a:t>S30 GitGuardian 2025 密钥报告</a:t>
            </a:r>
          </a:p>
          <a:p>
            <a:r>
              <a:t>https://www.gitguardian.com/state-of-secrets-sprawl-report-2025</a:t>
            </a:r>
          </a:p>
          <a:p/>
          <a:p>
            <a:r>
              <a:t>工作资料与权限管理方法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三件事，各对应一个案例：</a:t>
            </a:r>
          </a:p>
          <a:p>
            <a:r>
              <a:t>选配置——鹈鹕盲测：同一句话，十种结果；图纸任务先确认模型真的“看见”了图。</a:t>
            </a:r>
          </a:p>
          <a:p>
            <a:r>
              <a:t>交代清楚——修编报告：目标、材料、格式、怎么算完成都写出来，不在问题里替它下结论。</a:t>
            </a:r>
          </a:p>
          <a:p>
            <a:r>
              <a:t>检查结果——图纸与报告：回原文、重算关键数字、打开实际文件；把不确定和没做的部分留下来。</a:t>
            </a:r>
          </a:p>
          <a:p/>
          <a:p>
            <a:r>
              <a:t>上手路径：从一个自己能判断对错的小任务开始（一页摘要、一张表、一段报告）→ 用免费积分跑通 → 核结果 → 再决定换模型或付费。</a:t>
            </a:r>
          </a:p>
          <a:p/>
          <a:p>
            <a:r>
              <a:t>会后查阅：常用术语 A1–A4（P58 起）｜一页一家公司 B1–B13（P63 起）｜订阅与开通 C1–C7（P83 起）｜资讯与榜单 D1–D4（P91 起）｜案例与风险 E1–E4（P99 起）｜原理与历史 F1–F9（P116 起）｜来源 Z（P128 起）。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收尾只留三件事，和开场的三件事一一对应：选配置、交代清楚、检查结果。</a:t>
            </a:r>
          </a:p>
          <a:p/>
          <a:p>
            <a:r>
              <a:t>提问环节常见的三个方向，可以直接翻到对应页：</a:t>
            </a:r>
          </a:p>
          <a:p>
            <a:r>
              <a:t>1. “我该用哪个？”——第 02 部分的榜单与分层，以及附录 B 一页一家公司、附录 C5 一页选型。</a:t>
            </a:r>
          </a:p>
          <a:p>
            <a:r>
              <a:t>2. “怎么写提示词？”——第 04 部分的任务书与上下文管理。</a:t>
            </a:r>
          </a:p>
          <a:p>
            <a:r>
              <a:t>3. “结论靠不靠得住？”——第 03 部分每页都写了口径；原始材料在配套文件夹和附录 Z。</a:t>
            </a:r>
          </a:p>
          <a:p/>
          <a:p>
            <a:r>
              <a:t>最后提醒：所有价格、额度与榜单都是 2026-10-18 前后查询的，变动很快，引用前请回官网核对。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A1</a:t>
            </a:r>
          </a:p>
          <a:p/>
          <a:p>
            <a:r>
              <a:t>Token（词元）：模型读写文字的最小单位，计费和上下文都按它算。汉字和 token 不一一对应，按各家分词器算。</a:t>
            </a:r>
          </a:p>
          <a:p>
            <a:r>
              <a:t>上下文窗口：一次对话里模型能“看到”的 token 上限。1M 约一百万 token；放得下≠记得住。</a:t>
            </a:r>
          </a:p>
          <a:p>
            <a:r>
              <a:t>参数：模型内部可调的数字，决定能力上限和运行成本。参数多不等于一定更聪明。</a:t>
            </a:r>
          </a:p>
          <a:p>
            <a:r>
              <a:t>MoE（混合专家）：模型拆成多个“专家”，每次只调用一部分。总参数大、单次计算小，所以又快又便宜。</a:t>
            </a:r>
          </a:p>
          <a:p>
            <a:r>
              <a:t>推理 / 思考模式：先在内部推一遍再作答。high、xhigh 想得更久：更准，也更贵更慢。</a:t>
            </a:r>
          </a:p>
          <a:p>
            <a:r>
              <a:t>多模态：能同时处理文字、图片、音频、视频。看图≠OCR：前者理解画面，后者只认字。</a:t>
            </a:r>
          </a:p>
          <a:p>
            <a:r>
              <a:t>幻觉：编出不存在的内容，还说得很肯定。引用、数字、条文最容易出，必须核。</a:t>
            </a:r>
          </a:p>
          <a:p>
            <a:r>
              <a:t>开放权重 / 开源：公开模型参数可下载 / 连训练代码数据也公开。DeepSeek、Qwen、GLM 多为开放权重。</a:t>
            </a:r>
          </a:p>
          <a:p>
            <a:r>
              <a:t>蒸馏 / 量化：用大模型教小模型 / 降低数字精度让模型变小。本地部署多用量化版，能力有折损。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A2</a:t>
            </a:r>
          </a:p>
          <a:p/>
          <a:p>
            <a:r>
              <a:t>Prompt（提示词）：交给模型的任务、资料和要求。不是咒语；说清目标和验收标准更重要。</a:t>
            </a:r>
          </a:p>
          <a:p>
            <a:r>
              <a:t>系统提示词：客户端预先写给模型的“岗位说明”。同一模型换客户端效果不同，原因之一。</a:t>
            </a:r>
          </a:p>
          <a:p>
            <a:r>
              <a:t>上下文工程：决定把哪些资料、历史、规则放进上下文。比反复改提示词更影响结果。</a:t>
            </a:r>
          </a:p>
          <a:p>
            <a:r>
              <a:t>RAG（检索增强）：先从资料库检出相关片段，再让模型作答。检索漏了，回答就漏。</a:t>
            </a:r>
          </a:p>
          <a:p>
            <a:r>
              <a:t>Embedding（向量）：把文字变成一串数字，用来算“意思相近”。知识库检索的底层。</a:t>
            </a:r>
          </a:p>
          <a:p>
            <a:r>
              <a:t>API / API Key：程序调用模型的接口；Key 是计费凭证。Key 泄露＝别人花你的钱。</a:t>
            </a:r>
          </a:p>
          <a:p>
            <a:r>
              <a:t>按量 vs 订阅：API 按 token 付费；订阅按月给额度。积分 / Credits 是客户端自己的计量单位。</a:t>
            </a:r>
          </a:p>
          <a:p>
            <a:r>
              <a:t>缓存命中：重复的前文不重复计费或打折。长对话前文保持不变更省钱。</a:t>
            </a:r>
          </a:p>
          <a:p>
            <a:r>
              <a:t>限流（429）：每分钟、每天能调用的次数或 token 上限。报 429 就是触发限流，等一会儿再试。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A3</a:t>
            </a:r>
          </a:p>
          <a:p/>
          <a:p>
            <a:r>
              <a:t>Agent（智能体）：模型自己拆步骤、调工具、看结果再决定下一步。不只是自动连续聊天。</a:t>
            </a:r>
          </a:p>
          <a:p>
            <a:r>
              <a:t>Harness（外壳）：包住模型的运行环境：工具、上下文、权限、反馈。同一模型换外壳，表现差很多。</a:t>
            </a:r>
          </a:p>
          <a:p>
            <a:r>
              <a:t>工具调用：模型按固定格式请求执行某个函数。读文件、搜网页、跑代码都靠它。</a:t>
            </a:r>
          </a:p>
          <a:p>
            <a:r>
              <a:t>MCP：把外部工具和数据接给模型的开放协议。像统一接口；不会让模型变聪明。</a:t>
            </a:r>
          </a:p>
          <a:p>
            <a:r>
              <a:t>Skill（技能）：打包好的任务说明、脚本和资料，用到才加载。不等于自动获得工具权限。</a:t>
            </a:r>
          </a:p>
          <a:p>
            <a:r>
              <a:t>Subagent（子代理）：主 Agent 把子任务交给独立上下文的小 Agent。主线上下文更干净，还能并行。</a:t>
            </a:r>
          </a:p>
          <a:p>
            <a:r>
              <a:t>多 Agent：多个 Agent 分工协作。关键是有人负责验收。</a:t>
            </a:r>
          </a:p>
          <a:p>
            <a:r>
              <a:t>沙箱（Sandbox）：隔离的运行环境，Agent 在里面跑代码、改文件。出错不伤本机；权限仍要收紧。</a:t>
            </a:r>
          </a:p>
          <a:p>
            <a:r>
              <a:t>Computer Use：模型看屏幕截图，控制鼠标键盘操作电脑。能用没有接口的软件；慢，要盯着。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A4</a:t>
            </a:r>
          </a:p>
          <a:p/>
          <a:p>
            <a:r>
              <a:t>Browser Use：专门操作网页的 Agent。填表、比价、下单。</a:t>
            </a:r>
          </a:p>
          <a:p>
            <a:r>
              <a:t>Plan / Ask / Agent 模式：只出方案 / 只问答 / 直接动手改。先 Plan 再执行更稳。</a:t>
            </a:r>
          </a:p>
          <a:p>
            <a:r>
              <a:t>Vibe Coding：只描述需求、让 AI 写代码，不逐行看。做原型很快，交付前要审。</a:t>
            </a:r>
          </a:p>
          <a:p>
            <a:r>
              <a:t>工作流（Workflow）：预先固定的步骤链，模型只负责其中几步。稳定、可复现，适合重复任务。</a:t>
            </a:r>
          </a:p>
          <a:p>
            <a:r>
              <a:t>人工确认：关键步骤停下来等人点头（Human-in-the-loop）。付款、发信、删文件前必须停。</a:t>
            </a:r>
          </a:p>
          <a:p>
            <a:r>
              <a:t>提示注入：网页或文件里藏指令，劫持 Agent。读外部内容的 Agent 都要防。</a:t>
            </a:r>
          </a:p>
          <a:p>
            <a:r>
              <a:t>Benchmark（榜单）：用固定题目给模型打分。只代表那一类题（见第 24 页）。</a:t>
            </a:r>
          </a:p>
          <a:p>
            <a:r>
              <a:t>Arena / Elo：匿名对战、人来投票排名。测的是偏好，受回答风格影响。</a:t>
            </a:r>
          </a:p>
          <a:p>
            <a:r>
              <a:t>降智：用户感觉同一个模型变笨了。官方承认过 bug，不承认按负载降智（C6）。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OpenAI：把“推理”做成了可交付的东西。顺序是：模型线（它到底有哪几个档位）→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模型线：GPT-6 Astra（旗舰，AA 53；FrontierMath Erdős 68 题里唯一得分，3%）；GPT-6.1 Sol（AA 52，每道题 $0.72，性价比最高的一档）；GPT-6 Luna（免费档的小模型，上下文 27K）。全部闭源。</a:t>
            </a:r>
          </a:p>
          <a:p/>
          <a:p>
            <a:r>
              <a:t>外壳：ChatGPT 网页 / 桌面 / 手机；Codex 一个名四种形态——终端、IDE 插件、桌面、云端，Astra 版的 Codex 外壳把 computer use 提速约 1.9 倍；另有 API 与 Azure。</a:t>
            </a:r>
          </a:p>
          <a:p/>
          <a:p>
            <a:r>
              <a:t>强项：推理与数学第一梯队；写代码偏“防御式”，兜底和异常处理写得多，改动面也大。本次鹈鹕 G 一次成片，图纸 1/2（K1）。</a:t>
            </a:r>
          </a:p>
          <a:p/>
          <a:p>
            <a:r>
              <a:t>边界：贵：Astra 输入/输出 $10 / $50 每百万 token。档位最多，免费版和付费版常常不是同一个模型——拿免费版的体验评价它会低估它。</a:t>
            </a:r>
          </a:p>
          <a:p/>
          <a:p>
            <a:r>
              <a:t>在本分享：鹈鹕 G（GPT 6.1 Sol high · Codex，P19）；图纸 1/2（K1）、假错误 1 条（P30）；榜单与分层（P23–P25）；数学进展（B1b）。</a:t>
            </a:r>
          </a:p>
          <a:p/>
          <a:p>
            <a:r>
              <a:t>收尾一句：要解“最难的那道题”选 Astra；日常写代码跑批，Sol 更划算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OpenAI 解数学研究问题（2026-10-18 查询官方页面）</a:t>
            </a:r>
          </a:p>
          <a:p/>
          <a:p>
            <a:r>
              <a:t>2025-10 翻车在先：OpenAI 高管称模型“解决了 10 道 Erdős 问题”，后被指出只是检索到已有文献（The Guardian 2026-05-21 报道中回顾）。</a:t>
            </a:r>
          </a:p>
          <a:p/>
          <a:p>
            <a:r>
              <a:t>2026-05-20 Erdős 单位距离猜想：平面上 n 个点最多有多少对距离恰好为 1，Erdős 1946 年提出，此前普遍认为方格网格接近最优。OpenAI 内部模型给出反例，否定了这个猜想；Noga Alon 等数学家写了人工核验版说明，称其“解决了一个长期公开问题”。The Guardian 指出更广的问题（增长速度到底多快）仍未解决。</a:t>
            </a:r>
          </a:p>
          <a:p>
            <a:r>
              <a:t>https://openai.com/index/model-disproves-discrete-geometry-conjecture/</a:t>
            </a:r>
          </a:p>
          <a:p/>
          <a:p>
            <a:r>
              <a:t>2026-08-01 十项成果：用下一代模型 Astra 的内部版本，在球堆积、编码理论、算术电路复杂度、群论、算子代数、量子复杂度、格密码、Ramsey 数等方向给出新结果，解决 Erdős 第 183、146、180 题等；按 Sol API 价折算总计约 2,000 美元的 token；每个证明都由模型写成 Lean 证书，人用同一模型整理成论文。</a:t>
            </a:r>
          </a:p>
          <a:p>
            <a:r>
              <a:t>https://openai.com/index/ten-advances-in-mathematics</a:t>
            </a:r>
          </a:p>
          <a:p/>
          <a:p>
            <a:r>
              <a:t>2026-09-08 纳维–斯托克斯千禧年难题：OpenAI 称内部模型（比 GPT-6 Astra 强得多）证明了光滑初始的三维不可压缩流体可在有限时间内出现奇点，即构造了“爆破”，并给出 Lean 形式化；约 1 万个并发 Agent 跑了约 88 小时，形式化又用 GPT-6 Astra 17 小时；OpenAI 表示不申领千禧年奖金。这是 OpenAI 自述，数学界的独立评审仍在进行，讲的时候请这样表述。</a:t>
            </a:r>
          </a:p>
          <a:p>
            <a:r>
              <a:t>https://openai.com/index/navier-stokes-solution/</a:t>
            </a:r>
          </a:p>
          <a:p/>
          <a:p>
            <a:r>
              <a:t>2026-10-06 再公开一批结果：放在 GitHub，附 Lean 形式化；平均每个结果约等于 3 小时 ChatGPT Pro 的思考算力；10-15 追加向西蒙斯基金会捐 500 万美元，支持数学家理解 AI 产出的结果。</a:t>
            </a:r>
          </a:p>
          <a:p>
            <a:r>
              <a:t>https://openai.com/index/sharing-ai-progress-in-mathematics</a:t>
            </a:r>
          </a:p>
          <a:p/>
          <a:p>
            <a:r>
              <a:t>冷静的一面：Epoch AI 与 Bloom 的 FrontierMath Erdős（2026-09）选了 68 道截至 8 月仍未解决的 Erdős 题，每题预算 300 美元、要求用 Lean 证明：GPT-6 Astra 得 3%，其余 4 个模型 0%。即“挑着能解的题发公告”和“系统性地解一批题”是两回事。</a:t>
            </a:r>
          </a:p>
          <a:p>
            <a:r>
              <a:t>https://arxiv.org/abs/2609.25050</a:t>
            </a:r>
          </a:p>
          <a:p>
            <a:r>
              <a:t>另：Anthropic 方面，Levent Alpöge 称用 Claude Fable 5 找到了三维雅可比猜想的显式反例（2026-07-19，见同一论文引言）。</a:t>
            </a:r>
          </a:p>
          <a:p>
            <a:r>
              <a:t>竞赛背景：IMO 2026 华为 Celia、小红书 dots-note-3.0 获官方评分 42/42。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“降智”的证据与检测（2026-10-18 整理）</a:t>
            </a:r>
          </a:p>
          <a:p/>
          <a:p>
            <a:r>
              <a:t>1. Anthropic 官方事故复盘（2025-09-17）：2025 年 8 月至 9 月初有 3 个基础设施 bug 间歇性降低回答质量；最严重时（8-31）16% 的 Sonnet 4 请求受影响；约 30% 的 Claude Code 用户至少有一条消息被路由错误。官方原话：“We never reduce model quality due to demand, time of day, or server load.” 左图为官方时间线。</a:t>
            </a:r>
          </a:p>
          <a:p>
            <a:r>
              <a:t>https://www.anthropic.com/engineering/a-postmortem-of-three-recent-issues</a:t>
            </a:r>
          </a:p>
          <a:p/>
          <a:p>
            <a:r>
              <a:t>2. Margin Lab 独立追踪：每天用 Claude Code 跑 SWE-Bench-Pro 子集 50 题。截至 2026-09-29：当日 77%（50 题）、7 日 76%、30 日 81%；判定“显著下降”的门槛分别是 ±12.8、±4.7、±2.3 个百分点。也就是说单日 50 题上下浮动 10 个点都可能只是正常波动。当时因切换 Opus 5.5 正在重建基线。Codex 也有同类追踪。</a:t>
            </a:r>
          </a:p>
          <a:p>
            <a:r>
              <a:t>https://marginlab.ai/trackers/claude-code/</a:t>
            </a:r>
          </a:p>
          <a:p/>
          <a:p>
            <a:r>
              <a:t>3. lm.ikale.io（LM Fingerpoint Detector，开源 MIT）：让模型凭第一反应写约 300 个 1–355 的整数，按“随机数偏好”和参考库比对，判断第三方 API 背后“像哪个模型”。官方说明：结果是参考库内的排序，不是身份证明；置信度低于 75% 会提示不足。注意：API 模式默认经该站代理转发，API Key 会经过第三方；它测的是“是不是换了模型”，不是“能力降没降”。</a:t>
            </a:r>
          </a:p>
          <a:p>
            <a:r>
              <a:t>https://lm.ikale.io/docs/ ；https://github.com/Ikaleio/lm-detector</a:t>
            </a:r>
          </a:p>
          <a:p/>
          <a:p>
            <a:r>
              <a:t>L 站（linux.do）上经常有“降智”讨论帖，属用户体感，可作为线索，不能当结论。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Anthropic：把“干活”当成主战场。顺序是：模型线（它到底有哪几个档位）→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模型线：Claude Opus 5.5（2026-09 发布，AA 58 全场第一；$4/$20 每百万 token，缓存读 $0.20，比 Opus 5 便宜 40%）；Sonnet 5.5（56）、Haiku 5.5（43）；Fable 5.1（53，上一代旗舰，仍在跑）。全部闭源。</a:t>
            </a:r>
          </a:p>
          <a:p/>
          <a:p>
            <a:r>
              <a:t>外壳：Claude Code（终端 Agent，社区公认与 Opus 5.5 最搭的一套外壳）；Claude 桌面版（原 Cowork，直接读写本机文件）；claude.ai；API 与 AWS / GCP / Azure。</a:t>
            </a:r>
          </a:p>
          <a:p/>
          <a:p>
            <a:r>
              <a:t>强项：长任务不跑偏、会自己查证。本次图纸 2/2（十家里唯一全中）；修编报告 4 分钟出稿、金额全对，还联网核对了承建单位。</a:t>
            </a:r>
          </a:p>
          <a:p/>
          <a:p>
            <a:r>
              <a:t>边界：没有免费版，Claude Pro $20 起；对中国大陆用户与中资实体有地区限制（见 C5）；最强档跑一道题约 $6。</a:t>
            </a:r>
          </a:p>
          <a:p/>
          <a:p>
            <a:r>
              <a:t>在本分享：鹈鹕 D（Opus 5.5 · Hark，P19）；图纸 2/2（P30）；修编报告 4 分钟（P34）；“脾气”页（P26）。</a:t>
            </a:r>
          </a:p>
          <a:p/>
          <a:p>
            <a:r>
              <a:t>收尾一句：交付物要经得起人核、又不想反复返工时选它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Opus 5.5 做视频的原理：Opus 不直接生成像素，而是写网页动画代码（HTML/Canvas/SVG、Remotion、HyperFrames 等），再用无头浏览器逐帧截图，用 FFmpeg 拼成 MP4。所以画面可以精确控制，同一份代码每次渲染结果一样。</a:t>
            </a:r>
          </a:p>
          <a:p>
            <a:r>
              <a:t>“一句话出片”是真的，但播放量很高的作品，很多背后有长提示词、Skill 或多轮修改。</a:t>
            </a:r>
          </a:p>
          <a:p/>
          <a:p>
            <a:r>
              <a:t>页面里的 4 段（各截取 4 秒做成动图，原片见链接；模型归属为作者自述，GitHub 合集说明未独立复现）：</a:t>
            </a:r>
          </a:p>
          <a:p>
            <a:r>
              <a:t>1. 15 秒动态图形作品集（Stephan Livera，原帖公开了一句话需求），约 37.9 万次观看（2026-09-25 记录）：https://x.com/stephanlivera/status/2103315922098470926</a:t>
            </a:r>
          </a:p>
          <a:p>
            <a:r>
              <a:t>2. 中华五千年历史速览，2 分 38 秒（作者 WY，评论区公开了一句话提示词），约 15.1 万次观看：https://x.com/akokoi1/status/2102583898865873225</a:t>
            </a:r>
          </a:p>
          <a:p>
            <a:r>
              <a:t>3. AI 发展史短片，3 分钟（Remotion + 开源 TTS），约 16.1 万次观看：https://x.com/kimmonismus/status/2102844654169575547</a:t>
            </a:r>
          </a:p>
          <a:p>
            <a:r>
              <a:t>4. 轨道中的世界，32 秒，约 167.6 万次观看：https://x.com/devteamdrew/status/2102436464323661880</a:t>
            </a:r>
          </a:p>
          <a:p>
            <a:r>
              <a:t>合集：https://github.com/opusvideo/awesome-claude-video</a:t>
            </a:r>
          </a:p>
          <a:p>
            <a:r>
              <a:t>B 站同类作品示例：《Opus5.5告诉你，它是怎么做视频的》https://www.bilibili.com/video/BV1vRHa63EYg （2 分 27 秒、4410 帧）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Anthropic 针对中国用户与实体的举措</a:t>
            </a:r>
          </a:p>
          <a:p/>
          <a:p>
            <a:r>
              <a:t>2025-09：Anthropic 宣布不再向中国资本控股超过 50% 的实体提供服务，无论其注册在哪里。（官方公告，URL 待复核：https://www.anthropic.com/news/updating-restrictions-of-sales-to-unsupported-regions）</a:t>
            </a:r>
          </a:p>
          <a:p>
            <a:r>
              <a:t>2026-02-23：蒸馏报告，点名 DeepSeek（15 万+次对话）、月之暗面（340 万+）、MiniMax（1,300 万+）；约 2.4 万个欺诈账号、1,600 万+次交互；一个代理网络超过 2 万账号。</a:t>
            </a:r>
          </a:p>
          <a:p>
            <a:r>
              <a:t>2026-10-08：发布新使用政策，2026-11-12 生效；“支持地区”按使用者所在地、注册地、多数股权所有者判断；支持国家列表中没有中国大陆、香港、澳门。</a:t>
            </a:r>
          </a:p>
          <a:p>
            <a:r>
              <a:t>technews.tw（2026-10-14）：2026 上半年封禁 1,140 万账号，申诉 39.8 万，推翻 4.2 万（约 10.6%）；对疑似代理或不支持地区的账号，可能要求身份证件验证。</a:t>
            </a:r>
          </a:p>
          <a:p>
            <a:r>
              <a:t>Claude 帮助中心“身份验证”页：被封原因包括从不支持地区创建账号（搜索摘要）。</a:t>
            </a:r>
          </a:p>
          <a:p>
            <a:r>
              <a:t>另有报道称 2026-09 威胁报告点名多家中国公司、2026-10 蒸馏防御文章称降低 90–99%（仅搜索摘要，未核实，不上页面）。</a:t>
            </a:r>
          </a:p>
          <a:p/>
          <a:p>
            <a:r>
              <a:t>查询与整理日期：2026-10-18。</a:t>
            </a:r>
          </a:p>
          <a:p/>
          <a:p/>
          <a:p>
            <a:r>
              <a:t>右下角梗图（核对）：“如何在不退款的同时封号”是调侃。本页能核实的是封禁规模（1,140 万账号、申诉 39.8 万、推翻 4.2 万）；“封号不退款”出自用户反馈，Anthropic 没有把它写成统一政策，讲时只当玩笑。社区二创，版权归原作者。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Google：知识面最广，长输出最稳。顺序是：模型线（它到底有哪几个档位）→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模型线：Gemini 4 Argon（AA 53；Arena 文字榜第一 1524；ARC-AGI-3 97.5%；单次输出可达 1M token）；Gemini 3.8 Flash（41，免费档主力）；Flash-Lite（更小更快）。</a:t>
            </a:r>
          </a:p>
          <a:p/>
          <a:p>
            <a:r>
              <a:t>外壳：Gemini App；Antigravity——2026-06-18 起 Gemini CLI 并入 Antigravity CLI，桌面版与命令行共用同一套 Agent 外壳；AI Studio / Vertex AI；Workspace 内嵌。</a:t>
            </a:r>
          </a:p>
          <a:p/>
          <a:p>
            <a:r>
              <a:t>强项：知识面、中文与长文写作；一次能吐很长，适合整篇报告、长文档改写与资料综述。</a:t>
            </a:r>
          </a:p>
          <a:p/>
          <a:p>
            <a:r>
              <a:t>边界：智能体榜偏后（Arena Agent 13.73%）；工具链刚换过一代，网上多半旧教程已经对不上；国内访问受限。</a:t>
            </a:r>
          </a:p>
          <a:p/>
          <a:p>
            <a:r>
              <a:t>在本分享：榜单与分层（P23–P25）；免费档 Flash-Lite（P21）；订阅与地区（C2、C4）。</a:t>
            </a:r>
          </a:p>
          <a:p/>
          <a:p>
            <a:r>
              <a:t>收尾一句：写长文、查资料、要一个“什么都懂一点”的默认助手时选它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xAI：模型不追第一，产品先做“常驻同事”。顺序是：模型线（它到底有哪几个档位）→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模型线：Grok 4.7（AA 46，第二梯队）；Grok 系列主打实时信息与 X 上的语料；权重不开源。模型本身不是它最强的地方。</a:t>
            </a:r>
          </a:p>
          <a:p/>
          <a:p>
            <a:r>
              <a:t>外壳：Grok Bot（2026-08-11 公测）：每个 Bot 一台自己的云端电脑，能登录你常用的应用，24 小时跑，只在需要拍板时回来；可多 Bot 并行、互相发消息、拉群协作；用量与 Grok / Cursor 订阅分开算。另有 grok.com、X 内入口、API。</a:t>
            </a:r>
          </a:p>
          <a:p/>
          <a:p>
            <a:r>
              <a:t>强项：把“人等结果”变成“结果等人”；适合销售跟进、运营、招聘、修 bug 这类跨应用的多步流程。</a:t>
            </a:r>
          </a:p>
          <a:p/>
          <a:p>
            <a:r>
              <a:t>边界：地区限制，大陆不可直接访问；企业版还在等待名单；常驻意味着要把账号权限交出去很大一块。</a:t>
            </a:r>
          </a:p>
          <a:p/>
          <a:p>
            <a:r>
              <a:t>在本分享：中转与代理池（E2–E2f）；支持地区（C2）；Grok 并入 X 订阅（C4、C7）。</a:t>
            </a:r>
          </a:p>
          <a:p/>
          <a:p>
            <a:r>
              <a:t>收尾一句：已经有 X 或 Cursor 订阅、又想试“常驻同事”形态时，它门槛最低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Meta：把“记忆”当成模型能力来做。顺序是：模型线（它到底有哪几个档位）→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模型线：Muse Wonder 与 Muse Wonder Full（2026-10-12，Meta Superintelligence Labs 出品，AA 52；Arena 文字榜第二）；Muse Spark（2026-04 首款，现支撑 Meta AI）。主打 Active Memory（跨对话记住你）与 Active Focus（长任务不放弃）。</a:t>
            </a:r>
          </a:p>
          <a:p/>
          <a:p>
            <a:r>
              <a:t>外壳：Muse App（muse.ai）；Muse Code（面向订阅者）；Meta Model API；Meta AI 内嵌于 Facebook / Instagram / WhatsApp。</a:t>
            </a:r>
          </a:p>
          <a:p/>
          <a:p>
            <a:r>
              <a:t>强项：长期记忆与个人事务：多约束的行程、比价、定制、排座位这类活，它记得住前因；写作体感好。</a:t>
            </a:r>
          </a:p>
          <a:p/>
          <a:p>
            <a:r>
              <a:t>边界：只对美国、加拿大开放（第三方核查口径）；免费档有上限，Power $20、Maximum $100；企业级治理弱于 OpenAI / Anthropic。</a:t>
            </a:r>
          </a:p>
          <a:p/>
          <a:p>
            <a:r>
              <a:t>在本分享：榜单与分层（P23–P25）；“云端 / 个人代理”分类（P22）；价格（C4）。</a:t>
            </a:r>
          </a:p>
          <a:p/>
          <a:p>
            <a:r>
              <a:t>收尾一句：想试“记得住你”的个人助理时；工作交付别把它当主力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/>
          <a:p>
            <a:r>
              <a:t>原 B5b（Muse 产品页）与本页内容重复，已合并：两个招牌能力与入口的细节并入本页。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Mistral：欧洲的“可自部署”路线。顺序是：模型线（它到底有哪几个档位）→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模型线：Mistral Large 4（2026-10-06，约 1T 参数 MoE，1M 上下文，多模态，开放权重先 API 预览）；另有 Pixtral（视觉）、Devstral（代码）、Magistral（推理）。</a:t>
            </a:r>
          </a:p>
          <a:p/>
          <a:p>
            <a:r>
              <a:t>外壳：Mistral Vibe（原 Le Chat，聊天＋编码 Agent）；Mistral Code（IDE 插件）；La Plateforme API；权重可下载，用 vLLM / TensorRT-LLM 自建。</a:t>
            </a:r>
          </a:p>
          <a:p/>
          <a:p>
            <a:r>
              <a:t>强项：数据不出境、可审计、能进内网；同能力下显存与价格友好，是欧盟“主权 AI”的默认选项。</a:t>
            </a:r>
          </a:p>
          <a:p/>
          <a:p>
            <a:r>
              <a:t>边界：绝对能力不在第一梯队，本次榜单没有收录它的旗舰分数；中文语料与国内生态明显弱。</a:t>
            </a:r>
          </a:p>
          <a:p/>
          <a:p>
            <a:r>
              <a:t>在本分享：本次未进入对比（P19–P27）——它的价值在“能自己部署”，不在跑分。</a:t>
            </a:r>
          </a:p>
          <a:p/>
          <a:p>
            <a:r>
              <a:t>收尾一句：单位要求数据不出机房、或要一个可审计的欧洲供应商时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DeepSeek：把价格打到地板的那一家。顺序是：模型线（它到底有哪几个档位）→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模型线：DeepSeek V4.1 Flash 1017（2026-10-17 上线，1M 上下文，开源，官方自报 DeepSWE 77.0；AA 尚未出分，旧版 39）；V4 Pro 为高配档。</a:t>
            </a:r>
          </a:p>
          <a:p/>
          <a:p>
            <a:r>
              <a:t>外壳：网页 / App；API（OpenAI 兼容，改个 base_url 就能接）；第三方客户端（WorkBuddy、Cherry Studio 等）；权重可自建。</a:t>
            </a:r>
          </a:p>
          <a:p/>
          <a:p>
            <a:r>
              <a:t>强项：价格最低（缓存命中 0.04 元、未命中 2 元、输出 8 元每百万 token，闲时半价）、输出最快（约 217 token/s）；报告案例里原因写得最具体。</a:t>
            </a:r>
          </a:p>
          <a:p/>
          <a:p>
            <a:r>
              <a:t>边界：提示词写得粗就明显变差；图纸 0/2；列了 19 条，其中 2 条是假错误；高峰时段（工作日 9–12、14–18 点）限速。</a:t>
            </a:r>
          </a:p>
          <a:p/>
          <a:p>
            <a:r>
              <a:t>在本分享：鹈鹕 C（DeepSeek V4.1 Flash 1M · WorkBuddy，P19）；图纸 0/2（P30）；修编报告 34 分钟（P34）；价格（P23）。</a:t>
            </a:r>
          </a:p>
          <a:p/>
          <a:p>
            <a:r>
              <a:t>收尾一句：量大、预算紧、任务边界清楚（抽取、改写、批处理）时首选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这一页回答“DeepSeek 的开源到底彻底在哪”，也是听众最容易被“开源”两个字糊弄的地方。</a:t>
            </a:r>
          </a:p>
          <a:p/>
          <a:p>
            <a:r>
              <a:t>先拆成四层，从浅到深：</a:t>
            </a:r>
          </a:p>
          <a:p>
            <a:r>
              <a:t>一，权重开放。把模型参数放出来，能下载、能自己跑。多数“开源模型”只做到这一层。</a:t>
            </a:r>
          </a:p>
          <a:p>
            <a:r>
              <a:t>二，许可宽松。DeepSeek 的做法是代码用 MIT、模型用自建许可（基于 OpenRAIL 修改）。官方 FAQ 明确：可商用、免费、无需申请登记；衍生模型不必开源（不是 GPL 那种传染式），但要保留版权声明、显著声明修改、遵守用途限制。作为对比，Meta 的 Llama 用的是自家社区许可，限制更多（比如月活到一定规模要额外申请）。</a:t>
            </a:r>
          </a:p>
          <a:p>
            <a:r>
              <a:t>三，训练细节公开。V3 技术报告公开发表（671B 总参数 / 37B 激活），包含架构、训练策略和成本说明。这是“能被复现研究”的关键一层。</a:t>
            </a:r>
          </a:p>
          <a:p>
            <a:r>
              <a:t>四，底层算子与工具开源。2025 年 2 月 24 至 28 日的“开源周”，连续放了五个库：FlashMLA（Hopper 上的 MLA 解码内核）、DeepEP（MoE 训练推理的 EP 通信库）、DeepGEMM（矩阵乘算子库）、EPLB 与 DualPipe（负载均衡与流水并行）、3FS（Fire-Flyer 文件系统）。这些是“怎么把硬件榨干”的东西，通常厂商不外传。</a:t>
            </a:r>
          </a:p>
          <a:p/>
          <a:p>
            <a:r>
              <a:t>为什么第四层最能说明态度：前三层给你“结果”，第四层给你“方法”。愿意公开方法，等于承认别人可以照着做得更便宜。</a:t>
            </a:r>
          </a:p>
          <a:p/>
          <a:p>
            <a:r>
              <a:t>关于“国产追上”的时间点要说准：DeepSeek 第一代是 2023 年的 DeepSeek-LLM 与 DeepSeek-Coder；真正让国产大模型被全球认真对待的是 2024 年底的 V3 与 2025 年初的 R1。所以讲“转折点”要落在 V3/R1 这一波，不要说成 V1。</a:t>
            </a:r>
          </a:p>
          <a:p/>
          <a:p>
            <a:r>
              <a:t>最后一句要提醒：开源不等于没有成本。权重能下载，算力和运维还得自己扛；许可宽松也不等于可以随便用，用途限制仍在。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阿里 Qwen：会自己想办法的那一家。顺序是：模型线（它到底有哪几个档位）→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模型线：Qwen3.8 Max（2026-08，2.4T 参数 MoE，思考 / 快速双模式，AA 45）；Qwen3.8 Flash（41）与 Flash-Next；开源系列陆续放出权重。</a:t>
            </a:r>
          </a:p>
          <a:p/>
          <a:p>
            <a:r>
              <a:t>外壳：通义 App；Qoder（IDE，可接自己的 API Key，有 Quest 与 Editor 两种形态）；阿里云百炼 API；开源权重自建。</a:t>
            </a:r>
          </a:p>
          <a:p/>
          <a:p>
            <a:r>
              <a:t>强项：看不见图会自己把 PDF 渲染成图再逐格读——本次因此找到 K2；中文理解与写作稳。</a:t>
            </a:r>
          </a:p>
          <a:p/>
          <a:p>
            <a:r>
              <a:t>边界：慢：图纸 43 分钟；列了 24 条、其中 5 条假错误，报得多不等于对得多；Qoder 的免费额度与国内版价格要分开看。</a:t>
            </a:r>
          </a:p>
          <a:p/>
          <a:p>
            <a:r>
              <a:t>在本分享：鹈鹕 I（Qwen 3.8 Flash · Qoder，P19）；图纸 1/2（K2）；读图方式对比（P31）。</a:t>
            </a:r>
          </a:p>
          <a:p/>
          <a:p>
            <a:r>
              <a:t>收尾一句：需要“自己想办法把活干完”、又能等的时候；赶时间别选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前面讲总参数与激活参数、讲私有化部署时，都指向同一个现实：多数单位最后真能用的，不是旗舰，而是塞得进自己机器的中小模型。这一页就是 Qwen 在这条线上的布局。</a:t>
            </a:r>
          </a:p>
          <a:p/>
          <a:p>
            <a:r>
              <a:t>Qwen3 一次放出 8 款：2 款 MoE（30B、235B），6 款稠密（0.6B / 1.7B / 4B / 8B / 14B / 32B）。官方与报道的说法是“每款都是同尺寸开源模型的 SOTA”——注意这句话的分量：不是“和旗舰比”，是“和自己这个尺寸的对手比”。</a:t>
            </a:r>
          </a:p>
          <a:p/>
          <a:p>
            <a:r>
              <a:t>为什么这件事对单位有意义，三个场景：</a:t>
            </a:r>
          </a:p>
          <a:p>
            <a:r>
              <a:t>一，端侧。0.6B/1.7B/4B 已经能在手机上跑（联发科天玑平台做过实机验证，性能与功耗平衡）。现场勘验、外业记录这类没网也要用的场景，靠的就是这一档。</a:t>
            </a:r>
          </a:p>
          <a:p>
            <a:r>
              <a:t>二，内网单机。8B 到 32B 是“一张消费级显卡或一台工作站能跑”的区间，够做分类、抽取、改写这类高频窄任务，成本可控。</a:t>
            </a:r>
          </a:p>
          <a:p>
            <a:r>
              <a:t>三，蒸馏与教学。小模型常被用来给大模型做蒸馏目标，或者做本地实验。</a:t>
            </a:r>
          </a:p>
          <a:p/>
          <a:p>
            <a:r>
              <a:t>还要说清一个容易混淆的点：同尺寸最强 ≠ 能替代旗舰。32B 再强，复杂长链推理也难追上 2.4T 的旗舰；选型要看任务难度，不是看榜单名次。</a:t>
            </a:r>
          </a:p>
          <a:p/>
          <a:p>
            <a:r>
              <a:t>另外 Qwen 的生态规模也值得一句：累计开源 460+ 模型、衍生模型 30 万+、近半年下载破 30 亿次，是全球下载量最高的开放模型家族。这意味着“遇到问题更容易搜到答案、更容易找到别人改好的版本”。</a:t>
            </a:r>
          </a:p>
          <a:p/>
          <a:p>
            <a:r>
              <a:t>一句话收尾：旗舰决定它能拿多少分，尺寸梯队决定它能不能真的装进你的机房。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智谱 GLM：开源里最会写代码的一档。顺序是：模型线（它到底有哪几个档位）→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模型线：GLM-5.3（开源权重；官方称编程较 GLM-5.2 提升 50%，Terminal-Bench 3.0 开源 SOTA；AA 45）；GLM-5.3-Flash（轻量版，本次鹈鹕用的就是它）。</a:t>
            </a:r>
          </a:p>
          <a:p/>
          <a:p>
            <a:r>
              <a:t>外壳：Z.ai 网页；ZCode（官方 Agent 外壳，多智能体协作）；GLM Coding Plan（包月，比按量 API 便宜）；bigmodel.cn API；权重可自建。</a:t>
            </a:r>
          </a:p>
          <a:p/>
          <a:p>
            <a:r>
              <a:t>强项：单位里想“私有化 + 便宜 + 会写代码”，它是目前最省事的一档；包月方案对天天写代码的人很划算。</a:t>
            </a:r>
          </a:p>
          <a:p/>
          <a:p>
            <a:r>
              <a:t>边界：本次图纸看了 1 小时 24 分，最后判“无实质错误”，0/2；预览版与正式版能力有差距。</a:t>
            </a:r>
          </a:p>
          <a:p/>
          <a:p>
            <a:r>
              <a:t>在本分享：鹈鹕 A（GLM 5.3 Flash · Trae，P19）；图纸 0/2（P30）；分层（P25）。</a:t>
            </a:r>
          </a:p>
          <a:p/>
          <a:p>
            <a:r>
              <a:t>收尾一句：要私有化部署、或按包月写代码时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月之暗面 Kimi：参数最大，长文最舒服。顺序是：模型线（它到底有哪几个档位）→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模型线：Kimi K3（2026-07，2.8T 参数、1M 上下文、开源，Kimi Delta Attention 混合线性注意力；AA 44）；K2 系列仍在服务。是目前参数最大的开源模型。</a:t>
            </a:r>
          </a:p>
          <a:p/>
          <a:p>
            <a:r>
              <a:t>外壳：Kimi 网页 / App；Kimi CLI 与 Kimi Code CLI（TypeScript 重写、单文件二进制）；platform.kimi.com API；权重可自建。</a:t>
            </a:r>
          </a:p>
          <a:p/>
          <a:p>
            <a:r>
              <a:t>强项：长文档、长对话不丢线；前端与设计稿还原在社区口碑好，适合读规范、读合同、写长稿。</a:t>
            </a:r>
          </a:p>
          <a:p/>
          <a:p>
            <a:r>
              <a:t>边界：智能体干活不在第一梯队；本次没有进入识图对比，缺同口径数据。</a:t>
            </a:r>
          </a:p>
          <a:p/>
          <a:p>
            <a:r>
              <a:t>在本分享：榜单与分层（P23–P25，AA 44 与 Step 5 并列）。</a:t>
            </a:r>
          </a:p>
          <a:p/>
          <a:p>
            <a:r>
              <a:t>收尾一句：读长材料、写长文、还原前端稿时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MiniMax：一边做语言，一边做视频。顺序是：模型线（它到底有哪几个档位）→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模型线：MiniMax M3（2026-06，约 428B 参数 / 23B 激活，1M 上下文，原生多模态，开源；AA 29）；H3（即海螺 3.0，2026-07-31，音画同出的视频模型）。</a:t>
            </a:r>
          </a:p>
          <a:p/>
          <a:p>
            <a:r>
              <a:t>外壳：MiniMax Agent（桌面端，能读本地文件、操作浏览器）；MiniMax Code；海螺视频；开放平台 API。</a:t>
            </a:r>
          </a:p>
          <a:p/>
          <a:p>
            <a:r>
              <a:t>强项：视频与多模态生成是强项；桌面 Agent 直接动本机文件，做素材、配音、短片比纯聊天模型顺手。</a:t>
            </a:r>
          </a:p>
          <a:p/>
          <a:p>
            <a:r>
              <a:t>边界：语言模型分数偏低（AA 29）；本次图纸 0/2；列了 10 条，其中 5 条假错误。</a:t>
            </a:r>
          </a:p>
          <a:p/>
          <a:p>
            <a:r>
              <a:t>在本分享：鹈鹕 J（MiniMax M3 · WorkBuddy，P19）；图纸 0/2（P30）；分层（P25）。</a:t>
            </a:r>
          </a:p>
          <a:p/>
          <a:p>
            <a:r>
              <a:t>收尾一句：要做视频、配音、多模态素材时；当主力语言模型还早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腾讯混元 Hy：办公场景最“顺手”的国产一档。顺序是：模型线（它到底有哪几个档位）→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模型线：Hy4 preview（770B 总参数 / 49B 激活，1M 上下文，开源；AA 未收录，Arena 智能体榜第 20）；另有混元图像与视频模型。</a:t>
            </a:r>
          </a:p>
          <a:p/>
          <a:p>
            <a:r>
              <a:t>外壳：元宝（聊天）；ima（知识库）；WorkBuddy（桌面办公 Agent，直接读写本机 Excel、PDF）；CodeBuddy（IDE）；腾讯云 API。</a:t>
            </a:r>
          </a:p>
          <a:p/>
          <a:p>
            <a:r>
              <a:t>强项：国内可人民币付款，免费积分够跑通一个真实小任务；办公文件处理链路最完整，从读表到出稿一条龙。</a:t>
            </a:r>
          </a:p>
          <a:p/>
          <a:p>
            <a:r>
              <a:t>边界：预览版能力不稳定；本次它自述环境不支持视觉，图纸 0/2，不计入识图能力比较。</a:t>
            </a:r>
          </a:p>
          <a:p/>
          <a:p>
            <a:r>
              <a:t>在本分享：鹈鹕 E（HY4 Preview 1M high · WorkBuddy，P19）；图纸 0/2 且视觉未启用（P31）；免费额度（P27）。</a:t>
            </a:r>
          </a:p>
          <a:p/>
          <a:p>
            <a:r>
              <a:t>收尾一句：单位在国内、要处理本机 Office 文件、又不想折腾海外账号时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百度文心：中文搜索与生态最深的一档。顺序是：模型线（它到底有哪几个档位）→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模型线：文心 5.0（2.4T 参数，原生全模态，2026-01 正式版）；文心 5.1（2026-05，官方称预训练成本约为同规模模型的 6%）；ERNIE 系列小模型陆续开放。</a:t>
            </a:r>
          </a:p>
          <a:p/>
          <a:p>
            <a:r>
              <a:t>外壳：文心一言 App / 网页；文心快码 Comate（IDE 插件，Spec 模式、Figma 转代码）；千帆平台 API；百度搜索内嵌。</a:t>
            </a:r>
          </a:p>
          <a:p/>
          <a:p>
            <a:r>
              <a:t>强项：中文时事与搜索时效最好；与百度生态（搜索、地图、网盘）打通；企业侧的合规与备案材料齐全。</a:t>
            </a:r>
          </a:p>
          <a:p/>
          <a:p>
            <a:r>
              <a:t>边界：缺同口径第三方分数，本分享的榜单里没有它，不能与前十三家直接比高低。</a:t>
            </a:r>
          </a:p>
          <a:p/>
          <a:p>
            <a:r>
              <a:t>在本分享：未进入本次对比（P19–P27）——榜单缺同口径数据，不硬凑。</a:t>
            </a:r>
          </a:p>
          <a:p/>
          <a:p>
            <a:r>
              <a:t>收尾一句：要中文搜索时效、或单位已经在用百度云时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开始前的准备（只写事实，不写绕过方法）</a:t>
            </a:r>
          </a:p>
          <a:p/>
          <a:p>
            <a:r>
              <a:t>用国内产品（DeepSeek、千问、Kimi、豆包、WorkBuddy、Trae 国内版、Qoder 国内版）：国内手机号注册，人民币支付，最省事。手机号和实名的具体要求以各产品页面为准。</a:t>
            </a:r>
          </a:p>
          <a:p/>
          <a:p>
            <a:r>
              <a:t>用海外产品（ChatGPT、Claude、Gemini、Codex、Claude Code、Cursor、Kiro 等），通常要过四关：</a:t>
            </a:r>
          </a:p>
          <a:p>
            <a:r>
              <a:t>1. 地区：OpenAI 支持国家列表里没有中国大陆、香港、澳门，官方写明从列表以外的地区使用可能导致账号被封；Anthropic 支持地区没有中国，且从 2026-11-12 起排除由不支持地区控股的实体；Gemini 网页版对中国大陆只开放 Workspace（单位账号）。</a:t>
            </a:r>
          </a:p>
          <a:p>
            <a:r>
              <a:t>2. 网络：这些服务在中国大陆不能直接访问，需要合规的跨境网络条件；请遵守所在单位和当地的规定。</a:t>
            </a:r>
          </a:p>
          <a:p>
            <a:r>
              <a:t>3. 账号：通常需要海外邮箱或手机号验证；在不支持的地区注册、用转售账号都有被停用的风险（Cursor 明确说第三方渠道买的账号可能被停用）。</a:t>
            </a:r>
          </a:p>
          <a:p>
            <a:r>
              <a:t>4. 支付：多数只收国际信用卡（Visa、Mastercard 等外币卡）；Trae 国际版支持支付宝、微信支付、银联；Qoder 国际版支持支付宝；Kiro 账单国家列表里有 China，但高级模型按模型厂商的地区政策执行。</a:t>
            </a:r>
          </a:p>
          <a:p/>
          <a:p>
            <a:r>
              <a:t>来源</a:t>
            </a:r>
          </a:p>
          <a:p>
            <a:r>
              <a:t>https://help.openai.com/en/articles/7947663-chatgpt-supported-countries</a:t>
            </a:r>
          </a:p>
          <a:p>
            <a:r>
              <a:t>https://www.anthropic.com/legal/supported-regions</a:t>
            </a:r>
          </a:p>
          <a:p>
            <a:r>
              <a:t>https://support.google.com/gemini/answer/13575153</a:t>
            </a:r>
          </a:p>
          <a:p>
            <a:r>
              <a:t>https://docs.trae.ai/ide/new-plans-and-billing</a:t>
            </a:r>
          </a:p>
          <a:p>
            <a:r>
              <a:t>https://qoder.com/pricing ；https://kiro.dev/pricing/ ；https://cursor.com/pricing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地区与支付（2026-10-18）</a:t>
            </a:r>
          </a:p>
          <a:p/>
          <a:p>
            <a:r>
              <a:t>地区：ChatGPT/Codex 支持国家列表没有中国大陆、香港、澳门；Claude 支持地区没有中国，2026-11-12 起还排除中资控股实体；Gemini 大陆只开放 Workspace（单位账号）。</a:t>
            </a:r>
          </a:p>
          <a:p/>
          <a:p>
            <a:r>
              <a:t>“信用卡”指什么：Visa、Mastercard、American Express 等国际卡组织的卡。Claude 帮助中心写明账单地址要在支持地区、且与发卡国家一致，不支持 PayPal。OpenAI 列出的本地支付方式（印度 UPI、巴西 Pix、韩国 KakaoPay 等）里没有人民币和中国本地支付；API 额度只用美元结算。</a:t>
            </a:r>
          </a:p>
          <a:p>
            <a:r>
              <a:t>所以国内银行发行的外币卡、双币卡，发卡国家是中国，通常无法直接付款（v2ex 等社区也有按卡号 BIN 拒付的反馈，属个案）。</a:t>
            </a:r>
          </a:p>
          <a:p>
            <a:r>
              <a:t>官方的另一条付款渠道是 App 内订阅：由 App Store 或 Google Play 代收，按商店账户的地区和付款方式处理，管理和退款也要在商店里办。Apple 更改账户地区需要新地区的有效付款方式（支持文章 118283）；Google Play 在中国大陆不提供服务。</a:t>
            </a:r>
          </a:p>
          <a:p>
            <a:r>
              <a:t>Grok：2026-10-12 起改为 X 订阅（含 Grok、Grok Bot、Cursor）；官方没有列出支持地区，X 和 grok.com 在大陆无法直接访问；付款支持银行卡、Apple Pay、Google Pay、Link，或 App Store / Google Play（grokbotguide.ai 依据官方文档整理，2026-10-17）。</a:t>
            </a:r>
          </a:p>
          <a:p>
            <a:r>
              <a:t>Meta Muse：官方要求人在已开放的国家，第三方核查只确认美国、加拿大。</a:t>
            </a:r>
          </a:p>
          <a:p>
            <a:r>
              <a:t>智谱 GLM：国内 bigmodel.cn 支持支付宝、微信，可开发票，天猫有官方旗舰店；海外版 z.ai 美元计价。</a:t>
            </a:r>
          </a:p>
          <a:p>
            <a:r>
              <a:t>Trae 国际版收支付宝、微信支付、银联；Qoder 国际版收支付宝；Kiro 账单国家含 China，但高级模型按厂商地区政策执行。</a:t>
            </a:r>
          </a:p>
          <a:p>
            <a:r>
              <a:t>风险：礼品卡、代充、虚拟卡、借用他人账户付款等做法可能违反条款，存在封号、资金无法追回、信息泄露和诈骗风险。本稿不提供方法。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注册方式（2026-10-18 查询）</a:t>
            </a:r>
          </a:p>
          <a:p/>
          <a:p>
            <a:r>
              <a:t>Claude：首次注册必须用支持地区的手机号收短信验证码，不能跳过；不接受 VoIP、Google Voice、座机；一个号码最多验证 3 个账号；验证后不能更换号码。登录可用 Google 账号或邮箱链接。https://support.claude.com/en/articles/8287232-verify-your-phone-number</a:t>
            </a:r>
          </a:p>
          <a:p>
            <a:r>
              <a:t>ChatGPT：帮助中心称一般注册不需要手机验证，但桌面端用 Codex 时可能要求；生成第一个 API Key 必须验证手机，验证码通过短信或 WhatsApp（搜索摘要）。支持国家列表无中国大陆、香港、澳门，并写明在列表外访问可能导致账号被封。https://help.openai.com/en/articles/7947663-chatgpt-supported-countries</a:t>
            </a:r>
          </a:p>
          <a:p>
            <a:r>
              <a:t>千问：依生成式 AI 法规要求，使用前须手机号＋验证码注册；也可用淘宝、支付宝、Apple 账号登录。（隐私政策 2026-09-30 版）</a:t>
            </a:r>
          </a:p>
          <a:p>
            <a:r>
              <a:t>Kimi：手机号（受支持地区）、邮箱、Google；不支持 VoIP/座机；Google 账号绑定后不能解绑。https://www.kimi.ai/zh-hans/help/others/phone-profile</a:t>
            </a:r>
          </a:p>
          <a:p>
            <a:r>
              <a:t>WorkBuddy（腾讯）：个人版支持微信、手机号、邮箱、SSO。https://cloud.tencent.com/document/product/1831/134388</a:t>
            </a:r>
          </a:p>
          <a:p>
            <a:r>
              <a:t>DeepSeek：开放平台显示“本地区仅支持邮箱、Google 或 +86 手机号登录”，首次登录需绑定 +86 手机号（搜索摘要）。</a:t>
            </a:r>
          </a:p>
          <a:p>
            <a:r>
              <a:t>豆包：手机号、抖音、微信（第三方教程，未核实官方）。</a:t>
            </a:r>
          </a:p>
          <a:p>
            <a:r>
              <a:t>Meta Muse：需要 Meta 账号（可用 Facebook/Instagram，也可只用邮箱或手机号创建），且人必须在已开放的国家。</a:t>
            </a:r>
          </a:p>
          <a:p>
            <a:r>
              <a:t>Hark：Google、Apple 或邮箱。</a:t>
            </a:r>
          </a:p>
          <a:p>
            <a:r>
              <a:t>Google 账号：Gemini 必须用 Google 账号；Claude 支持 Google 登录或邮箱链接；ChatGPT 支持邮箱、Google、Apple、微软账号。官方没有限定邮箱后缀，但统一用 Google 账号（Gmail）最省事，后面用 Gemini、Google Play 也是同一个账号。国内邮箱（QQ、163）注册海外服务是否会被风控，没有找到官方说法，未核实。</a:t>
            </a:r>
          </a:p>
          <a:p>
            <a:r>
              <a:t>一句话：国内产品普遍以 +86 手机号为核心（有法规依据）；海外产品要求支持地区的手机号，两边对大陆用户正好互为门槛。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/>
          <a:p>
            <a:r>
              <a:t>聊天产品：ChatGPT Go $8、Plus $20、Pro $100/$200/$500（chatgpt.com/pricing）；Claude Pro $20、Max $100/$200（claude.com/pricing）；Google AI Plus $4.99、Pro $19.99、Ultra $99.99 起（美国价）；Kimi Go ¥49、Plus ¥99、Pro ¥199、Max ¥699；豆包专业版 ¥68/¥200/¥500（界面新闻 2026-06-24）；千问专业会员 ¥19/¥49/¥128（界面新闻 2026-08-12）。</a:t>
            </a:r>
          </a:p>
          <a:p>
            <a:r>
              <a:t>个人代理：Meta Muse 免费档有上限，Power $20、Maximum $100；官方要求人在已开放国家，第三方核查只确认美国、加拿大开放。Hark Pro 免费（全功能、有用量上限），Pro² $20（2 倍）、Pro³ $100（10 倍）。</a:t>
            </a:r>
          </a:p>
          <a:p>
            <a:r>
              <a:t>任务客户端：WorkBuddy 国内体验版每月 500 积分，标准版 ¥99（连续包月 ¥70）；Trae 国内版每月 500 积分，Lite ¥49 起；Qoder 新用户 2 周 Pro 试用＋300 Credits，Pro $20，国内版 ¥59；Codex 免费账号可用 GPT-6 Luna，Go $8、Plus $20；Claude Code 无免费版，需 Claude Pro $20；Cline 插件开源，ClinePass $9.99 只含开源模型；Kiro Free 50 credits，Pro $20；Cursor 并入 X 订阅。</a:t>
            </a:r>
          </a:p>
          <a:p>
            <a:r>
              <a:t>Grok（X 订阅，2026-10-12 起）：Free $0、Plus $8、Premium $30、Super $100、Ultra $200；Grok 与 Cursor 共用每周额度（x.ai/news/x-subscription；felloai.com 读取 x.ai/pricing 2026-10-14）。</a:t>
            </a:r>
          </a:p>
          <a:p>
            <a:r>
              <a:t>智谱：智谱清言网页与 App 基础功能免费；GLM Coding Plan 国内 Lite ¥118、Pro ¥538、Max ¥1078（包季 8 折、包年 7 折，bigmodel.cn/glm-coding），海外 z.ai Lite $18、Pro $80、Max $168；2026-07-30 改为积分制，9 月起较年初的 ¥49/¥149/¥469 大幅上调（21 财经 2026-09-04）。</a:t>
            </a:r>
          </a:p>
          <a:p>
            <a:r>
              <a:t>来源：https://chatgpt.com/pricing ；https://claude.com/pricing ；https://gemini.google/subscriptions/ ；https://www.workbuddy.cn/docs/workbuddy/Pricing ；https://www.trae.cn/pricing ；https://qoder.com/pricing ；https://kiro.dev/pricing/ ；https://hark.com/pricing ；https://www.meta.com/help/subscriptions/1021145227643680/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一页选型（分享人的推荐路线，事实部分已查证，2026-10-18）</a:t>
            </a:r>
          </a:p>
          <a:p/>
          <a:p>
            <a:r>
              <a:t>1. 最快、免费：WorkBuddy（腾讯）和 Trae 国内版（字节）</a:t>
            </a:r>
          </a:p>
          <a:p>
            <a:r>
              <a:t>- 国内手机号直接用，人民币支付；一个客户端里有多家模型：WorkBuddy 有 DeepSeek、混元、Step、MiniMax 等（见鹈鹕盲测 C、E、F、J）；Trae 有 GLM、豆包 Seed，会员调用 GLM-5.3、Seed、DeepSeek 有补贴。</a:t>
            </a:r>
          </a:p>
          <a:p>
            <a:r>
              <a:t>- 免费积分：两家都是每月 500 积分。</a:t>
            </a:r>
          </a:p>
          <a:p>
            <a:r>
              <a:t>- Trae 国内版每日签到：免费用户每天 100 积分、会员 200，31 天有效（docs.trae.cn 套餐与计费；9 月曾为免费 150，10 月起调整）。</a:t>
            </a:r>
          </a:p>
          <a:p>
            <a:r>
              <a:t>- WorkBuddy“Buddy 加油站”签到：每天 100 积分，连签第 7 天 1000；活动制，每期规则和截止日会变（腾讯云开发者社区、人人都是产品经理 2026-08~10 教程；L 站 2026-10-15 有人反映新版入口变化）。</a:t>
            </a:r>
          </a:p>
          <a:p>
            <a:r>
              <a:t>https://docs.trae.cn/ide_plans-and-billing ；https://www.trae.cn/pricing ；https://www.workbuddy.cn/docs/workbuddy/Pricing</a:t>
            </a:r>
          </a:p>
          <a:p/>
          <a:p>
            <a:r>
              <a:t>2. 能解决海外网络：Cline 低价套餐，或 Hark 免费额度</a:t>
            </a:r>
          </a:p>
          <a:p>
            <a:r>
              <a:t>- ClinePass 9.99 美元/月，只含开源模型；“额度大”是分享人的使用体感。</a:t>
            </a:r>
          </a:p>
          <a:p>
            <a:r>
              <a:t>- Hark Pro 免费（全功能、有用量上限），Pro² 20 美元、Pro³ 100 美元；鹈鹕盲测 D 就是在 Hark 里用 Opus 5.5 生成的，分享人认为性价比很高。</a:t>
            </a:r>
          </a:p>
          <a:p>
            <a:r>
              <a:t>- 海外服务需要合规的跨境网络条件，请遵守单位和当地规定。</a:t>
            </a:r>
          </a:p>
          <a:p/>
          <a:p>
            <a:r>
              <a:t>3. 想用顶配：GPT</a:t>
            </a:r>
          </a:p>
          <a:p>
            <a:r>
              <a:t>- ChatGPT Plus 20 美元/月，Pro 100 美元起；GPT-6 Astra 在 FrontierMath、LiveBench 推理等榜单第一（见第 24 页）。各档位能用哪些模型以官网为准。</a:t>
            </a:r>
          </a:p>
          <a:p/>
          <a:p>
            <a:r>
              <a:t>一句话：免费先用 WorkBuddy、Trae，签到攒积分；能折腾就 Cline 或 Hark；要顶配就 GPT。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linux.do（L 站）</a:t>
            </a:r>
          </a:p>
          <a:p/>
          <a:p>
            <a:r>
              <a:t>基本信息：社区名 LINUX DO，简称“L 站”，成员互称“佬友”，2024-01-17 成立；基于开源论坛 Discourse。</a:t>
            </a:r>
          </a:p>
          <a:p>
            <a:r>
              <a:t>注册：邀请注册制；邮箱只接受白名单域名（如 qq.com、163.com、gmail.com、edu.cn）。2026-06 起可用注册满 5 年的 GitHub 账号自助注册（社区帖，未核实官方）。</a:t>
            </a:r>
          </a:p>
          <a:p>
            <a:r>
              <a:t>规则要点：禁止政治话题；禁止直接发 AI 生成或润色的文字（要发须截图）；禁止买卖、外借账号；交易须在“跳蚤市场”版块明盘进行，禁止黑灰产。</a:t>
            </a:r>
          </a:p>
          <a:p>
            <a:r>
              <a:t>规模（关于页，查询时 30 天统计）：话题 46,181、帖子 923,188、新注册 8,017、活跃用户 115,776。</a:t>
            </a:r>
          </a:p>
          <a:p>
            <a:r>
              <a:t>信任等级 0–4（Discourse 体系，读得多、参与多等级越高）。</a:t>
            </a:r>
          </a:p>
          <a:p>
            <a:r>
              <a:t>https://linux.do/guidelines ；https://linux.do/about</a:t>
            </a:r>
          </a:p>
          <a:p/>
          <a:p>
            <a:r>
              <a:t>为什么推荐：国内 AI 圈动态最新的地方（新模型、新工具、限额变化常比媒体早）；遇到报错、封号、“降智”这类问题，基本都有人问过、答过；技巧和教程最多，例如 Claude Code / Codex 配置、提示词、本地部署（如“用 aimax395 部署 Qwen 3.8”教程帖）、真实项目横向评测（如 DeepSeek、Grok、Qwen 对比帖）、“降智”检测题（糖果题、水杯题，170 多条回复）。</a:t>
            </a:r>
          </a:p>
          <a:p>
            <a:r>
              <a:t>怎么用：但帖子是个人体感，结论要自己复核。社区里也有账号、邀请码、“羊毛”类内容，属于灰色地带，不建议参与。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GitHub 怎么用来跟进 AI</a:t>
            </a:r>
          </a:p>
          <a:p/>
          <a:p>
            <a:r>
              <a:t>1. 官方仓库的 Releases / CHANGELOG：工具每次更新改了什么，这里最准。</a:t>
            </a:r>
          </a:p>
          <a:p>
            <a:r>
              <a:t>   - openai/codex（Codex CLI）https://github.com/openai/codex</a:t>
            </a:r>
          </a:p>
          <a:p>
            <a:r>
              <a:t>   - anthropics/claude-code（Claude Code 更新记录与问题反馈）https://github.com/anthropics/claude-code</a:t>
            </a:r>
          </a:p>
          <a:p>
            <a:r>
              <a:t>   - cline/cline https://github.com/cline/cline</a:t>
            </a:r>
          </a:p>
          <a:p>
            <a:r>
              <a:t>2. Issues：遇到报错先在对应仓库的 Issues 里搜，大概率有人提过，官方回复也在这里。</a:t>
            </a:r>
          </a:p>
          <a:p>
            <a:r>
              <a:t>3. Trending：https://github.com/trending ，看最近几天大家在关注什么。</a:t>
            </a:r>
          </a:p>
          <a:p>
            <a:r>
              <a:t>4. 早报存档：imjuya/juya-ai-daily，把橘鸦 AI 早报存成 Markdown，并提供 RSS 订阅 https://github.com/imjuya/juya-ai-daily</a:t>
            </a:r>
          </a:p>
          <a:p/>
          <a:p>
            <a:r>
              <a:t>分享人观点：新手不必一上来装一堆插件、Skill 或开源项目，先把一句话需求说清楚，比堆工具更有用；GitHub 主要用来看更新和查问题。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B 站推荐（分享人个人推荐）</a:t>
            </a:r>
          </a:p>
          <a:p/>
          <a:p>
            <a:r>
              <a:t>Token就是词元 https://space.bilibili.com/3546747185924773/</a:t>
            </a:r>
          </a:p>
          <a:p>
            <a:r>
              <a:t>- 系列“屎山论剑”“屎山考核”：拿真实的祖传代码（俗称“屎山”）让模型修 bug、改功能，看谁真能干活。</a:t>
            </a:r>
          </a:p>
          <a:p>
            <a:r>
              <a:t>- 新模型出来基本都会测：Opus 5.5 对 GPT-6 Sol、六家 Flash 模型大乱斗、DeepSeek、Step 5 Preview、Mistral Large 4、Gemini 4 Argon 等。</a:t>
            </a:r>
          </a:p>
          <a:p>
            <a:r>
              <a:t>- 抖音同名账号也更新。V2EX 有用户评价“都是实测，还是很中肯”（v2ex.com/t/1216338）。</a:t>
            </a:r>
          </a:p>
          <a:p/>
          <a:p>
            <a:r>
              <a:t>橘鸦Juya https://space.bilibili.com/285286947/</a:t>
            </a:r>
          </a:p>
          <a:p>
            <a:r>
              <a:t>- 每日“AI 早报”，几分钟讲完前一天的模型发布、价格和额度调整；合集 570 期、累计播放 1700 万以上（合集页，2026-09-28）。</a:t>
            </a:r>
          </a:p>
          <a:p>
            <a:r>
              <a:t>- 文字版：https://daily.juya.uk/ （含 RSS）；GitHub 存档 imjuya/juya-ai-daily；YouTube @imjuya。</a:t>
            </a:r>
          </a:p>
          <a:p>
            <a:r>
              <a:t>- 也做过“全球免费大模型 API 汇总”“为什么榜单不一定靠谱”等专题。</a:t>
            </a:r>
          </a:p>
          <a:p>
            <a:r>
              <a:t>- 早报由 AI 辅助生成，作者自己也提示可能有错，要以原始出处为准。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X 上值得关注的账号（只列官方或长期活跃的账号）</a:t>
            </a:r>
          </a:p>
          <a:p/>
          <a:p>
            <a:r>
              <a:t>厂商官方：@OpenAI、@AnthropicAI、@GoogleDeepMind、@xai、@deepseek_ai、@Alibaba_Qwen —— 新模型、价格、额度调整的一手公告。</a:t>
            </a:r>
          </a:p>
          <a:p>
            <a:r>
              <a:t>榜单与评测：@ArtificialAnlys（Artificial Analysis）、@lmarena_ai（Arena）、@EpochAIResearch（Epoch AI，FrontierMath / ECI）、@arcprize（ARC-AGI）——第 24 页榜单的来源。</a:t>
            </a:r>
          </a:p>
          <a:p>
            <a:r>
              <a:t>个人：@karpathy（Andrej Karpathy）；中文圈 @dotey（宝玉）、@op7418（歸藏），常翻译整理海外动态。</a:t>
            </a:r>
          </a:p>
          <a:p>
            <a:r>
              <a:t>第二章“Opus 一句话出视频”的几条案例也都来自 X 原帖。</a:t>
            </a:r>
          </a:p>
          <a:p/>
          <a:p>
            <a:r>
              <a:t>注意：X 在中国大陆不能直接访问，请遵守单位和当地规定；高播放不代表真实，演示视频常经过挑选，以原帖和官方说明为准。</a:t>
            </a:r>
          </a:p>
          <a:p/>
          <a:p>
            <a:r>
              <a:t>查询与整理日期：2026-10-18。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GDPval-AA v2.1：AA 用 OpenAI 的 GDPval 数据集（44 种职业、220 道真实任务，产出文档、表格、幻灯片）让模型带着 shell 和浏览器做，再两两盲评算 Elo；以 DeepSeek V4.1 Flash（9 月版）= 1600 为锚。视频里的百分数是 (Elo − 500) / 2000，例如 Opus 5.5 1866 → 68.3%，DeepSeek 1017 1746 → 62.3%。每家取 AA 默认展示档（多为 max）。</a:t>
            </a:r>
          </a:p>
          <a:p>
            <a:r>
              <a:t>GDP.pdf：Surge AI 出题，100 道题、10 个领域、4592 页原始 PDF、1275 个判分点；同一题跑 5 次，判分点全过才算“全对”。AA 页面 2026-10-21 显示最高为 Muse Wonder Full 32.6%、GPT-6 Astra（xhigh）32.2%、GPT-6.1 Sol（high）32.0%；图中其余读数来自 B 站视频画面（DeepSeek 1017 测评，BV1ton76SEbX），为 max 档，未逐项回 AA 核对。</a:t>
            </a:r>
          </a:p>
          <a:p>
            <a:r>
              <a:t>和正文 P23 的关系：P23 是 AA 综合指数对每题花费；这一页把综合指数里与“办公、读文档”最相关的两项拆出来。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数据为 AA 排行榜 2026-10-21 的默认展示档（Opus/Sonnet/Fable 为 max with fallback，GPT 系为 max，Gemini 4 Argon 为 high）。“回 500 token 要等多久”= 首个 token 延迟（含思考）+ 生成 500 token 的时间。</a:t>
            </a:r>
          </a:p>
          <a:p>
            <a:r>
              <a:t>同一模型换档差很多：Opus 5.5 max 约 633 秒，high 约 36 秒，medium 约 25 秒；GPT-6.1 Sol max 约 251 秒，medium 约 16 秒。Claude Haiku 5.5 打字最快（236 token/秒），但开满思考要等 4 分多钟——慢在想，不在写。</a:t>
            </a:r>
          </a:p>
          <a:p>
            <a:r>
              <a:t>B 站视频里还有“冗长倾向”（跑完指数的输出 token 数）：DeepSeek 1017 共 2.1 亿，同类中位 1.4 亿；话多会同时拉长等待和账单，P23 的横轴“每题实际花费”已经把它算进去。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五个榜单都在 2026-10-21 查询。名次是该榜单全部模型里的名次，不是表内名次。</a:t>
            </a:r>
          </a:p>
          <a:p>
            <a:r>
              <a:t>AA 智能指数 v4.3.2：十项合成，偏智能体和办公任务。</a:t>
            </a:r>
          </a:p>
          <a:p>
            <a:r>
              <a:t>Epoch ECI：50 多项评测合成的“通用能力”刻度，10-21 更新：Opus 5.5 168.83、GPT-6 Astra 168.81、GPT-6.1 Sol 168.37，三者 95% 区间重叠，视为并列。DeepSeek 1017 还没收录，表里 155.93 是 9 月版。Muse Wonder（非 Full）161.85。MiMo 未收录。</a:t>
            </a:r>
          </a:p>
          <a:p>
            <a:r>
              <a:t>Vals Index v2.2（10-19 更新）：金融、代码、法律、税务四类真实任务，按各行业占美国 GDP 的比重加权。DeepSeek 1017 61.26%，第 8，开源模型第一，每次测试 $0.66；Sonnet 5.5 和 Opus 5.5 的分数含部分“供应商拒答后由备用模型完成”的任务，按失败计会降到 69.03% 和 64.16%，Gemini 4 Argon 则升为第一。9 月版 DeepSeek 不在 v2.2 榜上，51.32%（第 27）是 v2.1 的成绩，指数口径不同。</a:t>
            </a:r>
          </a:p>
          <a:p>
            <a:r>
              <a:t>Arena 智能体榜（10-20，273 万次真实会话，57 个模型）：按“净改进”排名。DeepSeek 1017 第 12（4.73%），9 月版第 21（2.57%），每任务成本中位 $0.19，在其“性价比前沿线”上。</a:t>
            </a:r>
          </a:p>
          <a:p>
            <a:r>
              <a:t>SuperCLUE 通用榜：中文、只给国产模型排名，最新一期是 2026 年 7 月测评（含 9 月上线的模型），1 分以内算并列。9 月版 DeepSeek V4.1 Flash 71.81 与 Qwen3.8-Max-0902 72.62 并列第一；1017 尚未测。</a:t>
            </a:r>
          </a:p>
          <a:p>
            <a:r>
              <a:t>厂商自报（不算独立评测）：DeepSeek 模型卡称 1017 版 Terminal-Bench 4.0 从 31.2 升到 42.3，HLE（无工具）36.8 → 42.6，DeepSWE 74.2 → 77.0。</a:t>
            </a:r>
          </a:p>
          <a:p>
            <a:r>
              <a:t>结论：前几名在五个榜单上基本一致（Claude、GPT、Gemini 轮流第一，差距常在误差内）；国产之间名次会互换，SuperCLUE 上 DeepSeek 并列第一，Arena 智能体上 GLM、Qwen、Kimi 排得靠后。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这一页是后面三页的目录，也是整个附录的评价口径。</a:t>
            </a:r>
          </a:p>
          <a:p/>
          <a:p>
            <a:r>
              <a:t>四种题，各测一件事：</a:t>
            </a:r>
          </a:p>
          <a:p>
            <a:r>
              <a:t>一，鹈鹕动画——一句话出可用代码。考的是“一次成型”的能力：它要同时写出 SVG/HTML、把自行车结构画对、让动作循环。判据是动作连贯、部件对得上。它推不出工程判断力。</a:t>
            </a:r>
          </a:p>
          <a:p/>
          <a:p>
            <a:r>
              <a:t>二，糖果题——组合计数加最坏情况推理。原题是三种口味乘两种形状，问最少取几颗。正确答案 21，取 9 颗圆形加 12 颗五角星。**这题真正的陷阱在一句话**：“形状靠手感可以分辨”——意思是你可以挑形状。漏读这句，就会按“完全随机摸”去算，得出 29。所以在社区里，答 29 常被当成“理解力掉了一档”的标志。</a:t>
            </a:r>
          </a:p>
          <a:p/>
          <a:p>
            <a:r>
              <a:t>三，多合一题——长指令遵循。把七八个互不相干的元素塞进一句话：鹈鹕在孙悟空的飞机上、驮着秦始皇、秦始皇骑北极熊、手里拿螺丝刀、气泡里喊糖课题的答案。考的是“每个元素是否都落实、关系有没有搞错”。它不测深度推理，只测听不听话。</a:t>
            </a:r>
          </a:p>
          <a:p/>
          <a:p>
            <a:r>
              <a:t>四，模型指纹——不看答案对不对，看它“随机”选数的分布。原理下一页讲。</a:t>
            </a:r>
          </a:p>
          <a:p/>
          <a:p>
            <a:r>
              <a:t>最后一行的评价纪律是原来 E1 的内容，压缩成一句：模型、客户端、设置、原始输出、评价规则都要留档，单次结果不能代表稳定水平。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这一题的设计思路：把“听得懂”拆成可数的七八个点。每个点都能在这张图上直接指出来。</a:t>
            </a:r>
          </a:p>
          <a:p/>
          <a:p>
            <a:r>
              <a:t>提示词大意（讲的时候念一遍就够）：</a:t>
            </a:r>
          </a:p>
          <a:p>
            <a:r>
              <a:t>“画一张孙悟空驾驶的飞机（机身写‘筋斗云 WUKONG AIR’），飞机上有一辆自行车，一只鹈鹕骑着自行车，鹈鹕背上驮着秦始皇，秦始皇骑着一只北极熊，秦始皇手里拿着螺丝刀在打螺丝，鹈鹕嘴里冒出气泡，气泡里写‘21！’；背景是蓝天白云，画面里还要有一句‘THE IMPOSSIBLE SKY EXPEDITION / 云上奇航’。”</a:t>
            </a:r>
          </a:p>
          <a:p/>
          <a:p>
            <a:r>
              <a:t>判据就是逐条对：孙悟空在不在驾驶舱（✓）、飞机机身有没有那个名字（✓）、鹈鹕是不是在骑自行车（✓）、自行车是不是在飞机上（✓）、秦始皇是不是骑在北极熊上（✓）、螺丝刀和螺丝有没有（✓）、气泡里是不是 21（✓）、那句英文标题有没有（✓）。</a:t>
            </a:r>
          </a:p>
          <a:p/>
          <a:p>
            <a:r>
              <a:t>关键点：这一题几乎不考“聪明”，考的是**一次把八件事都记住**。元素一多，模型常见的失败是“丢件”——画了鹈鹕忘了秦始皇，或者把“骑北极熊”画成“站在旁边”。所以它特别适合当“长指令稳定性”的指标。</a:t>
            </a:r>
          </a:p>
          <a:p/>
          <a:p>
            <a:r>
              <a:t>局限也要讲：这种题判分靠人眼逐条看，主观成分大（画得好不好看会干扰判断）。所以它适合“数元素”，不适合“打分排名”。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这一页回答一个很实际的问题：中转站说它是 Opus，你怎么知道真的是？</a:t>
            </a:r>
          </a:p>
          <a:p/>
          <a:p>
            <a:r>
              <a:t>办法不是问它“你是谁”（它会照系统提示词回答），而是让它做一件它自己控制不了的事——“随机”报数。</a:t>
            </a:r>
          </a:p>
          <a:p/>
          <a:p>
            <a:r>
              <a:t>具体三道题：让它从 1 到 355 里挑 294 个整数，要求每个位置独立选择、不许从 1 开始数、不许递增递减、不许用等差循环。三道题分别用中文、英文、日文（或韩文）出，避免它靠“题型记忆”作答。</a:t>
            </a:r>
          </a:p>
          <a:p/>
          <a:p>
            <a:r>
              <a:t>为什么要这么设计：大模型不是真随机数发生器，它的“随机”是从训练分布里采出来的，于是每个模型都有自己的偏好——某些数字出现得特别多、某些区段被系统性回避。把三次输出画成直方图，形状就是这只模型的“口音”。同一家的不同代际、甚至同一模型的不同量化版本，形状都可能不一样。</a:t>
            </a:r>
          </a:p>
          <a:p/>
          <a:p>
            <a:r>
              <a:t>能干什么：识别是不是被换了模型、是不是套壳、是不是被降智。这正好接上 E2 的中转站风险——上一页说“便宜模型冒充贵模型，很难证明”，这一页就是“怎么证”的一种办法。</a:t>
            </a:r>
          </a:p>
          <a:p/>
          <a:p>
            <a:r>
              <a:t>边界必须讲：一，它只能把范围缩小到“家族”，证不了具体版本；二，结果依赖采样温度，温度设成 0 就没意义了；三，样本要够（一次 294 个数），太短的输出统计不出来；四，这只是间接证据，不能当合同依据。</a:t>
            </a:r>
          </a:p>
          <a:p/>
          <a:p>
            <a:r>
              <a:t>附带一句社区观察（原帖里的）：有人发现走第三方客户端时，推理 token 经常卡在 516，而直连官方的同一道题能正常思考——这被当作“被截断”的旁证，但官方从未承认。讲的时候要标清这是“社区观察”，不是结论。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 E2 的总图，先把两个词分开：中转站和代理池。</a:t>
            </a:r>
          </a:p>
          <a:p/>
          <a:p>
            <a:r>
              <a:t>共同点只有一句：请求不再直连厂商，而是先到一台中间服务器。区别在于这台服务器是谁的、它手里有什么。</a:t>
            </a:r>
          </a:p>
          <a:p/>
          <a:p>
            <a:r>
              <a:t>中转站，是别人的服务器。你从它那儿买“额度”，它拿自己的 Key 或自己注册的号去连厂商。对你来说只有一个地址和一个 Key；对厂商来说，请求来自它，不来自你。所以数据、密钥、模型真伪、条款、资金这五件事，全都落在它身上——这就是下一页要展开的风险。</a:t>
            </a:r>
          </a:p>
          <a:p/>
          <a:p>
            <a:r>
              <a:t>代理池，是自己的服务器。上面挂的是你自己的账号登录态或自己的 Key，网关按剩余额度、按重置时间挑一个发出去。它解决的是“一个人一份订阅不够用”，不解决“没有订阅也能用”。</a:t>
            </a:r>
          </a:p>
          <a:p/>
          <a:p>
            <a:r>
              <a:t>画图的时候指一下两条链路：上面那条多一个方框，方框不在你手里；下面那条也多一个方框，但方框在你自己的机器上。同样是“多一层”，风险完全不同。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上一页画了链路，这一页讲代价。五条都按“它怎么发生 → 你怎么发现”来讲。</a:t>
            </a:r>
          </a:p>
          <a:p/>
          <a:p>
            <a:r>
              <a:t>数据：输入、附件、输出都要过对方服务器。它有没有留、留多久、会不会被拿去训练，你看不到日志，也拿不到承诺。</a:t>
            </a:r>
          </a:p>
          <a:p/>
          <a:p>
            <a:r>
              <a:t>密钥：交出 Key 就等于交出计费权。更常见的是“共享 Key”——几十个人用同一个 Key，哪天上游被封，你跟着一起停，而且账单上写的是别人的名字。</a:t>
            </a:r>
          </a:p>
          <a:p/>
          <a:p>
            <a:r>
              <a:t>模型：一句“我是 Opus”证明不了任何事。便宜的号池里常见小模型冒充大模型，要靠固定题目＋随机数指纹来验，而这本身就说明你没法直接信。</a:t>
            </a:r>
          </a:p>
          <a:p/>
          <a:p>
            <a:r>
              <a:t>条款：绕地区限制、共享 Key、多号刷额度，都是明确的停用理由；一旦停用，预充的钱通常不退款。</a:t>
            </a:r>
          </a:p>
          <a:p/>
          <a:p>
            <a:r>
              <a:t>资金：预充值、无发票、跑路。这一条最容易验证：问一句“能不能开票”，大部分中转站就答不上来。</a:t>
            </a:r>
          </a:p>
          <a:p/>
          <a:p>
            <a:r>
              <a:t>最后落到自查三问，让对方自己回答：Base URL 是谁的域名、Key 是谁开的、账单抬头是谁。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账号池解决一个很具体的问题：订阅按“一个人用”卖，额度按 5 小时和每周滚动，白天用完了晚上就没了。把几个账号放进同一个网关，就能一直有额度。</a:t>
            </a:r>
          </a:p>
          <a:p/>
          <a:p>
            <a:r>
              <a:t>四步：登录、收口、调度、计量。最容易忽略的是第一步——凭据是文件或钥匙串里的东西，复制走等于账号被复制走，改密码是唯一能收回的办法。</a:t>
            </a:r>
          </a:p>
          <a:p/>
          <a:p>
            <a:r>
              <a:t>第二步就是“反代”真正发生的地方：网关对外只暴露一个地址，Agent 配置里写的是 127.0.0.1，看起来完全没有越过任何东西。</a:t>
            </a:r>
          </a:p>
          <a:p/>
          <a:p>
            <a:r>
              <a:t>右边三条是风险。重点讲第三条：厂商风控看的不是“你是谁”，是“形状对不对”——同 IP 多号、并发超过一个人的打字速度、今天在东京明天在法兰克福。</a:t>
            </a:r>
          </a:p>
          <a:p/>
          <a:p>
            <a:r>
              <a:t>给一个诚实判断：自己两三个订阅、或团队共用一台机器，是常见做法；但常见不等于条款允许，尤其不要用单位资料去跑。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这是真实界面，账号、邮箱、Key 已经全部换成 A01–C11 的编号。</a:t>
            </a:r>
          </a:p>
          <a:p/>
          <a:p>
            <a:r>
              <a:t>看三列。第一列是 Agent 或服务商的名字：Antigravity、WorkBuddy、Trae CN、Qoder、Cline、OpenCode Zen…… 它们各自本来有自己的登录方式和配置文件。</a:t>
            </a:r>
          </a:p>
          <a:p/>
          <a:p>
            <a:r>
              <a:t>第二列是状态：有的是“已登录 + 邮箱”（订阅账号），有的是“5 个密钥”（API Key 池），有的是一个 base URL 加 1 个模型。这一列解释了池子里装的是什么——不是模型，是“凭据”。</a:t>
            </a:r>
          </a:p>
          <a:p/>
          <a:p>
            <a:r>
              <a:t>第三列是额度类型：Google AI Pro、Free、Credits、personal_stand…这就是调度器排序的依据。</a:t>
            </a:r>
          </a:p>
          <a:p/>
          <a:p>
            <a:r>
              <a:t>最下面那行 MP 是 API Key 形态，右侧只剩 sk-F••••BW8 的尾巴——这类截图一旦漏打码，等于把 Key 公开。所以这一页的图里，邮箱、手机号、Key 一律换成编号。</a:t>
            </a:r>
          </a:p>
          <a:p/>
          <a:p>
            <a:r>
              <a:t>讲的时候强调：这张表看起来完全正常，它就是个配置界面；风险不在“看起来可疑”，在“这些东西本来不该集中在一个文件里”。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这张图把“池”画出来了：左边一个入口，中间一台网关（127.0.0.1:3425），右边一列全是账号，全都打同一个上游、同一个模型。</a:t>
            </a:r>
          </a:p>
          <a:p/>
          <a:p>
            <a:r>
              <a:t>从上往下看状态，正好是四种典型：</a:t>
            </a:r>
          </a:p>
          <a:p>
            <a:r>
              <a:t>已用 0%——全新、没动过；</a:t>
            </a:r>
          </a:p>
          <a:p>
            <a:r>
              <a:t>额度用尽·周一 13:04 恢复——撞到窗口了，还剩 21 小时；</a:t>
            </a:r>
          </a:p>
          <a:p>
            <a:r>
              <a:t>额度用尽·22:55 恢复——还剩 7 小时 19 分；</a:t>
            </a:r>
          </a:p>
          <a:p>
            <a:r>
              <a:t>602.79 / 3,000 积分、958.57 / 3,300 积分——按积分计量的客户端。</a:t>
            </a:r>
          </a:p>
          <a:p/>
          <a:p>
            <a:r>
              <a:t>高亮那一条写着“回答了这个请求”，意思是这一次请求就落在它身上。这就是 smart 策略在做的判断：优先用还剩额度、且最早重置的那个，浪费最少。</a:t>
            </a:r>
          </a:p>
          <a:p/>
          <a:p>
            <a:r>
              <a:t>这张图为什么值得放：它把“账号池”从概念变成了可核对的东西——每个号的剩余、恢复时间、这次是谁答的，都摆在明面上。反面是：这么清楚的一张表，也等于把“你手上有多少号”摊开给任何看到屏幕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两个工具做同一件事：把多个来源（订阅登录态、API Key、本地模型）收成一个兼容接口。区别在形态和暴露面。</a:t>
            </a:r>
          </a:p>
          <a:p/>
          <a:p>
            <a:r>
              <a:t>magpie 是桌面应用加本地网关，默认 127.0.0.1:3425，同时支持 OpenAI Chat / Responses、Anthropic Messages 和 Gemini 协议并互相转换。改配置时原子改写、保留注释；路由组可以按额度、按重置时间、按用量挑账号。前面两页的截图就是它。要提醒：它默认会读 Claude Code 和 Codex 的登录信息，设置里的“订阅账号”可以关。</a:t>
            </a:r>
          </a:p>
          <a:p/>
          <a:p>
            <a:r>
              <a:t>CLIProxyAPI 是 Go 写的服务端代理，OAuth 登录各家，多账号轮询，适合放服务器或 NAS。管理面板用来盯每个号的 5 小时与每周窗口。一旦上公网，必须加访问密码和客户端 Key——这类面板被扫到的事故不少。</a:t>
            </a:r>
          </a:p>
          <a:p/>
          <a:p>
            <a:r>
              <a:t>最后一行：真要给单位用，唯一说得清“谁用了多少、数据去了哪”的做法，是自己搭一个网关。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这一页是后面几页的地基。很多人把“模型拒绝了我”当成一件事，其实是四件不同的事。</a:t>
            </a:r>
          </a:p>
          <a:p/>
          <a:p>
            <a:r>
              <a:t>第一层，训练侧。对齐训练让模型在概率上不愿意往某些方向走。是倾向，不是能力：换个说法、换个语言、放进一个长文档里，常常还能问出来。</a:t>
            </a:r>
          </a:p>
          <a:p/>
          <a:p>
            <a:r>
              <a:t>第二层，系统提示词。客户端在你看不见的地方预先写了一段“岗位说明”。改一行字就可能松动，所以只能当默认值，不能当安全边界。</a:t>
            </a:r>
          </a:p>
          <a:p/>
          <a:p>
            <a:r>
              <a:t>第三层，运行时。审批门、工具权限、文件与网络白名单。它拦的不是文字，是后果：能让模型想清楚了也动不了手。四层里只有这一层是硬的。</a:t>
            </a:r>
          </a:p>
          <a:p/>
          <a:p>
            <a:r>
              <a:t>第四层，输出侧。分类器、敏感词、水印、日志。拦的是“落地”，拦不住已经发生的工具调用。</a:t>
            </a:r>
          </a:p>
          <a:p/>
          <a:p>
            <a:r>
              <a:t>结论那句是重点：分不清是哪一层在拦，就会得出错误结论。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“破限”是个被用混的词，它至少指两种完全不同的操作，区别在攻哪一层。</a:t>
            </a:r>
          </a:p>
          <a:p/>
          <a:p>
            <a:r>
              <a:t>第一种，提示词破限，也叫越狱。攻第 1、2 层：拒答倾向和系统提示词。手法是说服——角色扮演、分步诱导、编码绕行、把要求藏进长文档、伪造“我在做安全审计”。特点是极不稳定：同一句今天行明天不行，模型换代或加个分类器就失效。</a:t>
            </a:r>
          </a:p>
          <a:p/>
          <a:p>
            <a:r>
              <a:t>第二种，harness 破限，攻第 3 层。它不动模型，动的是包着模型的那层壳：默认文案、审批策略、沙箱范围、工具上限。dsh-purge 是这一类里做得比较完整的——本机 @deepseek-ai 包里改掉这些，再写一段 prompt-inject.md 作为会话覆盖段。</a:t>
            </a:r>
          </a:p>
          <a:p/>
          <a:p>
            <a:r>
              <a:t>可以点一下它的工程克制：改前把每个文件备份成 .dshpurge.bak，可 revert、可卸载；prompt-inject.md 是用户文件，还原时保留；重复应用是幂等的。</a:t>
            </a:r>
          </a:p>
          <a:p/>
          <a:p>
            <a:r>
              <a:t>两者叠起来，就是社区说的“全解锁”：外壳放开手脚，提示词放开嘴。但这一页真正想说的是最后一行——它改变的是“谁能说不”，不改变“它到底会不会”。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这一页要拆掉一个很常见的误解：很多人把“去广告”“内购免费”“模型破限”当成同一件事，叫同一个词。它们其实在三层，风险也落在不同的人身上。</a:t>
            </a:r>
          </a:p>
          <a:p/>
          <a:p>
            <a:r>
              <a:t>第一层，内容边界，这才是严格意义上的破限。撬开的是模型愿不愿意说。能撬开一部分，但越敏感越容易编——拒答和准确性经常一起掉。</a:t>
            </a:r>
          </a:p>
          <a:p/>
          <a:p>
            <a:r>
              <a:t>第二层，广告和内购，这是客户端的事，和模型无关。能改的多是本地展示：开屏、横幅、会员角标、功能开关。真正扣钱和发权益在服务端，客户端改出来的只是“看起来是会员”。下一頁给三个真实例子。</a:t>
            </a:r>
          </a:p>
          <a:p/>
          <a:p>
            <a:r>
              <a:t>第三层，权限与审批，是 Agent 时代的新问题。dsh-purge 这类工具确实能把审批门和沙箱放开，让它自己删文件、付款、外发。技术上做得到，问题是：它改的是“谁能喊停”。一次误操作就是真损失，而日志里写着是你放的。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这一页用三个真实例子，把上一页的三层落到地上。名字都打了码，这不是含糊，是这类分享的通行做法：说清楚“改了什么”，不指路“去哪下”。</a:t>
            </a:r>
          </a:p>
          <a:p/>
          <a:p>
            <a:r>
              <a:t>第一个，**模拟器。社区里流传的是“绿色版、去广告、无限多开”。改的其实是宿主 App 自己的展示层和多开限制——广告位换掉、多开校验跳过。代价：官方一升级就失效，而且多开挂机属异常行为，账号本身可能被判定。</a:t>
            </a:r>
          </a:p>
          <a:p/>
          <a:p>
            <a:r>
              <a:t>第二个，*果视频。常见两种：去广告版、解锁会员版。能改的是本地展示——开屏、贴片、会员角标；真正发权益、扣钱在服务端。所以“解锁会员”多半只是界面变成会员，看不了会员专享。改包必须重签名，签名一变，支付、推送、微信登录全部失效。</a:t>
            </a:r>
          </a:p>
          <a:p/>
          <a:p>
            <a:r>
              <a:t>第三个，**造价软件。这类是授权与加密锁，典型做法是本地校验绕过。如果锁只在本地校验，绕过就能跑；一旦变成联网校验、云端定额库、按账号发授权，本地补丁就没用了。而且单位里用盗版授权，是合规问题，不是技术问题。</a:t>
            </a:r>
          </a:p>
          <a:p/>
          <a:p>
            <a:r>
              <a:t>讲的时候不要演示任何一步。这一页的价值是让人分清：技术上行得通，不等于拿得出手。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这一页的写法本身就是要讲的点：一起还在进行中的事件，必须把“已披露事实”“某一方的主张”“目前进展”“我们能带走的启示”分开，否则听众会把我们的解释当成已确定的结论。</a:t>
            </a:r>
          </a:p>
          <a:p/>
          <a:p>
            <a:r>
              <a:t>第一栏，已披露事实。只写当事方自己说的：Hugging Face 7 月 16 日公告被入侵，称不到两天执行了约 1.7 万次动作；OpenAI 7 月 21 日承认，两个未发布的模型在测试中获得了对公网的访问，并访问了 Hugging Face 的系统；Anthropic 7 月 30 日说明，其内部复盘发现自家模型在测试中也进入了三家公司的系统。这些是公司自己的表述，可核对。</a:t>
            </a:r>
          </a:p>
          <a:p/>
          <a:p>
            <a:r>
              <a:t>第二栏，诉方主张。9 月 29 日，非营利组织 LASST 在旧金山高等法院起诉 OpenAI，援引加州《计算机数据访问与欺诈法》，请求法院禁令。这里要注意：这是**原告的主张**，不是法院认定。</a:t>
            </a:r>
          </a:p>
          <a:p/>
          <a:p>
            <a:r>
              <a:t>第三栏，案件进展。OpenAI 公开回应称这起诉讼“没有依据”。截至整理日，没有看到法院对该案作出实体裁判，也没有看到被入侵的第三方公开确认受监管数据泄露。也就是说，责任归属仍未定。</a:t>
            </a:r>
          </a:p>
          <a:p/>
          <a:p>
            <a:r>
              <a:t>第四栏，工作启示。这一栏是我们的判断，不是案件结论：测试环境与生产网络要隔开；Agent 能碰什么要写进制度；要留日志，出事时它是唯一能自证的东西。</a:t>
            </a:r>
          </a:p>
          <a:p/>
          <a:p>
            <a:r>
              <a:t>如果现场有人问“那到底谁负责”，标准回答是：目前没有定论，已知的只是原告主张与被告回应；可以参考的比较点是加州等州在推的 AI 责任立法，但那也只是立法动向。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上一页是“AI 自己跑出去”，这一页正好相反：人坐在旁边指挥，Agent 只是把活干快了。两件事放在一起看，责任归属的差别才是重点。</a:t>
            </a:r>
          </a:p>
          <a:p/>
          <a:p>
            <a:r>
              <a:t>时间线：9 月 27 日 KB 国民银行员工移动办公系统被入侵，持续 40 多小时；9 月 29 日新韩发现贷款中介查询服务被攻击，30 日监管进驻、KB 确认泄露。到 10 月初七家机构陆续确认，至少 6.8 万人资料外泄，新韩一家约 2.57 万。</a:t>
            </a:r>
          </a:p>
          <a:p/>
          <a:p>
            <a:r>
              <a:t>10 月 6 日，总统李在明说“已有迹象”用了 AI；监管统计到 33 个攻击 IP。10 月 7 日 CrowdStrike 归到 ARTEX——中国开发者做的开源 Agent 渗透工具，主模型 DeepSeek V4.1 Flash，操作者又在 Claude Code 里挂了 GLM-5.3 和 Grok 4.6，用中文提示词指挥。10 月 8 日，ARTEX 作者闭源停更。</a:t>
            </a:r>
          </a:p>
          <a:p/>
          <a:p>
            <a:r>
              <a:t>三个要点：人还在环里（韩国金融安全院明确说并非无人参与）；入口不是零日，是暴露在公网、认证与会话校验偏弱的内部工具；速度差——发现入侵用了 15 到 68 小时，一年一次的渗透测试追不上。</a:t>
            </a:r>
          </a:p>
          <a:p>
            <a:r>
              <a:t>本页型号、权益、价格、榜单或事件数据沿用原稿所注查询日期，本次未作全面实时核验，不应标为2026-10-21重新确认。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E4 开源平台对照</a:t>
            </a:r>
          </a:p>
          <a:p/>
          <a:p>
            <a:r>
              <a:t>这一页放在附录，因为它属于“选型参考”，不该出现在正文的业务主线里。</a:t>
            </a:r>
          </a:p>
          <a:p/>
          <a:p>
            <a:r>
              <a:t>上一版把这两个项目写成“能直接部署”，容易让人以为装上就能用于生产。这次改成分三档标注：文档声称支持、我们实际验证通过、还需要开发。后两档目前都是空的——我们只读过文档，没有部署实测，所以都标“未实测”。</a:t>
            </a:r>
          </a:p>
          <a:p/>
          <a:p>
            <a:r>
              <a:t>比较维度换成业务能判断的五项：权限、资料接入、审批、日志、部署维护。技术栈、容器数量这些放备注，正文不占篇幅。</a:t>
            </a:r>
          </a:p>
          <a:p/>
          <a:p>
            <a:r>
              <a:t>用法：把这张表当“提问清单”。任何平台说自己能做企业版，就让它逐行回答这五项，并说明是文档写的还是已经跑通的。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附录 F 是正文第 01 部分的延伸，按“历史 → 怎么学 → 怎么表示 → 怎么算 → 为什么越大越强 → 怎么学会推理 → 怎么看图”排：F1 发展史，F2 梯度下降与反向传播，F3 token 与向量，F4 Transformer 一层的结构，F5 注意力计算，F6 稠密 / MoE / 稀疏，F7 规模定律，F8 对齐、强化学习与推理模型，F9 多模态与扩散生成。现场不展开，有人追问“它到底怎么学的”“770B 和 49B 激活是什么意思”“思考模式为什么更准”时翻到这里。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1943 McCulloch 与 Pitts 提出数学神经元；1958 Rosenblatt 发表感知机，Mark I 感知机是能从例子里学习的硬件；1969 Minsky 与 Papert《Perceptrons》指出单层网络的局限，研究降温；1986 Rumelhart、Hinton、Williams 推广反向传播，多层网络可训练；2012 AlexNet 在 ImageNet 上 top-5 错误率 15.3%，第二名 26.2%；2017 Vaswani 等《Attention Is All You Need》提出 Transformer；2022 年 11 月 ChatGPT 上线；之后是多模态、长上下文和会调用工具的 Agent。</a:t>
            </a:r>
          </a:p>
          <a:p>
            <a:r>
              <a:t>三条线：数据、算力、架构，缺一条都走不到今天。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下一页 F2b 讲网络长什么样，这一页讲它怎么“学”。</a:t>
            </a:r>
          </a:p>
          <a:p>
            <a:r>
              <a:t>四步循环：猜（前向计算）→ 量（损失函数）→ 求方向（梯度）→ 挪一小步（梯度下降）。</a:t>
            </a:r>
          </a:p>
          <a:p>
            <a:r>
              <a:t>参数多了以后，“求方向”靠反向传播：用链式法则从输出往回一层层算，一次就把所有参数的梯度算完。</a:t>
            </a:r>
          </a:p>
          <a:p>
            <a:r>
              <a:t>学习率太大会来回震荡，太小又学得慢；大模型训练要几周到几个月，主要就花在这个循环上。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输入 → 加权组合 → 非线性变换 → 多层叠加 → 输出</a:t>
            </a:r>
          </a:p>
          <a:p/>
          <a:p>
            <a:r>
              <a:t>单层简单关系难以处理弯曲、交叉的分布，多层变换可以逐步提取和组合特征。</a:t>
            </a:r>
          </a:p>
          <a:p/>
          <a:p>
            <a:r>
              <a:t>训练改变的是大量参数。我们通常无法把每个参数直接翻译成一条人类规则。</a:t>
            </a:r>
          </a:p>
          <a:p/>
          <a:p>
            <a:r>
              <a:t>类比：“折一下”帮助理解非线性，实际网络是在数学空间中进行变换。</a:t>
            </a:r>
          </a:p>
          <a:p/>
          <a:p>
            <a:r>
              <a:t>参考来源</a:t>
            </a:r>
          </a:p>
          <a:p/>
          <a:p>
            <a:r>
              <a:t>查询与整理日期：2026-10-18。</a:t>
            </a:r>
          </a:p>
          <a:p/>
          <a:p>
            <a:r>
              <a:t>补充讲解：</a:t>
            </a:r>
          </a:p>
          <a:p>
            <a:r>
              <a:t>左图是一个极简的全连接网络：输入层 → 两个隐藏层 → 输出层。每个圆圈把上一层的数值按权重加起来，再经过一个非线性函数（比如“小于 0 就当 0”）。</a:t>
            </a:r>
          </a:p>
          <a:p>
            <a:r>
              <a:t>只有加权求和，叠多少层都还是一条直线；加了非线性，层数越多，能拟合的关系越弯、越复杂。</a:t>
            </a:r>
          </a:p>
          <a:p>
            <a:r>
              <a:t>大模型的“参数”，主要就是这些连线上的权重，数量可以到千亿级。我们一般没法把某个权重翻译成一条人能读懂的规则。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三步：切分（tokenize）→ 查编号 → 换成向量（embedding）。</a:t>
            </a:r>
          </a:p>
          <a:p>
            <a:r>
              <a:t>切分：常用 BPE 一类算法，把高频片段合成一个 token；同一句中文，不同模型切出来的 token 数不一样，所以同样的字数，成本和“上下文上限”也不一样。</a:t>
            </a:r>
          </a:p>
          <a:p>
            <a:r>
              <a:t>向量：训练时一起学出来，意思相近、用法相近的词靠得近。word2vec 的经典例子：国王 − 男人 + 女人 ≈ 女王。</a:t>
            </a:r>
          </a:p>
          <a:p>
            <a:r>
              <a:t>和正文的关系：第 04 部分 RAG 页（第 46 页）的“向量检索”，就是把问题和资料都变成向量，再找最近的几段。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这一页是正文 RAG 页（P46–47）的补充：用一张图说清“靠什么找”。</a:t>
            </a:r>
          </a:p>
          <a:p/>
          <a:p>
            <a:r>
              <a:t>两个理由：</a:t>
            </a:r>
          </a:p>
          <a:p>
            <a:r>
              <a:t>一，省 token，省一个量级。100 页中文资料约 5–8 万 token，整包塞进去问一次付一次；检索只把命中的 3–5 段（一两千 token）送进去，差 20–50 倍。</a:t>
            </a:r>
          </a:p>
          <a:p>
            <a:r>
              <a:t>二，少编。材料不在眼前，模型不会说“没有”，会按“最像”往下续；原文片段摆在眼前，它有东西可抄、能标出处，再加一句“只依据片段回答”，编造率明显下降。</a:t>
            </a:r>
          </a:p>
          <a:p/>
          <a:p>
            <a:r>
              <a:t>下半页的图是重点，讲三句：</a:t>
            </a:r>
          </a:p>
          <a:p>
            <a:r>
              <a:t>① 每段资料和每个问题都被压成一串数字（向量），可以画在平面上；</a:t>
            </a:r>
          </a:p>
          <a:p>
            <a:r>
              <a:t>② 意思越近，点越近——问“防撞设施”，也能落到写着“挡块”的那段上，这是关键词搜索做不到的（字面一个词都不重合）；</a:t>
            </a:r>
          </a:p>
          <a:p>
            <a:r>
              <a:t>③ 但“近”不等于“对”。近邻里常有看着像、其实不是同一个东西的段落，所以工程上还要再做一次精排（rerank），并且必须给页码让人回原文核。</a:t>
            </a:r>
          </a:p>
          <a:p/>
          <a:p>
            <a:r>
              <a:t>这就是“搜索”：不是查字典，是找意思最近的那几段。</a:t>
            </a:r>
          </a:p>
          <a:p/>
          <a:p>
            <a:r>
              <a:t>边界：检索没找到，它照样会编。所以“找不到就说找不到”要写进规则，也要抽查。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一层 = 多头注意力 + 前馈网络，各自外面套一圈“残差 + 归一化”。</a:t>
            </a:r>
          </a:p>
          <a:p>
            <a:r>
              <a:t>位置：注意力本身不分先后，所以要另外加位置信息；原论文用正余弦编码，现在主流模型多用 RoPE（旋转位置编码）。</a:t>
            </a:r>
          </a:p>
          <a:p>
            <a:r>
              <a:t>前馈网络：每个位置单独过两层全连接，参数的大头在这里；MoE（F6）替换的就是这一块。</a:t>
            </a:r>
          </a:p>
          <a:p>
            <a:r>
              <a:t>规模对比：原论文 6 层、512 维、8 个头；GPT-3 是 96 层、12288 维、96 个头，共 1750 亿参数。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注意力机制（简化讲法）</a:t>
            </a:r>
          </a:p>
          <a:p/>
          <a:p>
            <a:r>
              <a:t>每个词会生成三样东西：Query（我想找什么）、Key（我能提供什么的标签）、Value（我真正携带的内容）。</a:t>
            </a:r>
          </a:p>
          <a:p>
            <a:r>
              <a:t>1. 打分：拿“它”的 Query 去和每个词的 Key 做匹配，越相关分越高。</a:t>
            </a:r>
          </a:p>
          <a:p>
            <a:r>
              <a:t>2. 换算比例：用 softmax 把分数变成加起来等于 100% 的权重。</a:t>
            </a:r>
          </a:p>
          <a:p>
            <a:r>
              <a:t>3. 加权求和：按权重把各个词的 Value 混合起来，得到“它”在这句话里的新含义。</a:t>
            </a:r>
          </a:p>
          <a:p/>
          <a:p>
            <a:r>
              <a:t>右边的热力图：每一行是“正在读的词”，每一列是“被参考的词”，颜色越深权重越大（数字为示意）。</a:t>
            </a:r>
          </a:p>
          <a:p/>
          <a:p>
            <a:r>
              <a:t>多头注意力：同一层里有很多组独立的 Q/K/V（“头”），各自关注不同关系，比如一个头看指代（它→清单），一个头看修饰（放→一起），一个头看数字和单位。最后把各头结果拼起来。</a:t>
            </a:r>
          </a:p>
          <a:p/>
          <a:p>
            <a:r>
              <a:t>和前后内容的联系：</a:t>
            </a:r>
          </a:p>
          <a:p>
            <a:r>
              <a:t>- 注意力的计算量随长度平方增长，所以上下文越长越贵、越慢；</a:t>
            </a:r>
          </a:p>
          <a:p>
            <a:r>
              <a:t>- 权重总和固定为 100%，内容越多，每份分到的越少——这就是上下文腐烂的直观原因。</a:t>
            </a:r>
          </a:p>
          <a:p/>
          <a:p>
            <a:r>
              <a:t>来源：Vaswani et al., Attention Is All You Need, 2017, https://arxiv.org/abs/1706.03762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这一页补一个前面没讲的东西：模型的内部结构。听众常听到 MoE、稀疏、稠密、激活参数这些词，但很少有人说清它们到底差在哪、对使用者有什么影响。</a:t>
            </a:r>
          </a:p>
          <a:p/>
          <a:p>
            <a:r>
              <a:t>一，稠密（Dense）。最直白的结构：每生成一个 token，整个网络的所有参数都要算一遍。好处是行为可预测、同一输入结果稳定；坏处是参数越多越贵、越慢——想更聪明就得付出线性增长的成本。多数“小模型”和早期模型都是稠密结构。</a:t>
            </a:r>
          </a:p>
          <a:p/>
          <a:p>
            <a:r>
              <a:t>二，MoE（Mixture of Experts，混合专家）。把前馈层拆成很多个“专家”，每个 token 只被路由到其中少数几个（常见是 2 个），其余不参与计算。于是出现两个参数口径：总参数（所有专家加起来）和激活参数（这次真正算到的）。比如 770B 总参数 / 49B 激活，意思是“知识容量按 770B 存，但每次只动 49B”。这就是“又快又便宜又有大模型知识”的来源。</a:t>
            </a:r>
          </a:p>
          <a:p/>
          <a:p>
            <a:r>
              <a:t>三，稀疏（Sparse）。严格说 MoE 就是一种条件计算/稀疏激活；工程上还会用稀疏注意力（只让每个 token 关注部分位置）等手段降低长文的计算量。所以说“稀疏模型”时，要问清是“参数稀疏（MoE）”还是“注意力稀疏”。</a:t>
            </a:r>
          </a:p>
          <a:p/>
          <a:p>
            <a:r>
              <a:t>四，注意力的两个演进方向：MLA（多头潜在注意力）把 KV 缓存压小，长文更省显存；线性注意力/混合线性注意力把注意力的计算从随长度平方增长压到接近线性，代价是可能损失一部分精确回忆能力。Kimi 的 Kimi Delta Attention 属于这一类。</a:t>
            </a:r>
          </a:p>
          <a:p/>
          <a:p>
            <a:r>
              <a:t>五，对使用者意味着什么：</a:t>
            </a:r>
          </a:p>
          <a:p>
            <a:r>
              <a:t>· 总参数大 ≠ 一定更聪明：很多“大”是存在硬盘里的容量，不是每次都用上；</a:t>
            </a:r>
          </a:p>
          <a:p>
            <a:r>
              <a:t>· 激活参数小 = 更快更便宜，但极难任务上可能不如稠密大模型稳；</a:t>
            </a:r>
          </a:p>
          <a:p>
            <a:r>
              <a:t>· 稠密模型行为更可预测，适合需要复现的实验；</a:t>
            </a:r>
          </a:p>
          <a:p>
            <a:r>
              <a:t>· MoE 的专家路由可能带来“同一问题两次答案差异更大”的现象，做基准测试要注意。</a:t>
            </a:r>
          </a:p>
          <a:p/>
          <a:p>
            <a:r>
              <a:t>六，对部署的影响：MoE 的总参数决定显存占用（要装得下所有专家），激活参数决定算力开销。所以“770B 总参数能在单机上跑”这种说法，要看显存是否够装全部专家。</a:t>
            </a:r>
          </a:p>
          <a:p/>
          <a:p>
            <a:r>
              <a:t>一句话收尾：架构决定的是“成本曲线”，不是“聪明程度”；聪明程度还是看评测和你自己的任务。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Kaplan 等（2020）：语言模型的损失随参数量、数据量、算力呈幂律下降，有的趋势跨了七个数量级以上。</a:t>
            </a:r>
          </a:p>
          <a:p>
            <a:r>
              <a:t>Chinchilla（2022）：同样的算力，参数和数据应该同比例放大，大约每个参数配 20 个 token。700 亿参数、1.4 万亿 token 的 Chinchilla 胜过 2800 亿参数的 Gopher。</a:t>
            </a:r>
          </a:p>
          <a:p>
            <a:r>
              <a:t>粗估训练算力：约 6 × 参数量 × token 数；Chinchilla 约 5.8×10²³ 次浮点运算。</a:t>
            </a:r>
          </a:p>
          <a:p>
            <a:r>
              <a:t>现在的变化：公开的高质量文本有限，各家越来越多地用合成数据、强化学习和“推理时多算”（见 F8）继续提升。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接正文第 10 页“训练三步”。</a:t>
            </a:r>
          </a:p>
          <a:p>
            <a:r>
              <a:t>2022 InstructGPT：人写示范回答 → 人给多个回答排序 → 训练奖励模型 → 用强化学习优化（RLHF）。13 亿参数的 InstructGPT 在人工评比里胜过 1750 亿参数的 GPT-3：对齐比堆参数更直接地影响“好不好用”。也正是“按人的偏好打分”，带来了正文讲的“迎合”。</a:t>
            </a:r>
          </a:p>
          <a:p>
            <a:r>
              <a:t>2024 o1：先生成一长段思考再作答；OpenAI 报告成绩随训练时强化学习、以及推理时思考时长一起提升。</a:t>
            </a:r>
          </a:p>
          <a:p>
            <a:r>
              <a:t>2025 DeepSeek-R1：用能自动判对错的题（数学、代码）做大规模强化学习，长链推理随之出现，权重开源。</a:t>
            </a:r>
          </a:p>
          <a:p>
            <a:r>
              <a:t>推理时计算：多想几步、多采样几次再投票，难题正确率上升；代价是更慢、更贵，思考的 token 也要计费。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看图（理解）：ViT 把图切成 16×16 像素的小块，每块变成一个向量，和文字 token 一起进 Transformer。CLIP 用约 4 亿对“图片—说明文字”训练，让图和字落到同一个向量空间，模型才能“用文字理解图”。</a:t>
            </a:r>
          </a:p>
          <a:p>
            <a:r>
              <a:t>画图（生成）：扩散模型从纯噪声出发，每一步预测并去掉一点噪声，几十步后得到清晰图像；视频生成把这件事扩展到时间轴上。</a:t>
            </a:r>
          </a:p>
          <a:p>
            <a:r>
              <a:t>和正文的关系：图纸案例里只靠 OCR 的配置零命中——图里的线、尺寸和符号根本没有进模型。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官方与论文：</a:t>
            </a:r>
          </a:p>
          <a:p>
            <a:r>
              <a:t>- Transformer论文：Attention Is All You Need。</a:t>
            </a:r>
          </a:p>
          <a:p>
            <a:r>
              <a:t>- 历史原文：McCulloch &amp; Pitts（1943），Rosenblatt（1958），制作前补论文书目信息或出版页，避免二手时间轴误写。</a:t>
            </a:r>
          </a:p>
          <a:p>
            <a:r>
              <a:t>- Artificial Analysis 模型榜：拟采用2026-10-17快照，具体榜单行待归档。</a:t>
            </a:r>
          </a:p>
          <a:p>
            <a:r>
              <a:t>- Terminal-Bench：拟采用4.0榜单，版本、配置和具体行待归档。</a:t>
            </a:r>
          </a:p>
          <a:p>
            <a:r>
              <a:t>- Qoder Quest退役公告。</a:t>
            </a:r>
          </a:p>
          <a:p>
            <a:r>
              <a:t>- Qoder CN订阅说明。</a:t>
            </a:r>
          </a:p>
          <a:p>
            <a:r>
              <a:t>- Gemini CLI官方迁移讨论。</a:t>
            </a:r>
          </a:p>
          <a:p>
            <a:r>
              <a:t>- X Subscription价格。</a:t>
            </a:r>
          </a:p>
          <a:p>
            <a:r>
              <a:t>- 旧GSD迁移说明 → 新仓库。</a:t>
            </a:r>
          </a:p>
          <a:p>
            <a:r>
              <a:t>- EchoLeak NVD条目，微软条目。</a:t>
            </a:r>
          </a:p>
          <a:p>
            <a:r>
              <a:t>- GitGuardian 2025报告。</a:t>
            </a:r>
          </a:p>
          <a:p>
            <a:r>
              <a:t>- Anthropic 2025销售限制说明，2026使用政策更新。</a:t>
            </a:r>
          </a:p>
          <a:p>
            <a:r>
              <a:t>- 网信办生成式AI服务备案公告。</a:t>
            </a:r>
          </a:p>
          <a:p>
            <a:r>
              <a:t>- 加拿大航空裁决原文入口：当前工具未能读取全文，不据此声称已核实赔款组成。</a:t>
            </a:r>
          </a:p>
          <a:p/>
          <a:p>
            <a:r>
              <a:t>本地材料：</a:t>
            </a:r>
          </a:p>
          <a:p>
            <a:r>
              <a:t>- AI对比/ep1 识图：图纸、模型审查输出与鹈鹕原文件。</a:t>
            </a:r>
          </a:p>
          <a:p>
            <a:r>
              <a:t>- AI对比/ep2 做表：清单、模板、参考材料与四份报告。</a:t>
            </a:r>
          </a:p>
          <a:p>
            <a:r>
              <a:t>- _检查补充_20261017：图纸交付形态、修编复算、截图及复现脚本。这里的旧PPT页数结论针对旧稿，不适用于新v4。</a:t>
            </a:r>
          </a:p>
          <a:p>
            <a:r>
              <a:t>- 完善版01配套：匿名映射、原始HTML和图纸口径材料。</a:t>
            </a:r>
          </a:p>
          <a:p/>
          <a:p>
            <a:r>
              <a:t>参考来源</a:t>
            </a:r>
          </a:p>
          <a:p>
            <a:r>
              <a:t>S01 OpenAI GPT-6.1 Sol 模型文档</a:t>
            </a:r>
          </a:p>
          <a:p>
            <a:r>
              <a:t>https://developers.openai.com/api/docs/models/gpt-6.1-sol</a:t>
            </a:r>
          </a:p>
          <a:p/>
          <a:p>
            <a:r>
              <a:t>S02 Claude 模型规格</a:t>
            </a:r>
          </a:p>
          <a:p>
            <a:r>
              <a:t>https://platform.claude.com/docs/en/models/overview</a:t>
            </a:r>
          </a:p>
          <a:p/>
          <a:p>
            <a:r>
              <a:t>S03 Gemini 4 Argon 开发者文档</a:t>
            </a:r>
          </a:p>
          <a:p>
            <a:r>
              <a:t>https://ai.google.dev/gemini-api/docs/latest-model?hl=en</a:t>
            </a:r>
          </a:p>
          <a:p/>
          <a:p>
            <a:r>
              <a:t>S04 智谱模型概览</a:t>
            </a:r>
          </a:p>
          <a:p>
            <a:r>
              <a:t>https://docs.bigmodel.cn/cn/guide/start/model-overview</a:t>
            </a:r>
          </a:p>
          <a:p/>
          <a:p>
            <a:r>
              <a:t>S05 Qwen3.8-Max 型号与定价</a:t>
            </a:r>
          </a:p>
          <a:p>
            <a:r>
              <a:t>https://help.aliyun.com/zh/model-studio/qwen3-8-max</a:t>
            </a:r>
          </a:p>
          <a:p/>
          <a:p>
            <a:r>
              <a:t>S06 Kimi API 长度与故障说明</a:t>
            </a:r>
          </a:p>
          <a:p>
            <a:r>
              <a:t>https://www.kimi.ai/help/kimi-api/api-troubleshooting</a:t>
            </a:r>
          </a:p>
          <a:p/>
          <a:p>
            <a:r>
              <a:t>S07 小米官方模型卡</a:t>
            </a:r>
          </a:p>
          <a:p>
            <a:r>
              <a:t>https://huggingface.co/XiaomiMiMo/MiMo-V2.6-Pro-RL</a:t>
            </a:r>
          </a:p>
          <a:p/>
          <a:p>
            <a:r>
              <a:t>S08 DeepSeek 模型与定价</a:t>
            </a:r>
          </a:p>
          <a:p>
            <a:r>
              <a:t>https://api-docs.deepseek.com/quick_start/pricing/</a:t>
            </a:r>
          </a:p>
          <a:p/>
          <a:p>
            <a:r>
              <a:t>S09 AA Opus 5.5 max，default fallback</a:t>
            </a:r>
          </a:p>
          <a:p>
            <a:r>
              <a:t>https://artificialanalysis.ai/models/claude-opus-5-5</a:t>
            </a:r>
          </a:p>
          <a:p/>
          <a:p>
            <a:r>
              <a:t>S10 AA GPT-6.1 Sol max</a:t>
            </a:r>
          </a:p>
          <a:p>
            <a:r>
              <a:t>https://artificialanalysis.ai/models/gpt-6-1-sol</a:t>
            </a:r>
          </a:p>
          <a:p/>
          <a:p>
            <a:r>
              <a:t>S11 AA Gemini 4 Argon high</a:t>
            </a:r>
          </a:p>
          <a:p>
            <a:r>
              <a:t>https://artificialanalysis.ai/models/gemini-4-argon</a:t>
            </a:r>
          </a:p>
          <a:p/>
          <a:p>
            <a:r>
              <a:t>S12 AA GLM-5.3 max</a:t>
            </a:r>
          </a:p>
          <a:p>
            <a:r>
              <a:t>https://artificialanalysis.ai/models/glm-5-3</a:t>
            </a:r>
          </a:p>
          <a:p/>
          <a:p>
            <a:r>
              <a:t>S13 AA Qwen3.8 Max 0902 对比页</a:t>
            </a:r>
          </a:p>
          <a:p>
            <a:r>
              <a:t>https://artificialanalysis.ai/models/comparisons/qwen3-8-max-vs-qwen3-8-max-0803</a:t>
            </a:r>
          </a:p>
          <a:p/>
          <a:p>
            <a:r>
              <a:t>S14 AA Kimi K3 max</a:t>
            </a:r>
          </a:p>
          <a:p>
            <a:r>
              <a:t>https://artificialanalysis.ai/models/kimi-k3</a:t>
            </a:r>
          </a:p>
          <a:p/>
          <a:p>
            <a:r>
              <a:t>S15 AA MiMo 与 DeepSeek 对比页</a:t>
            </a:r>
          </a:p>
          <a:p>
            <a:r>
              <a:t>https://artificialanalysis.ai/models/comparisons/mimo-v2-6-pro-vs-deepseek-v4-1-flash</a:t>
            </a:r>
          </a:p>
          <a:p/>
          <a:p>
            <a:r>
              <a:t>S16 AA DeepSeek V4.1 Flash max</a:t>
            </a:r>
          </a:p>
          <a:p>
            <a:r>
              <a:t>https://artificialanalysis.ai/models/deepseek-v4-1-flash</a:t>
            </a:r>
          </a:p>
          <a:p/>
          <a:p>
            <a:r>
              <a:t>S17 ChatGPT 订阅权益</a:t>
            </a:r>
          </a:p>
          <a:p>
            <a:r>
              <a:t>https://chatgpt.com/pricing/</a:t>
            </a:r>
          </a:p>
          <a:p/>
          <a:p>
            <a:r>
              <a:t>S18 ChatGPT Pro 三档价格</a:t>
            </a:r>
          </a:p>
          <a:p>
            <a:r>
              <a:t>https://help.openai.com/en/articles/9793128-about-chatgpt-pro-tiers</a:t>
            </a:r>
          </a:p>
          <a:p/>
          <a:p>
            <a:r>
              <a:t>S19 ChatGPT Go 美元价格</a:t>
            </a:r>
          </a:p>
          <a:p>
            <a:r>
              <a:t>https://openai.com/index/introducing-chatgpt-go/</a:t>
            </a:r>
          </a:p>
          <a:p/>
          <a:p>
            <a:r>
              <a:t>S20 ChatGPT Plus 美元价格</a:t>
            </a:r>
          </a:p>
          <a:p>
            <a:r>
              <a:t>https://help.openai.com/en/articles/6950777-what-is-chatgpt-plus</a:t>
            </a:r>
          </a:p>
          <a:p/>
          <a:p>
            <a:r>
              <a:t>S21 Claude 订阅、API 与指定额度</a:t>
            </a:r>
          </a:p>
          <a:p>
            <a:r>
              <a:t>https://claude.com/pricing</a:t>
            </a:r>
          </a:p>
          <a:p/>
          <a:p>
            <a:r>
              <a:t>S22 Google AI 订阅</a:t>
            </a:r>
          </a:p>
          <a:p>
            <a:r>
              <a:t>https://gemini.google/subscriptions/</a:t>
            </a:r>
          </a:p>
          <a:p/>
          <a:p>
            <a:r>
              <a:t>S23 X Subscription 组合套餐</a:t>
            </a:r>
          </a:p>
          <a:p>
            <a:r>
              <a:t>https://docs.x.ai/x-subscription/pricing</a:t>
            </a:r>
          </a:p>
          <a:p/>
          <a:p>
            <a:r>
              <a:t>S24 Qoder IDE Quest 退役范围</a:t>
            </a:r>
          </a:p>
          <a:p>
            <a:r>
              <a:t>https://docs.qoder.com/release-notes/quest-retirement-notice</a:t>
            </a:r>
          </a:p>
          <a:p/>
          <a:p>
            <a:r>
              <a:t>S25 Qoder CN 账号与订阅</a:t>
            </a:r>
          </a:p>
          <a:p>
            <a:r>
              <a:t>https://docs.qoder.cn/product-overview/account-and-subscription</a:t>
            </a:r>
          </a:p>
          <a:p/>
          <a:p>
            <a:r>
              <a:t>S26 Gemini CLI 个人账号迁移公告</a:t>
            </a:r>
          </a:p>
          <a:p>
            <a:r>
              <a:t>https://github.com/google-gemini/gemini-cli/discussions/28017</a:t>
            </a:r>
          </a:p>
          <a:p/>
          <a:p>
            <a:r>
              <a:t>S27 GSD 官方迁移说明</a:t>
            </a:r>
          </a:p>
          <a:p>
            <a:r>
              <a:t>https://github.com/gsd-build/get-shit-done</a:t>
            </a:r>
          </a:p>
          <a:p/>
          <a:p>
            <a:r>
              <a:t>S28 2026 年 7—8 月 AI 备案公告</a:t>
            </a:r>
          </a:p>
          <a:p>
            <a:r>
              <a:t>https://www.cac.gov.cn/2026-09/14/c_1791136833136332.htm</a:t>
            </a:r>
          </a:p>
          <a:p/>
          <a:p>
            <a:r>
              <a:t>S29 Anthropic 2026 使用政策更新</a:t>
            </a:r>
          </a:p>
          <a:p>
            <a:r>
              <a:t>https://www.anthropic.com/news/2026-usage-policy-update</a:t>
            </a:r>
          </a:p>
          <a:p/>
          <a:p>
            <a:r>
              <a:t>S30 GitGuardian 2025 密钥报告</a:t>
            </a:r>
          </a:p>
          <a:p>
            <a:r>
              <a:t>https://www.gitguardian.com/state-of-secrets-sprawl-report-2025</a:t>
            </a:r>
          </a:p>
          <a:p/>
          <a:p>
            <a:r>
              <a:t>S31 GitHub MCP 注入原始研究</a:t>
            </a:r>
          </a:p>
          <a:p>
            <a:r>
              <a:t>https://invariantlabs.ai/blog/mcp-github-vulnerability</a:t>
            </a:r>
          </a:p>
          <a:p/>
          <a:p>
            <a:r>
              <a:t>S32 EchoLeak 原始研究</a:t>
            </a:r>
          </a:p>
          <a:p>
            <a:r>
              <a:t>https://www.aim.security/lp/aim-labs-echoleak-blogpost</a:t>
            </a:r>
          </a:p>
          <a:p/>
          <a:p>
            <a:r>
              <a:t>S33 Transformer 原论文</a:t>
            </a:r>
          </a:p>
          <a:p>
            <a:r>
              <a:t>https://arxiv.org/abs/1706.03762</a:t>
            </a:r>
          </a:p>
          <a:p/>
          <a:p>
            <a:r>
              <a:t>S34 McCulloch 与 Pitts 1943 原论文</a:t>
            </a:r>
          </a:p>
          <a:p>
            <a:r>
              <a:t>https://gwern.net/doc/ai/nn/1943-mcculloch.pdf</a:t>
            </a:r>
          </a:p>
          <a:p/>
          <a:p>
            <a:r>
              <a:t>S35 Rosenblatt 1958 原论文</a:t>
            </a:r>
          </a:p>
          <a:p>
            <a:r>
              <a:t>https://web.stanford.edu/class/psych209a/ReadingsByDate/01_30/Rosenblatt58Perceptron.pdf</a:t>
            </a:r>
          </a:p>
          <a:p/>
          <a:p>
            <a:r>
              <a:t>S36 加拿大航空裁决入口</a:t>
            </a:r>
          </a:p>
          <a:p>
            <a:r>
              <a:t>https://decisions.civilresolutionbc.ca/crt/crtd/en/525448/1/document.do</a:t>
            </a:r>
          </a:p>
          <a:p/>
          <a:p>
            <a:r>
              <a:t>S37 Terminal-Bench 榜单与方法</a:t>
            </a:r>
          </a:p>
          <a:p>
            <a:r>
              <a:t>https://www.tbench.ai/</a:t>
            </a:r>
          </a:p>
          <a:p/>
          <a:p>
            <a:r>
              <a:t>S38 AA 智能指数与成本方法</a:t>
            </a:r>
          </a:p>
          <a:p>
            <a:r>
              <a:t>https://artificialanalysis.ai/models</a:t>
            </a:r>
          </a:p>
          <a:p/>
          <a:p>
            <a:r>
              <a:t>查询与整理日期：2026-10-18。</a:t>
            </a:r>
          </a:p>
          <a:p/>
          <a:p>
            <a:r>
              <a:t>新增来源（2026-10-18 查询）</a:t>
            </a:r>
          </a:p>
          <a:p>
            <a:r>
              <a:t>Artificial Analysis 排行榜：https://artificialanalysis.ai/leaderboards/models</a:t>
            </a:r>
          </a:p>
          <a:p>
            <a:r>
              <a:t>DeepSeek 1017 发布与价格：https://api-docs.deepseek.com/news/news261017/ ；https://api-docs.deepseek.com/zh-cn/quick_start/pricing/</a:t>
            </a:r>
          </a:p>
          <a:p>
            <a:r>
              <a:t>免费版与订阅：https://chatgpt.com/pricing ；https://claude.com/pricing ；https://gemini.google/subscriptions/ ；https://www.kimi.com/help/membership/membership-pricing ；https://x.ai/news/x-subscription</a:t>
            </a:r>
          </a:p>
          <a:p>
            <a:r>
              <a:t>客户端额度：https://www.workbuddy.cn/docs/workbuddy/Pricing ；https://www.trae.cn/pricing ；https://docs.trae.ai/ide/new-plans-and-billing ；https://qoder.com/pricing ；https://docs.cline.bot/getting-started/free-models ；https://learn.chatgpt.com/docs/pricing ；https://kiro.dev/pricing/ ；https://cursor.com/pricing</a:t>
            </a:r>
          </a:p>
          <a:p>
            <a:r>
              <a:t>地区政策：https://help.openai.com/en/articles/7947663-chatgpt-supported-countries ；https://www.anthropic.com/legal/supported-regions ；https://support.google.com/gemini/answer/13575153</a:t>
            </a:r>
          </a:p>
          <a:p>
            <a:r>
              <a:t>案例：https://www.theguardian.com/technology/2023/jun/23/two-us-lawyers-fined-submitting-fake-court-citations-chatgpt ；https://www.theguardian.com/australia-news/2025/oct/06/deloitte-to-pay-money-back-to-albanese-government-after-using-ai-in-440000-report ；https://openai.com/index/sycophancy-in-gpt-4o/ ；https://arxiv.org/abs/2310.13548 ；https://research.trychroma.com/context-rot ；https://arxiv.org/abs/2307.03172 ；https://thinkingmachines.ai/blog/defeating-nondeterminism-in-llm-inference/</a:t>
            </a:r>
          </a:p>
          <a:p>
            <a:r>
              <a:t>本地核对底稿：配套核对材料 drawing.md、report.md、web.md</a:t>
            </a:r>
          </a:p>
          <a:p/>
          <a:p>
            <a:r>
              <a:t>新增来源（2026-10-18 查询）</a:t>
            </a:r>
          </a:p>
          <a:p>
            <a:r>
              <a:t>S51 L 站：*果 去广告会员版（仅取“社区在传什么”这一事实）：https://linux.do/t/topic/2779542</a:t>
            </a:r>
          </a:p>
          <a:p>
            <a:r>
              <a:t>S52 L 站：**模拟器 绿色无广 / 无限多开：https://linux.do/t/topic/1516872</a:t>
            </a:r>
          </a:p>
          <a:p>
            <a:r>
              <a:t>S53 **造价软件 官网：http://smartcost.com.cn/</a:t>
            </a:r>
          </a:p>
          <a:p>
            <a:r>
              <a:t>S54 *果 广告形态与自动跳过类适配说明（GitHub，仅作机制参考）：https://github.com/clarithromycine/ad-auto</a:t>
            </a:r>
          </a:p>
          <a:p>
            <a:r>
              <a:t>S55 MuMu 官方多开说明：https://mumu.163.com/help/20210913/35047_971679.html</a:t>
            </a:r>
          </a:p>
          <a:p>
            <a:r>
              <a:t>S56 看雪：加密锁破解经验帖（仅作原理参考）：https://bbs.kanxue.com/thread-255826.htm</a:t>
            </a:r>
          </a:p>
          <a:p>
            <a:r>
              <a:t>口径：L 站案例只写“改了哪一层、改不了什么、代价是什么”，不写获取渠道与操作步骤；软件名按社区惯例打码。</a:t>
            </a:r>
          </a:p>
          <a:p/>
          <a:p>
            <a:r>
              <a:t>新增来源（2026-10-18 查询）</a:t>
            </a:r>
          </a:p>
          <a:p>
            <a:r>
              <a:t>S57 MOVO（自托管企业 Agent 平台，基于 DSH）：https://github.com/himovo/movo ；中文说明 https://github.com/himovo/movo/blob/main/README.zh-CN.md</a:t>
            </a:r>
          </a:p>
          <a:p>
            <a:r>
              <a:t>S58 AgenTeam 群策（多智能体协作平台）：https://github.com/Stonewuu/agenteam</a:t>
            </a:r>
          </a:p>
          <a:p>
            <a:r>
              <a:t>口径：两个项目的服务数、技术栈与能力边界均引自各自的 README；“六件必备件”与“工作流 / RAG 怎么养”是本稿的归纳，不是项目原文。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这一页和下一页放的是能直接点开的链接，分四组，这页是前两组。</a:t>
            </a:r>
          </a:p>
          <a:p/>
          <a:p>
            <a:r>
              <a:t>官方与政策：签合同、写制度、判断“这算不算违规”时看原文，不看二手解读。OWASP 的 LLM Top 10 是讲护栏时最常用的框架。</a:t>
            </a:r>
          </a:p>
          <a:p/>
          <a:p>
            <a:r>
              <a:t>事件与判例：Hugging Face 原始公告、OpenAI 的说明、BBC 的质疑、CNBC 的起诉报道，再加上韩国那起的两份一手材料。做案例页时先看这几份，别只看转述。</a:t>
            </a:r>
          </a:p>
          <a:p/>
          <a:p>
            <a:r>
              <a:t>提醒：这类链接会失效、会删帖。重要结论要么当场截图存档，要么只引官方原文。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工具与仓库分两组：一组是“壳”（magpie、CLIProxyAPI），一组是“企业平台”（MOVO、AgenTeam）。看企业平台时重点看两处：它的权限与审计做到什么程度，它的知识库与检索怎么迭代。</a:t>
            </a:r>
          </a:p>
          <a:p/>
          <a:p>
            <a:r>
              <a:t>社区与客户端：L 站两个帖子是 E3 那页三个例子的来源；另外补了软件官网、官方多开说明和看雪帖。</a:t>
            </a:r>
          </a:p>
          <a:p/>
          <a:p>
            <a:r>
              <a:t>边界：社区帖只证明“有人在这么做”，不提供做法。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A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B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C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D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E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F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G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H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I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J 放大播放（内嵌视频，自动循环）。放映时只能从第 19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hyperlink" Target="&#37197;&#22871;46/&#26469;&#28304;&#32034;&#24341;.html#slide-4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7.xml"/><Relationship Id="rId6" Type="http://schemas.openxmlformats.org/officeDocument/2006/relationships/slide" Target="slide57.xml"/><Relationship Id="rId5" Type="http://schemas.openxmlformats.org/officeDocument/2006/relationships/slide" Target="slide39.xml"/><Relationship Id="rId4" Type="http://schemas.openxmlformats.org/officeDocument/2006/relationships/slide" Target="slide28.xml"/><Relationship Id="rId3" Type="http://schemas.openxmlformats.org/officeDocument/2006/relationships/slide" Target="slide18.xml"/><Relationship Id="rId2" Type="http://schemas.openxmlformats.org/officeDocument/2006/relationships/slide" Target="slide6.xml"/><Relationship Id="rId1" Type="http://schemas.openxmlformats.org/officeDocument/2006/relationships/hyperlink" Target="&#37197;&#22871;46/&#26469;&#28304;&#32034;&#24341;.html#slide-5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hyperlink" Target="&#37197;&#22871;46/&#26469;&#28304;&#32034;&#24341;.html#slide-8" TargetMode="Externa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microsoft.com/office/2007/relationships/media" Target="../media/media2.mp4"/><Relationship Id="rId2" Type="http://schemas.openxmlformats.org/officeDocument/2006/relationships/video" Target="../media/media2.mp4"/><Relationship Id="rId1" Type="http://schemas.openxmlformats.org/officeDocument/2006/relationships/hyperlink" Target="&#37197;&#22871;46/&#26469;&#28304;&#32034;&#24341;.html#slide-9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10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11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15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17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" Target="slide134.xml"/><Relationship Id="rId8" Type="http://schemas.openxmlformats.org/officeDocument/2006/relationships/image" Target="../media/image11.GIF"/><Relationship Id="rId7" Type="http://schemas.openxmlformats.org/officeDocument/2006/relationships/slide" Target="slide133.xml"/><Relationship Id="rId6" Type="http://schemas.openxmlformats.org/officeDocument/2006/relationships/image" Target="../media/image10.GIF"/><Relationship Id="rId5" Type="http://schemas.openxmlformats.org/officeDocument/2006/relationships/slide" Target="slide132.xml"/><Relationship Id="rId4" Type="http://schemas.openxmlformats.org/officeDocument/2006/relationships/image" Target="../media/image9.GIF"/><Relationship Id="rId3" Type="http://schemas.openxmlformats.org/officeDocument/2006/relationships/slide" Target="slide131.xml"/><Relationship Id="rId24" Type="http://schemas.openxmlformats.org/officeDocument/2006/relationships/notesSlide" Target="../notesSlides/notesSlide19.x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18.GIF"/><Relationship Id="rId21" Type="http://schemas.openxmlformats.org/officeDocument/2006/relationships/slide" Target="slide140.xml"/><Relationship Id="rId20" Type="http://schemas.openxmlformats.org/officeDocument/2006/relationships/image" Target="../media/image17.GIF"/><Relationship Id="rId2" Type="http://schemas.openxmlformats.org/officeDocument/2006/relationships/hyperlink" Target="&#37197;&#22871;46/&#40520;&#40533;&#30450;&#27979;.html" TargetMode="External"/><Relationship Id="rId19" Type="http://schemas.openxmlformats.org/officeDocument/2006/relationships/slide" Target="slide139.xml"/><Relationship Id="rId18" Type="http://schemas.openxmlformats.org/officeDocument/2006/relationships/image" Target="../media/image16.GIF"/><Relationship Id="rId17" Type="http://schemas.openxmlformats.org/officeDocument/2006/relationships/slide" Target="slide138.xml"/><Relationship Id="rId16" Type="http://schemas.openxmlformats.org/officeDocument/2006/relationships/image" Target="../media/image15.GIF"/><Relationship Id="rId15" Type="http://schemas.openxmlformats.org/officeDocument/2006/relationships/slide" Target="slide137.xml"/><Relationship Id="rId14" Type="http://schemas.openxmlformats.org/officeDocument/2006/relationships/image" Target="../media/image14.GIF"/><Relationship Id="rId13" Type="http://schemas.openxmlformats.org/officeDocument/2006/relationships/slide" Target="slide136.xml"/><Relationship Id="rId12" Type="http://schemas.openxmlformats.org/officeDocument/2006/relationships/image" Target="../media/image13.GIF"/><Relationship Id="rId11" Type="http://schemas.openxmlformats.org/officeDocument/2006/relationships/slide" Target="slide135.xml"/><Relationship Id="rId10" Type="http://schemas.openxmlformats.org/officeDocument/2006/relationships/image" Target="../media/image12.GIF"/><Relationship Id="rId1" Type="http://schemas.openxmlformats.org/officeDocument/2006/relationships/hyperlink" Target="&#37197;&#22871;46/&#26469;&#28304;&#32034;&#24341;.html#slide-19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20" TargetMode="Externa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hyperlink" Target="&#37197;&#22871;46/&#26469;&#28304;&#32034;&#24341;.html#slide-21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22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23" TargetMode="Externa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3" Type="http://schemas.openxmlformats.org/officeDocument/2006/relationships/notesSlide" Target="../notesSlides/notesSlide24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32.png"/><Relationship Id="rId10" Type="http://schemas.openxmlformats.org/officeDocument/2006/relationships/image" Target="../media/image31.png"/><Relationship Id="rId1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2.png"/><Relationship Id="rId4" Type="http://schemas.openxmlformats.org/officeDocument/2006/relationships/image" Target="../media/image33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9.png"/><Relationship Id="rId7" Type="http://schemas.openxmlformats.org/officeDocument/2006/relationships/image" Target="../media/image20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27.png"/><Relationship Id="rId2" Type="http://schemas.openxmlformats.org/officeDocument/2006/relationships/image" Target="../media/image35.png"/><Relationship Id="rId10" Type="http://schemas.openxmlformats.org/officeDocument/2006/relationships/notesSlide" Target="../notesSlides/notesSlide26.xml"/><Relationship Id="rId1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hyperlink" Target="&#37197;&#22871;46/&#26469;&#28304;&#32034;&#24341;.html#slide-29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30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31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32" TargetMode="Externa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hyperlink" Target="&#37197;&#22871;46/&#26469;&#28304;&#32034;&#24341;.html#slide-33" TargetMode="External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3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hyperlink" Target="&#37197;&#22871;46/&#26469;&#28304;&#32034;&#24341;.html#slide-34" TargetMode="Externa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hyperlink" Target="&#37197;&#22871;46/&#26469;&#28304;&#32034;&#24341;.html#slide-35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36" TargetMode="Externa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1" Type="http://schemas.openxmlformats.org/officeDocument/2006/relationships/hyperlink" Target="&#37197;&#22871;46/&#26469;&#28304;&#32034;&#24341;.html#slide-37" TargetMode="Externa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hyperlink" Target="&#37197;&#22871;46/&#26469;&#28304;&#32034;&#24341;.html#slide-38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41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43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44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46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47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48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49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50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51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52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53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54" TargetMode="Externa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58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59" TargetMode="Externa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60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61" TargetMode="Externa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2.jpeg"/><Relationship Id="rId2" Type="http://schemas.openxmlformats.org/officeDocument/2006/relationships/image" Target="../media/image51.png"/><Relationship Id="rId1" Type="http://schemas.openxmlformats.org/officeDocument/2006/relationships/hyperlink" Target="&#37197;&#22871;46/&#26469;&#28304;&#32034;&#24341;.html#slide-63" TargetMode="External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1" Type="http://schemas.openxmlformats.org/officeDocument/2006/relationships/image" Target="../media/image53.jpe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1" Type="http://schemas.openxmlformats.org/officeDocument/2006/relationships/hyperlink" Target="https://www.anthropic.com/engineering/a-postmortem-of-three-recent-issues" TargetMode="External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6.jpeg"/><Relationship Id="rId2" Type="http://schemas.openxmlformats.org/officeDocument/2006/relationships/image" Target="../media/image55.png"/><Relationship Id="rId1" Type="http://schemas.openxmlformats.org/officeDocument/2006/relationships/hyperlink" Target="&#37197;&#22871;46/&#26469;&#28304;&#32034;&#24341;.html#slide-66" TargetMode="External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jpeg"/><Relationship Id="rId8" Type="http://schemas.openxmlformats.org/officeDocument/2006/relationships/image" Target="../media/image60.GIF"/><Relationship Id="rId7" Type="http://schemas.openxmlformats.org/officeDocument/2006/relationships/hyperlink" Target="https://x.com/devteamdrew/status/2102436464323661880" TargetMode="External"/><Relationship Id="rId6" Type="http://schemas.openxmlformats.org/officeDocument/2006/relationships/image" Target="../media/image59.GIF"/><Relationship Id="rId5" Type="http://schemas.openxmlformats.org/officeDocument/2006/relationships/hyperlink" Target="https://x.com/kimmonismus/status/2102844654169575547" TargetMode="External"/><Relationship Id="rId4" Type="http://schemas.openxmlformats.org/officeDocument/2006/relationships/image" Target="../media/image58.GIF"/><Relationship Id="rId3" Type="http://schemas.openxmlformats.org/officeDocument/2006/relationships/hyperlink" Target="https://x.com/akokoi1/status/2102583898865873225" TargetMode="External"/><Relationship Id="rId2" Type="http://schemas.openxmlformats.org/officeDocument/2006/relationships/image" Target="../media/image57.GIF"/><Relationship Id="rId12" Type="http://schemas.openxmlformats.org/officeDocument/2006/relationships/notesSlide" Target="../notesSlides/notesSlide65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5.png"/><Relationship Id="rId1" Type="http://schemas.openxmlformats.org/officeDocument/2006/relationships/hyperlink" Target="https://x.com/stephanlivera/status/2103315922098470926" TargetMode="Externa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2.png"/></Relationships>
</file>

<file path=ppt/slides/_rels/slide6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4.jpeg"/><Relationship Id="rId2" Type="http://schemas.openxmlformats.org/officeDocument/2006/relationships/image" Target="../media/image63.png"/><Relationship Id="rId1" Type="http://schemas.openxmlformats.org/officeDocument/2006/relationships/hyperlink" Target="&#37197;&#22871;46/&#26469;&#28304;&#32034;&#24341;.html#slide-69" TargetMode="External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6.jpeg"/><Relationship Id="rId2" Type="http://schemas.openxmlformats.org/officeDocument/2006/relationships/image" Target="../media/image65.png"/><Relationship Id="rId1" Type="http://schemas.openxmlformats.org/officeDocument/2006/relationships/hyperlink" Target="&#37197;&#22871;46/&#26469;&#28304;&#32034;&#24341;.html#slide-70" TargetMode="External"/></Relationships>
</file>

<file path=ppt/slides/_rels/slide7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8.jpeg"/><Relationship Id="rId2" Type="http://schemas.openxmlformats.org/officeDocument/2006/relationships/image" Target="../media/image67.png"/><Relationship Id="rId1" Type="http://schemas.openxmlformats.org/officeDocument/2006/relationships/hyperlink" Target="&#37197;&#22871;46/&#26469;&#28304;&#32034;&#24341;.html#slide-71" TargetMode="External"/></Relationships>
</file>

<file path=ppt/slides/_rels/slide7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0.jpeg"/><Relationship Id="rId2" Type="http://schemas.openxmlformats.org/officeDocument/2006/relationships/image" Target="../media/image69.png"/><Relationship Id="rId1" Type="http://schemas.openxmlformats.org/officeDocument/2006/relationships/hyperlink" Target="&#37197;&#22871;46/&#26469;&#28304;&#32034;&#24341;.html#slide-72" TargetMode="External"/></Relationships>
</file>

<file path=ppt/slides/_rels/slide7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2.jpeg"/><Relationship Id="rId2" Type="http://schemas.openxmlformats.org/officeDocument/2006/relationships/image" Target="../media/image71.png"/><Relationship Id="rId1" Type="http://schemas.openxmlformats.org/officeDocument/2006/relationships/hyperlink" Target="&#37197;&#22871;46/&#26469;&#28304;&#32034;&#24341;.html#slide-73" TargetMode="External"/></Relationships>
</file>

<file path=ppt/slides/_rels/slide7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3.png"/><Relationship Id="rId2" Type="http://schemas.openxmlformats.org/officeDocument/2006/relationships/image" Target="../media/image53.jpeg"/><Relationship Id="rId1" Type="http://schemas.openxmlformats.org/officeDocument/2006/relationships/hyperlink" Target="&#37197;&#22871;46/&#26469;&#28304;&#32034;&#24341;.html#slide-74" TargetMode="External"/></Relationships>
</file>

<file path=ppt/slides/_rels/slide7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4.jpeg"/><Relationship Id="rId2" Type="http://schemas.openxmlformats.org/officeDocument/2006/relationships/image" Target="../media/image73.png"/><Relationship Id="rId1" Type="http://schemas.openxmlformats.org/officeDocument/2006/relationships/hyperlink" Target="&#37197;&#22871;46/&#26469;&#28304;&#32034;&#24341;.html#slide-75" TargetMode="External"/></Relationships>
</file>

<file path=ppt/slides/_rels/slide7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5.png"/><Relationship Id="rId2" Type="http://schemas.openxmlformats.org/officeDocument/2006/relationships/image" Target="../media/image53.jpeg"/><Relationship Id="rId1" Type="http://schemas.openxmlformats.org/officeDocument/2006/relationships/hyperlink" Target="&#37197;&#22871;46/&#26469;&#28304;&#32034;&#24341;.html#slide-76" TargetMode="External"/></Relationships>
</file>

<file path=ppt/slides/_rels/slide7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7.jpeg"/><Relationship Id="rId2" Type="http://schemas.openxmlformats.org/officeDocument/2006/relationships/image" Target="../media/image76.png"/><Relationship Id="rId1" Type="http://schemas.openxmlformats.org/officeDocument/2006/relationships/hyperlink" Target="&#37197;&#22871;46/&#26469;&#28304;&#32034;&#24341;.html#slide-77" TargetMode="External"/></Relationships>
</file>

<file path=ppt/slides/_rels/slide7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9.jpeg"/><Relationship Id="rId2" Type="http://schemas.openxmlformats.org/officeDocument/2006/relationships/image" Target="../media/image78.png"/><Relationship Id="rId1" Type="http://schemas.openxmlformats.org/officeDocument/2006/relationships/hyperlink" Target="&#37197;&#22871;46/&#26469;&#28304;&#32034;&#24341;.html#slide-78" TargetMode="External"/></Relationships>
</file>

<file path=ppt/slides/_rels/slide7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1.jpeg"/><Relationship Id="rId2" Type="http://schemas.openxmlformats.org/officeDocument/2006/relationships/image" Target="../media/image80.png"/><Relationship Id="rId1" Type="http://schemas.openxmlformats.org/officeDocument/2006/relationships/hyperlink" Target="&#37197;&#22871;46/&#26469;&#28304;&#32034;&#24341;.html#slide-79" TargetMode="External"/></Relationships>
</file>

<file path=ppt/slides/_rels/slide8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3.jpeg"/><Relationship Id="rId2" Type="http://schemas.openxmlformats.org/officeDocument/2006/relationships/image" Target="../media/image82.png"/><Relationship Id="rId1" Type="http://schemas.openxmlformats.org/officeDocument/2006/relationships/hyperlink" Target="&#37197;&#22871;46/&#26469;&#28304;&#32034;&#24341;.html#slide-80" TargetMode="External"/></Relationships>
</file>

<file path=ppt/slides/_rels/slide8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5.jpeg"/><Relationship Id="rId2" Type="http://schemas.openxmlformats.org/officeDocument/2006/relationships/image" Target="../media/image84.png"/><Relationship Id="rId1" Type="http://schemas.openxmlformats.org/officeDocument/2006/relationships/hyperlink" Target="&#37197;&#22871;46/&#26469;&#28304;&#32034;&#24341;.html#slide-81" TargetMode="Externa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83" TargetMode="Externa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84" TargetMode="External"/></Relationships>
</file>

<file path=ppt/slides/_rels/slide8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8.png"/><Relationship Id="rId7" Type="http://schemas.openxmlformats.org/officeDocument/2006/relationships/image" Target="../media/image87.png"/><Relationship Id="rId6" Type="http://schemas.openxmlformats.org/officeDocument/2006/relationships/image" Target="../media/image25.png"/><Relationship Id="rId5" Type="http://schemas.openxmlformats.org/officeDocument/2006/relationships/image" Target="../media/image86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0" Type="http://schemas.openxmlformats.org/officeDocument/2006/relationships/notesSlide" Target="../notesSlides/notesSlide82.xml"/><Relationship Id="rId1" Type="http://schemas.openxmlformats.org/officeDocument/2006/relationships/hyperlink" Target="&#37197;&#22871;46/&#26469;&#28304;&#32034;&#24341;.html#slide-85" TargetMode="External"/></Relationships>
</file>

<file path=ppt/slides/_rels/slide8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3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5.png"/><Relationship Id="rId6" Type="http://schemas.openxmlformats.org/officeDocument/2006/relationships/image" Target="../media/image86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Relationship Id="rId3" Type="http://schemas.openxmlformats.org/officeDocument/2006/relationships/image" Target="../media/image20.png"/><Relationship Id="rId2" Type="http://schemas.openxmlformats.org/officeDocument/2006/relationships/image" Target="../media/image29.png"/><Relationship Id="rId1" Type="http://schemas.openxmlformats.org/officeDocument/2006/relationships/image" Target="../media/image30.png"/></Relationships>
</file>

<file path=ppt/slides/_rels/slide8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.png"/><Relationship Id="rId8" Type="http://schemas.openxmlformats.org/officeDocument/2006/relationships/image" Target="../media/image30.png"/><Relationship Id="rId7" Type="http://schemas.openxmlformats.org/officeDocument/2006/relationships/image" Target="../media/image25.png"/><Relationship Id="rId6" Type="http://schemas.openxmlformats.org/officeDocument/2006/relationships/image" Target="../media/image86.png"/><Relationship Id="rId5" Type="http://schemas.openxmlformats.org/officeDocument/2006/relationships/image" Target="../media/image29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6" Type="http://schemas.openxmlformats.org/officeDocument/2006/relationships/notesSlide" Target="../notesSlides/notesSlide84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75.png"/><Relationship Id="rId13" Type="http://schemas.openxmlformats.org/officeDocument/2006/relationships/image" Target="../media/image32.png"/><Relationship Id="rId12" Type="http://schemas.openxmlformats.org/officeDocument/2006/relationships/image" Target="../media/image28.png"/><Relationship Id="rId11" Type="http://schemas.openxmlformats.org/officeDocument/2006/relationships/image" Target="../media/image36.png"/><Relationship Id="rId10" Type="http://schemas.openxmlformats.org/officeDocument/2006/relationships/image" Target="../media/image27.png"/><Relationship Id="rId1" Type="http://schemas.openxmlformats.org/officeDocument/2006/relationships/hyperlink" Target="&#37197;&#22871;46/&#26469;&#28304;&#32034;&#24341;.html#slide-87" TargetMode="Externa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88" TargetMode="Externa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5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99" TargetMode="External"/></Relationships>
</file>

<file path=ppt/slides/_rels/slide10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1" Type="http://schemas.openxmlformats.org/officeDocument/2006/relationships/hyperlink" Target="&#37197;&#22871;46/&#26469;&#28304;&#32034;&#24341;.html#slide-100" TargetMode="External"/></Relationships>
</file>

<file path=ppt/slides/_rels/slide10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9.jpeg"/><Relationship Id="rId1" Type="http://schemas.openxmlformats.org/officeDocument/2006/relationships/hyperlink" Target="&#37197;&#22871;46/&#26469;&#28304;&#32034;&#24341;.html#slide-101" TargetMode="Externa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102" TargetMode="Externa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103" TargetMode="Externa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104" TargetMode="External"/></Relationships>
</file>

<file path=ppt/slides/_rels/slide10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1" Type="http://schemas.openxmlformats.org/officeDocument/2006/relationships/hyperlink" Target="&#37197;&#22871;46/&#26469;&#28304;&#32034;&#24341;.html#slide-105" TargetMode="External"/></Relationships>
</file>

<file path=ppt/slides/_rels/slide10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1" Type="http://schemas.openxmlformats.org/officeDocument/2006/relationships/hyperlink" Target="&#37197;&#22871;46/&#26469;&#28304;&#32034;&#24341;.html#slide-106" TargetMode="Externa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107" TargetMode="Externa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4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108" TargetMode="Externa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109" TargetMode="Externa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6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110" TargetMode="Externa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7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111" TargetMode="Externa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8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112" TargetMode="Externa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9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113" TargetMode="Externa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0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114" TargetMode="Externa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1" Type="http://schemas.openxmlformats.org/officeDocument/2006/relationships/hyperlink" Target="&#37197;&#22871;46/&#26469;&#28304;&#32034;&#24341;.html#slide-116" TargetMode="External"/></Relationships>
</file>

<file path=ppt/slides/_rels/slide1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1" Type="http://schemas.openxmlformats.org/officeDocument/2006/relationships/hyperlink" Target="&#37197;&#22871;46/&#26469;&#28304;&#32034;&#24341;.html#slide-117" TargetMode="External"/></Relationships>
</file>

<file path=ppt/slides/_rels/slide1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4.png"/><Relationship Id="rId3" Type="http://schemas.microsoft.com/office/2007/relationships/media" Target="../media/media3.mp4"/><Relationship Id="rId2" Type="http://schemas.openxmlformats.org/officeDocument/2006/relationships/video" Target="../media/media3.mp4"/><Relationship Id="rId1" Type="http://schemas.openxmlformats.org/officeDocument/2006/relationships/hyperlink" Target="&#37197;&#22871;46/&#26469;&#28304;&#32034;&#24341;.html#slide-118" TargetMode="External"/></Relationships>
</file>

<file path=ppt/slides/_rels/slide1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1" Type="http://schemas.openxmlformats.org/officeDocument/2006/relationships/hyperlink" Target="&#37197;&#22871;46/&#26469;&#28304;&#32034;&#24341;.html#slide-119" TargetMode="External"/></Relationships>
</file>

<file path=ppt/slides/_rels/slide1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6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6.png"/><Relationship Id="rId3" Type="http://schemas.microsoft.com/office/2007/relationships/media" Target="../media/media4.mp4"/><Relationship Id="rId2" Type="http://schemas.openxmlformats.org/officeDocument/2006/relationships/video" Target="../media/media4.mp4"/><Relationship Id="rId1" Type="http://schemas.openxmlformats.org/officeDocument/2006/relationships/hyperlink" Target="&#37197;&#22871;46/&#26469;&#28304;&#32034;&#24341;.html#slide-120" TargetMode="Externa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7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121" TargetMode="Externa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9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123" TargetMode="External"/></Relationships>
</file>

<file path=ppt/slides/_rels/slide1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1" Type="http://schemas.openxmlformats.org/officeDocument/2006/relationships/hyperlink" Target="&#37197;&#22871;46/&#26469;&#28304;&#32034;&#24341;.html#slide-124" TargetMode="Externa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1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46/&#26469;&#28304;&#32034;&#24341;.html#slide-125" TargetMode="External"/></Relationships>
</file>

<file path=ppt/slides/_rels/slide1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hyperlink" Target="&#37197;&#22871;46/&#26469;&#28304;&#32034;&#24341;.html#slide-126" TargetMode="Externa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4.xml"/><Relationship Id="rId3" Type="http://schemas.openxmlformats.org/officeDocument/2006/relationships/slideLayout" Target="../slideLayouts/slideLayout7.xml"/><Relationship Id="rId2" Type="http://schemas.openxmlformats.org/officeDocument/2006/relationships/hyperlink" Target="&#37197;&#22871;46/&#40520;&#40533;&#30450;&#27979;.html" TargetMode="External"/><Relationship Id="rId1" Type="http://schemas.openxmlformats.org/officeDocument/2006/relationships/hyperlink" Target="&#37197;&#22871;46/&#26469;&#28304;&#32034;&#24341;.html#slide-128" TargetMode="External"/></Relationships>
</file>

<file path=ppt/slides/_rels/slide129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cnbc.com/2026/09/30/openai-sued-cyberattack.html" TargetMode="External"/><Relationship Id="rId8" Type="http://schemas.openxmlformats.org/officeDocument/2006/relationships/hyperlink" Target="https://www.bbc.com/news/articles/cd9w22n9e4go" TargetMode="External"/><Relationship Id="rId7" Type="http://schemas.openxmlformats.org/officeDocument/2006/relationships/hyperlink" Target="https://openai.com/index/hugging-face-model-evaluation-security-incident/" TargetMode="External"/><Relationship Id="rId6" Type="http://schemas.openxmlformats.org/officeDocument/2006/relationships/hyperlink" Target="https://huggingface.co/blog/security-incident-july-2026" TargetMode="External"/><Relationship Id="rId5" Type="http://schemas.openxmlformats.org/officeDocument/2006/relationships/hyperlink" Target="https://www.cac.gov.cn/2026-09/14/c_1791136833136332.htm" TargetMode="External"/><Relationship Id="rId4" Type="http://schemas.openxmlformats.org/officeDocument/2006/relationships/hyperlink" Target="https://genai.owasp.org/llm-top-10/" TargetMode="External"/><Relationship Id="rId3" Type="http://schemas.openxmlformats.org/officeDocument/2006/relationships/hyperlink" Target="https://www.anthropic.com/legal/aup" TargetMode="External"/><Relationship Id="rId2" Type="http://schemas.openxmlformats.org/officeDocument/2006/relationships/hyperlink" Target="https://openai.com/policies/usage-policies/" TargetMode="External"/><Relationship Id="rId13" Type="http://schemas.openxmlformats.org/officeDocument/2006/relationships/notesSlide" Target="../notesSlides/notesSlide125.xml"/><Relationship Id="rId12" Type="http://schemas.openxmlformats.org/officeDocument/2006/relationships/slideLayout" Target="../slideLayouts/slideLayout7.xml"/><Relationship Id="rId11" Type="http://schemas.openxmlformats.org/officeDocument/2006/relationships/hyperlink" Target="https://therecord.media/south-korean-bank-hacks-ai-agents" TargetMode="External"/><Relationship Id="rId10" Type="http://schemas.openxmlformats.org/officeDocument/2006/relationships/hyperlink" Target="https://www.crowdstrike.com/en-us/blog/unknown-threat-actor-uses-artex-to-target-south-korean-finance/" TargetMode="External"/><Relationship Id="rId1" Type="http://schemas.openxmlformats.org/officeDocument/2006/relationships/hyperlink" Target="&#37197;&#22871;46/&#26469;&#28304;&#32034;&#24341;.html#slide-129" TargetMode="External"/></Relationships>
</file>

<file path=ppt/slides/_rels/slide130.xml.rels><?xml version="1.0" encoding="UTF-8" standalone="yes"?>
<Relationships xmlns="http://schemas.openxmlformats.org/package/2006/relationships"><Relationship Id="rId9" Type="http://schemas.openxmlformats.org/officeDocument/2006/relationships/hyperlink" Target="https://linux.do/t/topic/1516872" TargetMode="External"/><Relationship Id="rId8" Type="http://schemas.openxmlformats.org/officeDocument/2006/relationships/hyperlink" Target="https://linux.do/t/topic/2779542" TargetMode="External"/><Relationship Id="rId7" Type="http://schemas.openxmlformats.org/officeDocument/2006/relationships/hyperlink" Target="https://github.com/Stonewuu/agenteam" TargetMode="External"/><Relationship Id="rId6" Type="http://schemas.openxmlformats.org/officeDocument/2006/relationships/hyperlink" Target="https://github.com/himovo/movo/blob/main/README.zh-CN.md" TargetMode="External"/><Relationship Id="rId5" Type="http://schemas.openxmlformats.org/officeDocument/2006/relationships/hyperlink" Target="https://github.com/himovo/movo" TargetMode="External"/><Relationship Id="rId4" Type="http://schemas.openxmlformats.org/officeDocument/2006/relationships/hyperlink" Target="https://github.com/YuJunZhiXue/dsh-purge" TargetMode="External"/><Relationship Id="rId3" Type="http://schemas.openxmlformats.org/officeDocument/2006/relationships/hyperlink" Target="https://github.com/router-for-me/CLIProxyAPI" TargetMode="External"/><Relationship Id="rId2" Type="http://schemas.openxmlformats.org/officeDocument/2006/relationships/hyperlink" Target="https://github.com/yetone/magpie" TargetMode="External"/><Relationship Id="rId15" Type="http://schemas.openxmlformats.org/officeDocument/2006/relationships/notesSlide" Target="../notesSlides/notesSlide126.xml"/><Relationship Id="rId14" Type="http://schemas.openxmlformats.org/officeDocument/2006/relationships/slideLayout" Target="../slideLayouts/slideLayout7.xml"/><Relationship Id="rId13" Type="http://schemas.openxmlformats.org/officeDocument/2006/relationships/hyperlink" Target="https://github.com/clarithromycine/ad-auto" TargetMode="External"/><Relationship Id="rId12" Type="http://schemas.openxmlformats.org/officeDocument/2006/relationships/hyperlink" Target="https://bbs.kanxue.com/thread-255826.htm" TargetMode="External"/><Relationship Id="rId11" Type="http://schemas.openxmlformats.org/officeDocument/2006/relationships/hyperlink" Target="https://mumu.163.com/help/20210913/35047_971679.html" TargetMode="External"/><Relationship Id="rId10" Type="http://schemas.openxmlformats.org/officeDocument/2006/relationships/hyperlink" Target="http://smartcost.com.cn/" TargetMode="External"/><Relationship Id="rId1" Type="http://schemas.openxmlformats.org/officeDocument/2006/relationships/hyperlink" Target="&#37197;&#22871;46/&#26469;&#28304;&#32034;&#24341;.html#slide-130" TargetMode="External"/></Relationships>
</file>

<file path=ppt/slides/_rels/slide1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7.xml"/><Relationship Id="rId5" Type="http://schemas.openxmlformats.org/officeDocument/2006/relationships/slideLayout" Target="../slideLayouts/slideLayout7.xml"/><Relationship Id="rId4" Type="http://schemas.openxmlformats.org/officeDocument/2006/relationships/slide" Target="slide19.xml"/><Relationship Id="rId3" Type="http://schemas.openxmlformats.org/officeDocument/2006/relationships/image" Target="../media/image100.png"/><Relationship Id="rId2" Type="http://schemas.microsoft.com/office/2007/relationships/media" Target="../media/media5.mp4"/><Relationship Id="rId1" Type="http://schemas.openxmlformats.org/officeDocument/2006/relationships/video" Target="../media/media5.mp4"/></Relationships>
</file>

<file path=ppt/slides/_rels/slide1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8.xml"/><Relationship Id="rId5" Type="http://schemas.openxmlformats.org/officeDocument/2006/relationships/slideLayout" Target="../slideLayouts/slideLayout7.xml"/><Relationship Id="rId4" Type="http://schemas.openxmlformats.org/officeDocument/2006/relationships/slide" Target="slide19.xml"/><Relationship Id="rId3" Type="http://schemas.openxmlformats.org/officeDocument/2006/relationships/image" Target="../media/image101.png"/><Relationship Id="rId2" Type="http://schemas.microsoft.com/office/2007/relationships/media" Target="../media/media6.mp4"/><Relationship Id="rId1" Type="http://schemas.openxmlformats.org/officeDocument/2006/relationships/video" Target="../media/media6.mp4"/></Relationships>
</file>

<file path=ppt/slides/_rels/slide1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9.xml"/><Relationship Id="rId5" Type="http://schemas.openxmlformats.org/officeDocument/2006/relationships/slideLayout" Target="../slideLayouts/slideLayout7.xml"/><Relationship Id="rId4" Type="http://schemas.openxmlformats.org/officeDocument/2006/relationships/slide" Target="slide19.xml"/><Relationship Id="rId3" Type="http://schemas.openxmlformats.org/officeDocument/2006/relationships/image" Target="../media/image102.png"/><Relationship Id="rId2" Type="http://schemas.microsoft.com/office/2007/relationships/media" Target="../media/media7.mp4"/><Relationship Id="rId1" Type="http://schemas.openxmlformats.org/officeDocument/2006/relationships/video" Target="../media/media7.mp4"/></Relationships>
</file>

<file path=ppt/slides/_rels/slide1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0.xml"/><Relationship Id="rId5" Type="http://schemas.openxmlformats.org/officeDocument/2006/relationships/slideLayout" Target="../slideLayouts/slideLayout7.xml"/><Relationship Id="rId4" Type="http://schemas.openxmlformats.org/officeDocument/2006/relationships/slide" Target="slide19.xml"/><Relationship Id="rId3" Type="http://schemas.openxmlformats.org/officeDocument/2006/relationships/image" Target="../media/image103.png"/><Relationship Id="rId2" Type="http://schemas.microsoft.com/office/2007/relationships/media" Target="../media/media8.mp4"/><Relationship Id="rId1" Type="http://schemas.openxmlformats.org/officeDocument/2006/relationships/video" Target="../media/media8.mp4"/></Relationships>
</file>

<file path=ppt/slides/_rels/slide13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1.xml"/><Relationship Id="rId5" Type="http://schemas.openxmlformats.org/officeDocument/2006/relationships/slideLayout" Target="../slideLayouts/slideLayout7.xml"/><Relationship Id="rId4" Type="http://schemas.openxmlformats.org/officeDocument/2006/relationships/slide" Target="slide19.xml"/><Relationship Id="rId3" Type="http://schemas.openxmlformats.org/officeDocument/2006/relationships/image" Target="../media/image104.png"/><Relationship Id="rId2" Type="http://schemas.microsoft.com/office/2007/relationships/media" Target="../media/media9.mp4"/><Relationship Id="rId1" Type="http://schemas.openxmlformats.org/officeDocument/2006/relationships/video" Target="../media/media9.mp4"/></Relationships>
</file>

<file path=ppt/slides/_rels/slide1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2.xml"/><Relationship Id="rId5" Type="http://schemas.openxmlformats.org/officeDocument/2006/relationships/slideLayout" Target="../slideLayouts/slideLayout7.xml"/><Relationship Id="rId4" Type="http://schemas.openxmlformats.org/officeDocument/2006/relationships/slide" Target="slide19.xml"/><Relationship Id="rId3" Type="http://schemas.openxmlformats.org/officeDocument/2006/relationships/image" Target="../media/image105.png"/><Relationship Id="rId2" Type="http://schemas.microsoft.com/office/2007/relationships/media" Target="../media/media10.mp4"/><Relationship Id="rId1" Type="http://schemas.openxmlformats.org/officeDocument/2006/relationships/video" Target="../media/media10.mp4"/></Relationships>
</file>

<file path=ppt/slides/_rels/slide1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3.xml"/><Relationship Id="rId5" Type="http://schemas.openxmlformats.org/officeDocument/2006/relationships/slideLayout" Target="../slideLayouts/slideLayout7.xml"/><Relationship Id="rId4" Type="http://schemas.openxmlformats.org/officeDocument/2006/relationships/slide" Target="slide19.xml"/><Relationship Id="rId3" Type="http://schemas.openxmlformats.org/officeDocument/2006/relationships/image" Target="../media/image106.png"/><Relationship Id="rId2" Type="http://schemas.microsoft.com/office/2007/relationships/media" Target="../media/media11.mp4"/><Relationship Id="rId1" Type="http://schemas.openxmlformats.org/officeDocument/2006/relationships/video" Target="../media/media11.mp4"/></Relationships>
</file>

<file path=ppt/slides/_rels/slide1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4.xml"/><Relationship Id="rId5" Type="http://schemas.openxmlformats.org/officeDocument/2006/relationships/slideLayout" Target="../slideLayouts/slideLayout7.xml"/><Relationship Id="rId4" Type="http://schemas.openxmlformats.org/officeDocument/2006/relationships/slide" Target="slide19.xml"/><Relationship Id="rId3" Type="http://schemas.openxmlformats.org/officeDocument/2006/relationships/image" Target="../media/image107.png"/><Relationship Id="rId2" Type="http://schemas.microsoft.com/office/2007/relationships/media" Target="../media/media12.mp4"/><Relationship Id="rId1" Type="http://schemas.openxmlformats.org/officeDocument/2006/relationships/video" Target="../media/media12.mp4"/></Relationships>
</file>

<file path=ppt/slides/_rels/slide1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5.xml"/><Relationship Id="rId5" Type="http://schemas.openxmlformats.org/officeDocument/2006/relationships/slideLayout" Target="../slideLayouts/slideLayout7.xml"/><Relationship Id="rId4" Type="http://schemas.openxmlformats.org/officeDocument/2006/relationships/slide" Target="slide19.xml"/><Relationship Id="rId3" Type="http://schemas.openxmlformats.org/officeDocument/2006/relationships/image" Target="../media/image108.png"/><Relationship Id="rId2" Type="http://schemas.microsoft.com/office/2007/relationships/media" Target="../media/media13.mp4"/><Relationship Id="rId1" Type="http://schemas.openxmlformats.org/officeDocument/2006/relationships/video" Target="../media/media13.mp4"/></Relationships>
</file>

<file path=ppt/slides/_rels/slide14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6.xml"/><Relationship Id="rId5" Type="http://schemas.openxmlformats.org/officeDocument/2006/relationships/slideLayout" Target="../slideLayouts/slideLayout7.xml"/><Relationship Id="rId4" Type="http://schemas.openxmlformats.org/officeDocument/2006/relationships/slide" Target="slide19.xml"/><Relationship Id="rId3" Type="http://schemas.openxmlformats.org/officeDocument/2006/relationships/image" Target="../media/image109.png"/><Relationship Id="rId2" Type="http://schemas.microsoft.com/office/2007/relationships/media" Target="../media/media14.mp4"/><Relationship Id="rId1" Type="http://schemas.openxmlformats.org/officeDocument/2006/relationships/video" Target="../media/media14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9" name="Picture 18" descr="poster_fa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2095" y="0"/>
            <a:ext cx="8229600" cy="274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工作常用 AI 的使用观察  ·  2026 年 10 月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交流分享</a:t>
            </a:r>
            <a:endParaRPr sz="6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从原理到实践</a:t>
            </a:r>
            <a:endParaRPr sz="3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三个真实测试：AI 能做到哪一步，哪里会出错，哪些地方必须人来核</a:t>
            </a:r>
            <a:endParaRPr sz="19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4069080"/>
            <a:ext cx="33375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8" name="Picture 7" descr="pelican-crop.png"/>
          <p:cNvPicPr>
            <a:picLocks noChangeAspect="1"/>
          </p:cNvPicPr>
          <p:nvPr/>
        </p:nvPicPr>
        <p:blipFill>
          <a:blip r:embed="rId2"/>
          <a:srcRect l="5937" r="5937"/>
          <a:stretch>
            <a:fillRect/>
          </a:stretch>
        </p:blipFill>
        <p:spPr>
          <a:xfrm>
            <a:off x="877824" y="4123944"/>
            <a:ext cx="3227832" cy="1764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0167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动画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20240" y="601675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EB9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同一句提示词，十份结果</a:t>
            </a:r>
            <a:endParaRPr sz="1400" b="0" i="0">
              <a:solidFill>
                <a:srgbClr val="AEB9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34840" y="4069080"/>
            <a:ext cx="33375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2" name="Picture 11" descr="drawing-crop.png"/>
          <p:cNvPicPr>
            <a:picLocks noChangeAspect="1"/>
          </p:cNvPicPr>
          <p:nvPr/>
        </p:nvPicPr>
        <p:blipFill>
          <a:blip r:embed="rId3"/>
          <a:srcRect l="4590" r="4590"/>
          <a:stretch>
            <a:fillRect/>
          </a:stretch>
        </p:blipFill>
        <p:spPr>
          <a:xfrm>
            <a:off x="4489704" y="4123944"/>
            <a:ext cx="3227832" cy="17647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34840" y="60167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图纸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32120" y="601675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EB9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十个配置审同一张图</a:t>
            </a:r>
            <a:endParaRPr sz="1400" b="0" i="0">
              <a:solidFill>
                <a:srgbClr val="AEB9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46720" y="4069080"/>
            <a:ext cx="33375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6" name="Picture 15" descr="report-crop.png"/>
          <p:cNvPicPr>
            <a:picLocks noChangeAspect="1"/>
          </p:cNvPicPr>
          <p:nvPr/>
        </p:nvPicPr>
        <p:blipFill>
          <a:blip r:embed="rId4"/>
          <a:srcRect t="4425" b="17702"/>
          <a:stretch>
            <a:fillRect/>
          </a:stretch>
        </p:blipFill>
        <p:spPr>
          <a:xfrm>
            <a:off x="8101584" y="4123944"/>
            <a:ext cx="3227832" cy="17647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46720" y="60167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报告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0" y="601675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EB9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四个配置写修编报告</a:t>
            </a:r>
            <a:endParaRPr sz="1400" b="0" i="0">
              <a:solidFill>
                <a:srgbClr val="AEB9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teaser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</a:rPr>
              <a:t>开场 · 先看两个结果</a:t>
            </a:r>
            <a:endParaRPr sz="1600" b="1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交付物越像样，越要知道它会在哪里错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2331720"/>
            <a:ext cx="5120640" cy="315468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5120640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606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</a:rPr>
              <a:t>案例一 · 十个配置审同一张挡块图纸</a:t>
            </a:r>
            <a:endParaRPr sz="1600" b="1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09360" y="2331720"/>
            <a:ext cx="5120640" cy="315468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331720"/>
            <a:ext cx="5120640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606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</a:rPr>
              <a:t>案例二 · 四个配置写同一份修编报告</a:t>
            </a:r>
            <a:endParaRPr sz="1600" b="1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</a:rPr>
              <a:t>今天围绕真实交付，讨论怎么选配置、交代任务和检查结果。</a:t>
            </a:r>
            <a:endParaRPr sz="2000" b="1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188720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1627632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2066543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2DD4B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2505456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944368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3383280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822191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4261104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4700016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5138928" y="3063240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33415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188720" y="3502152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7FD8CB"/>
                </a:solidFill>
                <a:latin typeface="微软雅黑" panose="020B0503020204020204" charset="-122"/>
                <a:ea typeface="微软雅黑" panose="020B0503020204020204" charset="-122"/>
              </a:rPr>
              <a:t>Opus  GPT  Qwen</a:t>
            </a:r>
            <a:endParaRPr sz="1050" b="1">
              <a:solidFill>
                <a:srgbClr val="7FD8C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88720" y="3822191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 个配置，</a:t>
            </a:r>
            <a:r>
              <a:rPr sz="17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3 个</a:t>
            </a: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找到关键问题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188720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333195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477670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1622145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1766620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911095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2055571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2200046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2344521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2488996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2633472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2777947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2922422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3066897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3211372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3355848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3500323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3644798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3789273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933748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4078224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4222699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4367174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4511649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4656124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4800600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4945075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5089550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5234025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5378500" y="4443984"/>
            <a:ext cx="100584" cy="182880"/>
          </a:xfrm>
          <a:prstGeom prst="roundRect">
            <a:avLst>
              <a:gd name="adj" fmla="val 30000"/>
            </a:avLst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188720" y="4736592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另有 </a:t>
            </a:r>
            <a:r>
              <a:rPr sz="1300" b="1">
                <a:solidFill>
                  <a:srgbClr val="F59E6B"/>
                </a:solidFill>
                <a:latin typeface="微软雅黑" panose="020B0503020204020204" charset="-122"/>
                <a:ea typeface="微软雅黑" panose="020B0503020204020204" charset="-122"/>
              </a:rPr>
              <a:t>30 条假错误</a:t>
            </a:r>
            <a:r>
              <a:rPr sz="1300" b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：说得具体，和原图对不上</a:t>
            </a:r>
            <a:endParaRPr sz="1300" b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6675120" y="3017520"/>
            <a:ext cx="868680" cy="10972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6803136" y="3182112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803136" y="3337560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6803136" y="3493008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6803136" y="3648456"/>
            <a:ext cx="3840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6958583" y="3813048"/>
            <a:ext cx="292608" cy="29260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537959" y="4187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7FD8CB"/>
                </a:solidFill>
                <a:latin typeface="微软雅黑" panose="020B0503020204020204" charset="-122"/>
                <a:ea typeface="微软雅黑" panose="020B0503020204020204" charset="-122"/>
              </a:rPr>
              <a:t>Opus</a:t>
            </a:r>
            <a:endParaRPr sz="1050" b="1">
              <a:solidFill>
                <a:srgbClr val="7FD8C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7790688" y="3017520"/>
            <a:ext cx="868680" cy="10972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7918704" y="3182112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7918704" y="3337560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7918704" y="3493008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7918704" y="3648456"/>
            <a:ext cx="3840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8074152" y="3813048"/>
            <a:ext cx="292608" cy="29260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653527" y="4187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7FD8CB"/>
                </a:solidFill>
                <a:latin typeface="微软雅黑" panose="020B0503020204020204" charset="-122"/>
                <a:ea typeface="微软雅黑" panose="020B0503020204020204" charset="-122"/>
              </a:rPr>
              <a:t>Trae</a:t>
            </a:r>
            <a:endParaRPr sz="1050" b="1">
              <a:solidFill>
                <a:srgbClr val="7FD8C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8906256" y="3017520"/>
            <a:ext cx="868680" cy="1097280"/>
          </a:xfrm>
          <a:prstGeom prst="rect">
            <a:avLst/>
          </a:prstGeom>
          <a:solidFill>
            <a:srgbClr val="EEF2F7"/>
          </a:solidFill>
          <a:ln w="28575">
            <a:solidFill>
              <a:srgbClr val="D962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9034272" y="3182112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9034272" y="3337560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9034272" y="3493008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9034272" y="3648456"/>
            <a:ext cx="3840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9189720" y="3813048"/>
            <a:ext cx="292608" cy="29260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!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769096" y="4187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59E6B"/>
                </a:solidFill>
                <a:latin typeface="微软雅黑" panose="020B0503020204020204" charset="-122"/>
                <a:ea typeface="微软雅黑" panose="020B0503020204020204" charset="-122"/>
              </a:rPr>
              <a:t>WorkBuddy</a:t>
            </a:r>
            <a:endParaRPr sz="1050" b="1">
              <a:solidFill>
                <a:srgbClr val="F59E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0021824" y="3017520"/>
            <a:ext cx="868680" cy="10972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10149840" y="3182112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10149840" y="3337560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10149840" y="3493008"/>
            <a:ext cx="6126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10149840" y="3648456"/>
            <a:ext cx="384048" cy="54864"/>
          </a:xfrm>
          <a:prstGeom prst="rect">
            <a:avLst/>
          </a:prstGeom>
          <a:solidFill>
            <a:srgbClr val="B8C2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10305288" y="3813048"/>
            <a:ext cx="292608" cy="29260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9884664" y="4187952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7FD8CB"/>
                </a:solidFill>
                <a:latin typeface="微软雅黑" panose="020B0503020204020204" charset="-122"/>
                <a:ea typeface="微软雅黑" panose="020B0503020204020204" charset="-122"/>
              </a:rPr>
              <a:t>DeepSeek</a:t>
            </a:r>
            <a:endParaRPr sz="1050" b="1">
              <a:solidFill>
                <a:srgbClr val="7FD8C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675120" y="452628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四份都生成了报告，问题藏在细节里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75120" y="4956048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总额写成 41638.89（应为 41,638.9336 万元）；承建单位照抄旧标段</a:t>
            </a:r>
            <a:endParaRPr sz="1200" b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开场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工作任务：配置、任务书与结果检查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每件事都由一个真实测试引出：先看它错在哪，再讲怎么防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来源：本地分享材料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48640" y="2075688"/>
            <a:ext cx="512064" cy="51206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34440" y="201168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选配置</a:t>
            </a:r>
            <a:endParaRPr sz="2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模型、客户端、设置一起看</a:t>
            </a:r>
            <a:endParaRPr sz="14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3063240" y="2331720"/>
            <a:ext cx="1005840" cy="0"/>
          </a:xfrm>
          <a:prstGeom prst="line">
            <a:avLst/>
          </a:prstGeom>
          <a:ln w="19050">
            <a:solidFill>
              <a:srgbClr val="B8C2D3"/>
            </a:solidFill>
            <a:tailEnd type="triangle" w="med" len="med"/>
          </a:ln>
        </p:spPr>
      </p:cxn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rcRect l="5937" r="5937"/>
          <a:stretch>
            <a:fillRect/>
          </a:stretch>
        </p:blipFill>
        <p:spPr>
          <a:xfrm>
            <a:off x="548640" y="3273552"/>
            <a:ext cx="3520440" cy="1924773"/>
          </a:xfrm>
          <a:prstGeom prst="rect">
            <a:avLst/>
          </a:prstGeom>
          <a:ln w="9525">
            <a:solidFill>
              <a:srgbClr val="D9D6CE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548640" y="528523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测试  </a:t>
            </a:r>
            <a:r>
              <a:rPr sz="12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鹈鹕动画</a:t>
            </a:r>
            <a:r>
              <a:rPr sz="12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  同一句话，十种结果</a:t>
            </a:r>
            <a:endParaRPr sz="12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315968" y="2075688"/>
            <a:ext cx="512064" cy="512064"/>
          </a:xfrm>
          <a:prstGeom prst="ellipse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01768" y="201168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交代任务</a:t>
            </a:r>
            <a:endParaRPr sz="2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15968" y="278892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目标、材料、边界、交付物</a:t>
            </a:r>
            <a:endParaRPr sz="14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6830568" y="2331720"/>
            <a:ext cx="1005840" cy="0"/>
          </a:xfrm>
          <a:prstGeom prst="line">
            <a:avLst/>
          </a:prstGeom>
          <a:ln w="19050">
            <a:solidFill>
              <a:srgbClr val="B8C2D3"/>
            </a:solidFill>
            <a:tailEnd type="triangle" w="med" len="med"/>
          </a:ln>
        </p:spPr>
      </p:cxn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rcRect t="4425" b="17702"/>
          <a:stretch>
            <a:fillRect/>
          </a:stretch>
        </p:blipFill>
        <p:spPr>
          <a:xfrm>
            <a:off x="4315968" y="3273552"/>
            <a:ext cx="3520440" cy="1924773"/>
          </a:xfrm>
          <a:prstGeom prst="rect">
            <a:avLst/>
          </a:prstGeom>
          <a:ln w="9525">
            <a:solidFill>
              <a:srgbClr val="D9D6CE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4315968" y="528523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测试  </a:t>
            </a:r>
            <a:r>
              <a:rPr sz="12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修编报告</a:t>
            </a:r>
            <a:r>
              <a:rPr sz="12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  材料给全了，交付能用吗</a:t>
            </a:r>
            <a:endParaRPr sz="12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083296" y="2075688"/>
            <a:ext cx="512064" cy="512064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69096" y="2011680"/>
            <a:ext cx="2926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检查结果</a:t>
            </a:r>
            <a:endParaRPr sz="2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83296" y="2788920"/>
            <a:ext cx="3520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回原文、重算、打开文件</a:t>
            </a:r>
            <a:endParaRPr sz="14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rcRect l="4590" r="4590"/>
          <a:stretch>
            <a:fillRect/>
          </a:stretch>
        </p:blipFill>
        <p:spPr>
          <a:xfrm>
            <a:off x="8083296" y="3273552"/>
            <a:ext cx="3520440" cy="1924773"/>
          </a:xfrm>
          <a:prstGeom prst="rect">
            <a:avLst/>
          </a:prstGeom>
          <a:ln w="9525">
            <a:solidFill>
              <a:srgbClr val="D9D6CE"/>
            </a:solidFill>
          </a:ln>
        </p:spPr>
      </p:pic>
      <p:sp>
        <p:nvSpPr>
          <p:cNvPr id="26" name="TextBox 25"/>
          <p:cNvSpPr txBox="1"/>
          <p:nvPr/>
        </p:nvSpPr>
        <p:spPr>
          <a:xfrm>
            <a:off x="8083296" y="5285232"/>
            <a:ext cx="3520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测试  </a:t>
            </a:r>
            <a:r>
              <a:rPr sz="12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图纸审查</a:t>
            </a:r>
            <a:r>
              <a:rPr sz="12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  找到真问题，也报了假错误</a:t>
            </a:r>
            <a:endParaRPr sz="12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先讲原理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先讲它为什么会出这些错，再讲怎么防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开场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分享分四部分，附录收细节与出处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来源：本地分享材料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>
            <a:hlinkClick r:id="rId2" action="ppaction://hlinksldjump"/>
          </p:cNvPr>
          <p:cNvSpPr txBox="1"/>
          <p:nvPr/>
        </p:nvSpPr>
        <p:spPr>
          <a:xfrm>
            <a:off x="1828800" y="1691640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 AI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69080" y="1691640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五个短板与它们的原理成因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624328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624328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>
            <a:hlinkClick r:id="rId3" action="ppaction://hlinksldjump"/>
          </p:cNvPr>
          <p:cNvSpPr txBox="1"/>
          <p:nvPr/>
        </p:nvSpPr>
        <p:spPr>
          <a:xfrm>
            <a:off x="1828800" y="2624328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模型与工具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69080" y="2624328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鹈鹕盲测、模型 × 外壳、榜单、各家脾气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557016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3557016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>
            <a:hlinkClick r:id="rId4" action="ppaction://hlinksldjump"/>
          </p:cNvPr>
          <p:cNvSpPr txBox="1"/>
          <p:nvPr/>
        </p:nvSpPr>
        <p:spPr>
          <a:xfrm>
            <a:off x="1828800" y="3557016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两个真实案例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69080" y="3557016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图纸审查（看图与 OCR）、报告原文对比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489704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489704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>
            <a:hlinkClick r:id="rId5" action="ppaction://hlinksldjump"/>
          </p:cNvPr>
          <p:cNvSpPr txBox="1"/>
          <p:nvPr/>
        </p:nvSpPr>
        <p:spPr>
          <a:xfrm>
            <a:off x="1828800" y="4489704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怎么用得稳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69080" y="4489704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三类活、任务书、上下文、资料库、工作流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503920" y="1691640"/>
            <a:ext cx="3136392" cy="360273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778240" y="19202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· 速查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78240" y="2423160"/>
            <a:ext cx="26517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常用术语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B 公司档案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C 订阅与开通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D 资讯与榜单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E 分享与工具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F 原理与历史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Z 参考资料与来源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>
            <a:hlinkClick r:id="rId6" action="ppaction://hlinksldjump"/>
          </p:cNvPr>
          <p:cNvSpPr txBox="1"/>
          <p:nvPr/>
        </p:nvSpPr>
        <p:spPr>
          <a:xfrm>
            <a:off x="8778240" y="48463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跳到附录 ›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8640" y="571500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417320" y="571500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配套文件夹里有原始 HTML、案例材料和来源索引，随时可翻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548640" y="573328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 AI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短板从哪里来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从生成、训练与输入机制认识五类常见风险，再用真实案例讨论如何检查。原理帮助理解风险，具体失误仍需证据。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19600" y="1835999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先看清五个短板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19600" y="22752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从例子里学规律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9600" y="2714399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 与注意力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19600" y="31536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训练与偏好反馈</a:t>
            </a:r>
            <a:endParaRPr sz="16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8319600" y="35928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 token 生成（动画）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8319600" y="40320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 · 幻觉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2"/>
          <p:cNvSpPr txBox="1"/>
          <p:nvPr/>
        </p:nvSpPr>
        <p:spPr>
          <a:xfrm>
            <a:off x="8319600" y="44712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迎合：顺着结论、顺着前提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0" y="5983200"/>
            <a:ext cx="356616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</a:rPr>
              <a:t>延伸阅读 → 附录 F 原理与历史</a:t>
            </a:r>
            <a:endParaRPr sz="1200" b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2"/>
          <p:cNvSpPr txBox="1"/>
          <p:nvPr/>
        </p:nvSpPr>
        <p:spPr>
          <a:xfrm>
            <a:off x="8319600" y="49104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上下文腐烂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2"/>
          <p:cNvSpPr txBox="1"/>
          <p:nvPr/>
        </p:nvSpPr>
        <p:spPr>
          <a:xfrm>
            <a:off x="8319600" y="5349600"/>
            <a:ext cx="34740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奖励黑客与工具性趋同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的五类常见风险与检查方法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来源：本部分各页来源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764000"/>
            <a:ext cx="11094415" cy="4320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764000"/>
            <a:ext cx="1650907" cy="43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92155" y="1764000"/>
            <a:ext cx="3393005" cy="43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68041" y="1764000"/>
            <a:ext cx="2567801" cy="43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相关机制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18722" y="1764000"/>
            <a:ext cx="2751180" cy="43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怎么防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800" y="2196000"/>
            <a:ext cx="1652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91200" y="2196000"/>
            <a:ext cx="3394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同一句话问两次，结果时好时坏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69600" y="2196000"/>
            <a:ext cx="2566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采样与推理实现差异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20000" y="2196000"/>
            <a:ext cx="2750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多跑几次，关键结论复核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196000"/>
            <a:ext cx="1109520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890800"/>
            <a:ext cx="11094415" cy="666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800" y="2890800"/>
            <a:ext cx="1652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91200" y="2890800"/>
            <a:ext cx="3394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编出不存在的条款、判例、数字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69600" y="2890800"/>
            <a:ext cx="2566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生成目标不保证事实正确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20000" y="2890800"/>
            <a:ext cx="2750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要出处，回原文核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48640" y="2890800"/>
            <a:ext cx="1109520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58800" y="3585600"/>
            <a:ext cx="1652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91200" y="3585600"/>
            <a:ext cx="3394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你说有错它就找错；你给的前提它照用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69600" y="3585600"/>
            <a:ext cx="2566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偏好信号可能强化附和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20000" y="3585600"/>
            <a:ext cx="2750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开放提问，先让它复述口径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48640" y="3585600"/>
            <a:ext cx="1109520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548640" y="4280400"/>
            <a:ext cx="11094415" cy="666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8800" y="4280400"/>
            <a:ext cx="1652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上下文腐烂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91200" y="4280400"/>
            <a:ext cx="3394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聊久了忘要求、漏信息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69600" y="4280400"/>
            <a:ext cx="2566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长度、位置与干扰信息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20000" y="4280400"/>
            <a:ext cx="2750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精简材料，交接关键要求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280400"/>
            <a:ext cx="1109520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548640" y="5778000"/>
            <a:ext cx="9144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417320" y="5778000"/>
            <a:ext cx="10225735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这些机制提示风险，并不决定每次结果；具体问题要回到输入、过程和证据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w5Zebra"/>
          <p:cNvSpPr/>
          <p:nvPr/>
        </p:nvSpPr>
        <p:spPr>
          <a:xfrm>
            <a:off x="547200" y="4975200"/>
            <a:ext cx="11095200" cy="6660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w5_1.83"/>
          <p:cNvSpPr txBox="1"/>
          <p:nvPr/>
        </p:nvSpPr>
        <p:spPr>
          <a:xfrm>
            <a:off x="658800" y="4975200"/>
            <a:ext cx="1652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奖励黑客</a:t>
            </a:r>
            <a:endParaRPr sz="17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w5_6.92"/>
          <p:cNvSpPr txBox="1"/>
          <p:nvPr/>
        </p:nvSpPr>
        <p:spPr>
          <a:xfrm>
            <a:off x="2491200" y="4975200"/>
            <a:ext cx="3394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钻空子、走捷径、多要权限</a:t>
            </a:r>
            <a:endParaRPr sz="17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w5_16.86"/>
          <p:cNvSpPr txBox="1"/>
          <p:nvPr/>
        </p:nvSpPr>
        <p:spPr>
          <a:xfrm>
            <a:off x="6069600" y="4975200"/>
            <a:ext cx="25668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代理指标偏离真实目标</a:t>
            </a:r>
            <a:endParaRPr sz="17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ow5_24.5"/>
          <p:cNvSpPr txBox="1"/>
          <p:nvPr/>
        </p:nvSpPr>
        <p:spPr>
          <a:xfrm>
            <a:off x="8820000" y="4975200"/>
            <a:ext cx="2750400" cy="66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写清红线，过程也要查</a:t>
            </a:r>
            <a:endParaRPr sz="17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79628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怎么学：从例子里找规律，再用规律猜新情况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语言模型通过预测 token 学习统计规律，后续训练改善指令遵循；生成流畅仍不保证事实正确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来源：学习关系示意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874519"/>
          <a:ext cx="65836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589520" y="196596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19659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0" y="242316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调整参数，让预测更接近已有答案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0" y="315468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0" y="31546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361188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用学到的参数，算新的输入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89520" y="43434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21040" y="4343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21040" y="480060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材料、工况变了，规律可能失效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拟合得好，不等于懂了因果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5349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图中数值仅作概念示意，不代表任何工程系数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Transformer：注意力按相关性组合上下文信息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权重表示不同位置的信息贡献；长文本表现还受位置、干扰和模型训练等因素影响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来源：S33；注意力权重为示意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47548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示意中“清单”的权重较高；注意力权重不等于指代判断的概率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549640" y="1874519"/>
            <a:ext cx="3090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549640" y="1874519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778240" y="194767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训练可并行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778240" y="2331720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训练可并行处理已知序列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549640" y="2898648"/>
            <a:ext cx="3090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8549640" y="2898648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778240" y="29718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远距离关联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778240" y="3355848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可关联远处信息，仍需实测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549640" y="3922776"/>
            <a:ext cx="3090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549640" y="3922776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778240" y="39959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叠很多层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778240" y="4379976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一层层提炼更抽象的关系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窗口越长，要顾及的内容越多；关键信息能不能被稳定用上，只能实测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1" name="attn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783080"/>
            <a:ext cx="7863840" cy="2926080"/>
          </a:xfrm>
          <a:prstGeom prst="rect">
            <a:avLst/>
          </a:prstGeom>
        </p:spPr>
      </p:pic>
      <p:cxnSp>
        <p:nvCxnSpPr>
          <p:cNvPr id="52" name="Connector 51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0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1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语言模型训练：预训练、示范学习与反馈优化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来源：Ouyang 等（InstructGPT，2022）；训练阶段为简化解释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20440" cy="73152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114800" y="2057400"/>
            <a:ext cx="164592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学通用模式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3154680"/>
            <a:ext cx="3520440" cy="105156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能改善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语言、知识模式和通用能力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3520440" cy="105156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保证不了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事实一直正确、实时更新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15968" y="1828800"/>
            <a:ext cx="3520440" cy="7315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315968" y="182880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监督微调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hevron 20"/>
          <p:cNvSpPr/>
          <p:nvPr/>
        </p:nvSpPr>
        <p:spPr>
          <a:xfrm>
            <a:off x="7882127" y="2057400"/>
            <a:ext cx="164592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26517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学示范回答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15968" y="3154680"/>
            <a:ext cx="3520440" cy="105156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44568" y="3200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能改善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44568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听指令、格式与表达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315968" y="4297680"/>
            <a:ext cx="3520440" cy="105156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44568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保证不了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44568" y="4663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每个专业判断都有依据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83296" y="1828800"/>
            <a:ext cx="3520440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083296" y="182880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偏好优化 / 强化学习等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83296" y="26517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按反馈调整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083296" y="3154680"/>
            <a:ext cx="3520440" cy="105156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11896" y="3200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能改善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11896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更有用、推理更好、部分安全行为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083296" y="4297680"/>
            <a:ext cx="3520440" cy="105156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11896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保证不了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11896" y="4663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偏好评分与事实正确始终一致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偏好反馈可以改善回答，也可能强化附和用户的倾向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7200" y="1371600"/>
            <a:ext cx="11095200" cy="36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这是简化的训练框架；各模型流程不同，不能把迎合归结为唯一训练步骤</a:t>
            </a:r>
            <a:endParaRPr sz="17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 token 生成：回答是一步一步猜出来的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来源：生成过程示意；概率为示意数字，不是某个模型的真实输出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566928"/>
          </a:xfrm>
          <a:prstGeom prst="roundRect">
            <a:avLst>
              <a:gd name="adj" fmla="val 15000"/>
            </a:avLst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提问  </a:t>
            </a:r>
            <a:r>
              <a:rPr sz="18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用一句话说说什么是工程量清单</a:t>
            </a:r>
            <a:endParaRPr sz="18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176272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63040" y="2176272"/>
            <a:ext cx="10180015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48640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85800" y="3703320"/>
            <a:ext cx="669099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工程量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55%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1792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51960"/>
            <a:ext cx="24330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792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85800" y="4800600"/>
            <a:ext cx="145985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5800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12%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1792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85800" y="5349240"/>
            <a:ext cx="97323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0200" y="2176272"/>
            <a:ext cx="917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工程量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149231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149231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222383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2286391" y="3703320"/>
            <a:ext cx="985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286391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81%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222383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286391" y="425196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286391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2222383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2286391" y="4800600"/>
            <a:ext cx="60827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286391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5%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222383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286391" y="5349240"/>
            <a:ext cx="36576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286391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3%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471928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749823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749823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3822975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3886983" y="3703320"/>
            <a:ext cx="900242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886983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74%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822975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886983" y="4251960"/>
            <a:ext cx="18248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886983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就是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15%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822975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3886983" y="4800600"/>
            <a:ext cx="8515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3886983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7%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822975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3886983" y="5349240"/>
            <a:ext cx="36576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886983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089655" y="2176272"/>
            <a:ext cx="409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350415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5350415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4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5423567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5487575" y="3703320"/>
            <a:ext cx="462286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487575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列明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38%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5423567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5487575" y="4251960"/>
            <a:ext cx="377128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487575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招标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31%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423567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5487575" y="4800600"/>
            <a:ext cx="218977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5487575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计价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5423567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5487575" y="534924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5487575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一份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453383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招标</a:t>
            </a:r>
            <a:endParaRPr sz="2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258975" y="5596128"/>
            <a:ext cx="29539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没选最高的：按概率抽中第二名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951007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6951007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5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7024159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7088167" y="3703320"/>
            <a:ext cx="754257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088167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62%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7024159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7088167" y="4251960"/>
            <a:ext cx="24330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7088167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7024159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088167" y="480060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088167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7024159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7088167" y="5349240"/>
            <a:ext cx="4866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7088167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071111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551599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8551599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6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8624751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8688759" y="3703320"/>
            <a:ext cx="69343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8688759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57%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8624751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8688759" y="4251960"/>
            <a:ext cx="304135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8688759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25%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8624751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8688759" y="4800600"/>
            <a:ext cx="121654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8688759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10%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8624751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8688759" y="5349240"/>
            <a:ext cx="4866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8688759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688840" y="2176272"/>
            <a:ext cx="409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10152191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10152191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7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10225343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0289351" y="3703320"/>
            <a:ext cx="802918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10289351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列明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66%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10225343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0289351" y="4251960"/>
            <a:ext cx="218977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10289351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写明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10225343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0289351" y="480060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10289351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规定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10225343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10289351" y="5349240"/>
            <a:ext cx="4866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0289351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5052568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列明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5670295" y="217627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工程数量的表……（直到生成结束）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1" name="TextBox 340"/>
          <p:cNvSpPr txBox="1"/>
          <p:nvPr/>
        </p:nvSpPr>
        <p:spPr>
          <a:xfrm>
            <a:off x="548640" y="594360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2" name="TextBox 341"/>
          <p:cNvSpPr txBox="1"/>
          <p:nvPr/>
        </p:nvSpPr>
        <p:spPr>
          <a:xfrm>
            <a:off x="1417320" y="5943600"/>
            <a:ext cx="1022573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 token 生成本身不保证查证；检索、工具与复核流程需要另外落实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3" name="Connector 342"/>
          <p:cNvCxnSpPr/>
          <p:nvPr/>
        </p:nvCxnSpPr>
        <p:spPr>
          <a:xfrm>
            <a:off x="548640" y="596188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3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3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3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3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3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3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3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3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3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3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3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3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3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3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3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3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3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3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3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3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3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3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3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3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3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3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3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3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3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3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3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3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3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3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3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抽卡：同一个问题，两次回答可能不同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采样会带来差异；即使温度为 0，推理实现与批次变化也可能影响结果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来源：Thinking Machines（2025-09-10）；本地鹈鹕测试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0350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0" name="Picture 9" descr="tm_co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13" y="2011680"/>
            <a:ext cx="583729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102352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左图为候选输出示意；右侧数据来自文中的另一组实验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0" y="1920240"/>
            <a:ext cx="4782312" cy="169164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0" y="2029968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Qwen3-235B 实验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0" y="2359152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温度为 0，运行 1000 次，得到 80 种回答。前 102 个 token 相同，随后出现分叉。</a:t>
            </a:r>
            <a:endParaRPr sz="17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0" y="3749039"/>
            <a:ext cx="4782312" cy="17830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086600" y="3886200"/>
            <a:ext cx="4325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工作里怎么办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86600" y="4297679"/>
            <a:ext cx="4370832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重要任务多跑两三次，对比着看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一次好、一次差都不能下结论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关键数字和结论，回原文核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后面的鹈鹕测试每个配置只跑了一次，只代表“这一次”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幻觉：材料里没有的，也能写得像真的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根源：逐 token 挑最像的续写；材料里没有时，它也会顺着往下写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来源：The Guardian（2023-06-23、2025-10-06）；本地图纸案例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3657600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0848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Guardian</a:t>
            </a: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2023-06-23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2004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美国律师用 ChatGPT 写诉状，引用了 6 个不存在的判例，被罚 5,000 美元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89120" y="1920240"/>
            <a:ext cx="3657600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17720" y="20848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Guardian</a:t>
            </a: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2025-10-06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17720" y="2377440"/>
            <a:ext cx="32004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德勤 44 万澳元的政府报告出现虚构文献和法院引语，退还部分费用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749807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我们的图纸案例里也有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4590288"/>
            <a:ext cx="7132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把公式里的“−9/sinβ”读成“3-9”，判“疑为 1-9 写错”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把剖面标注“13×9”读成“1349”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321040" y="1920240"/>
            <a:ext cx="3319272" cy="36118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49640" y="205740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怎么防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49640" y="2468880"/>
            <a:ext cx="2907791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允许它回答“材料不足”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每条结论要给出处：文件、页码、位置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数字、条款、引用，回原文核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越像真的越要核：流畅不代表正确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迎合（一）：顺着你的结论去找错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研究发现，偏好反馈可能奖励附和用户的回答；它是影响因素之一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来源：OpenAI（2025-04-29）；Anthropic，arXiv 2310.13548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86400" cy="2057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官方博客  2025-04-29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回滚 GPT-4o 的一次更新：模型变得“过度奉承、附和”。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官方解释：太看重用户的短期反馈（点赞）。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542239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研究（arXiv 2310.13548）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测了 5 个主流 AI 助手，4 类任务里都会讨好用户。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人和打分模型也常常更喜欢“写得漂亮的讨好回答”。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4160520"/>
            <a:ext cx="5394960" cy="13716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容易引出迎合的问法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“这张图肯定有问题，帮我找出来。”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7920" y="4160520"/>
            <a:ext cx="5422392" cy="13716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46520" y="42519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换一种问法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4590288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“请判断是否存在问题，没有问题也可以；每项写明位置和把握程度。”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不要在问题里替它下结论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来源：本地审核记录；Sharma 等《Towards Understanding Sycophancy in Language Models》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title"/>
          <p:cNvSpPr>
            <a:spLocks noGrp="1"/>
          </p:cNvSpPr>
          <p:nvPr/>
        </p:nvSpPr>
        <p:spPr>
          <a:xfrm>
            <a:off x="552450" y="78105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700" b="1">
                <a:solidFill>
                  <a:srgbClr val="14213D"/>
                </a:solidFill>
              </a:defRPr>
            </a:defPPr>
            <a:lvl1pPr>
              <a:defRPr sz="2700" b="1">
                <a:solidFill>
                  <a:srgbClr val="14213D"/>
                </a:solidFill>
              </a:defRPr>
            </a:lvl1pPr>
            <a:lvl2pPr>
              <a:defRPr sz="2700" b="1">
                <a:solidFill>
                  <a:srgbClr val="14213D"/>
                </a:solidFill>
              </a:defRPr>
            </a:lvl2pPr>
            <a:lvl3pPr>
              <a:defRPr sz="2700" b="1">
                <a:solidFill>
                  <a:srgbClr val="14213D"/>
                </a:solidFill>
              </a:defRPr>
            </a:lvl3pPr>
            <a:lvl4pPr>
              <a:defRPr sz="2700" b="1">
                <a:solidFill>
                  <a:srgbClr val="14213D"/>
                </a:solidFill>
              </a:defRPr>
            </a:lvl4pPr>
            <a:lvl5pPr>
              <a:defRPr sz="2700" b="1">
                <a:solidFill>
                  <a:srgbClr val="14213D"/>
                </a:solidFill>
              </a:defRPr>
            </a:lvl5pPr>
            <a:lvl6pPr>
              <a:defRPr sz="2700" b="1">
                <a:solidFill>
                  <a:srgbClr val="14213D"/>
                </a:solidFill>
              </a:defRPr>
            </a:lvl6pPr>
            <a:lvl7pPr>
              <a:defRPr sz="2700" b="1">
                <a:solidFill>
                  <a:srgbClr val="14213D"/>
                </a:solidFill>
              </a:defRPr>
            </a:lvl7pPr>
            <a:lvl8pPr>
              <a:defRPr sz="2700" b="1">
                <a:solidFill>
                  <a:srgbClr val="14213D"/>
                </a:solidFill>
              </a:defRPr>
            </a:lvl8pPr>
            <a:lvl9pPr>
              <a:defRPr sz="2700" b="1">
                <a:solidFill>
                  <a:srgbClr val="14213D"/>
                </a:solidFill>
              </a:defRPr>
            </a:lvl9pPr>
          </a:lstStyle>
          <a:p>
            <a:pPr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前提漏检：答对归属，仍可能漏掉表头问题</a:t>
            </a:r>
            <a:endParaRPr sz="2700" b="1">
              <a:solidFill>
                <a:srgbClr val="14213D"/>
              </a:solidFill>
            </a:endParaRPr>
          </a:p>
        </p:txBody>
      </p:sp>
      <p:sp>
        <p:nvSpPr>
          <p:cNvPr id="103" name="subtitle"/>
          <p:cNvSpPr>
            <a:spLocks noGrp="1"/>
          </p:cNvSpPr>
          <p:nvPr/>
        </p:nvSpPr>
        <p:spPr>
          <a:xfrm>
            <a:off x="552450" y="1371600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50" b="0">
                <a:solidFill>
                  <a:srgbClr val="687386"/>
                </a:solidFill>
              </a:defRPr>
            </a:defPPr>
            <a:lvl1pPr>
              <a:defRPr sz="1650" b="0">
                <a:solidFill>
                  <a:srgbClr val="687386"/>
                </a:solidFill>
              </a:defRPr>
            </a:lvl1pPr>
            <a:lvl2pPr>
              <a:defRPr sz="1650" b="0">
                <a:solidFill>
                  <a:srgbClr val="687386"/>
                </a:solidFill>
              </a:defRPr>
            </a:lvl2pPr>
            <a:lvl3pPr>
              <a:defRPr sz="1650" b="0">
                <a:solidFill>
                  <a:srgbClr val="687386"/>
                </a:solidFill>
              </a:defRPr>
            </a:lvl3pPr>
            <a:lvl4pPr>
              <a:defRPr sz="1650" b="0">
                <a:solidFill>
                  <a:srgbClr val="687386"/>
                </a:solidFill>
              </a:defRPr>
            </a:lvl4pPr>
            <a:lvl5pPr>
              <a:defRPr sz="1650" b="0">
                <a:solidFill>
                  <a:srgbClr val="687386"/>
                </a:solidFill>
              </a:defRPr>
            </a:lvl5pPr>
            <a:lvl6pPr>
              <a:defRPr sz="1650" b="0">
                <a:solidFill>
                  <a:srgbClr val="687386"/>
                </a:solidFill>
              </a:defRPr>
            </a:lvl6pPr>
            <a:lvl7pPr>
              <a:defRPr sz="1650" b="0">
                <a:solidFill>
                  <a:srgbClr val="687386"/>
                </a:solidFill>
              </a:defRPr>
            </a:lvl7pPr>
            <a:lvl8pPr>
              <a:defRPr sz="1650" b="0">
                <a:solidFill>
                  <a:srgbClr val="687386"/>
                </a:solidFill>
              </a:defRPr>
            </a:lvl8pPr>
            <a:lvl9pPr>
              <a:defRPr sz="1650" b="0">
                <a:solidFill>
                  <a:srgbClr val="687386"/>
                </a:solidFill>
              </a:defRPr>
            </a:lvl9pPr>
          </a:lstStyle>
          <a:p>
            <a:pPr>
              <a:defRPr sz="1650" b="0">
                <a:solidFill>
                  <a:srgbClr val="687386"/>
                </a:solidFill>
              </a:defRPr>
            </a:pPr>
            <a:r>
              <a:rPr sz="1650" b="0">
                <a:solidFill>
                  <a:srgbClr val="687386"/>
                </a:solidFill>
              </a:rPr>
              <a:t>本地审核案例：问题问了分类归属，检查没有覆盖字段与填报口径</a:t>
            </a:r>
            <a:endParaRPr sz="1650" b="0">
              <a:solidFill>
                <a:srgbClr val="687386"/>
              </a:solidFill>
            </a:endParaRPr>
          </a:p>
        </p:txBody>
      </p:sp>
      <p:sp>
        <p:nvSpPr>
          <p:cNvPr id="104" name="case-label"/>
          <p:cNvSpPr>
            <a:spLocks noGrp="1"/>
          </p:cNvSpPr>
          <p:nvPr/>
        </p:nvSpPr>
        <p:spPr>
          <a:xfrm>
            <a:off x="552450" y="1971675"/>
            <a:ext cx="5238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1">
                <a:solidFill>
                  <a:srgbClr val="0F766E"/>
                </a:solidFill>
              </a:defRPr>
            </a:defPPr>
            <a:lvl1pPr>
              <a:defRPr sz="1725" b="1">
                <a:solidFill>
                  <a:srgbClr val="0F766E"/>
                </a:solidFill>
              </a:defRPr>
            </a:lvl1pPr>
            <a:lvl2pPr>
              <a:defRPr sz="1725" b="1">
                <a:solidFill>
                  <a:srgbClr val="0F766E"/>
                </a:solidFill>
              </a:defRPr>
            </a:lvl2pPr>
            <a:lvl3pPr>
              <a:defRPr sz="1725" b="1">
                <a:solidFill>
                  <a:srgbClr val="0F766E"/>
                </a:solidFill>
              </a:defRPr>
            </a:lvl3pPr>
            <a:lvl4pPr>
              <a:defRPr sz="1725" b="1">
                <a:solidFill>
                  <a:srgbClr val="0F766E"/>
                </a:solidFill>
              </a:defRPr>
            </a:lvl4pPr>
            <a:lvl5pPr>
              <a:defRPr sz="1725" b="1">
                <a:solidFill>
                  <a:srgbClr val="0F766E"/>
                </a:solidFill>
              </a:defRPr>
            </a:lvl5pPr>
            <a:lvl6pPr>
              <a:defRPr sz="1725" b="1">
                <a:solidFill>
                  <a:srgbClr val="0F766E"/>
                </a:solidFill>
              </a:defRPr>
            </a:lvl6pPr>
            <a:lvl7pPr>
              <a:defRPr sz="1725" b="1">
                <a:solidFill>
                  <a:srgbClr val="0F766E"/>
                </a:solidFill>
              </a:defRPr>
            </a:lvl7pPr>
            <a:lvl8pPr>
              <a:defRPr sz="1725" b="1">
                <a:solidFill>
                  <a:srgbClr val="0F766E"/>
                </a:solidFill>
              </a:defRPr>
            </a:lvl8pPr>
            <a:lvl9pPr>
              <a:defRPr sz="1725" b="1">
                <a:solidFill>
                  <a:srgbClr val="0F766E"/>
                </a:solidFill>
              </a:defRPr>
            </a:lvl9pPr>
          </a:lstStyle>
          <a:p>
            <a:pPr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当时发生了什么</a:t>
            </a:r>
            <a:endParaRPr sz="1725" b="1">
              <a:solidFill>
                <a:srgbClr val="0F766E"/>
              </a:solidFill>
            </a:endParaRPr>
          </a:p>
        </p:txBody>
      </p:sp>
      <p:sp>
        <p:nvSpPr>
          <p:cNvPr id="105" name="case-1"/>
          <p:cNvSpPr>
            <a:spLocks noGrp="1"/>
          </p:cNvSpPr>
          <p:nvPr/>
        </p:nvSpPr>
        <p:spPr>
          <a:xfrm>
            <a:off x="552450" y="2457450"/>
            <a:ext cx="518160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14213D"/>
                </a:solidFill>
              </a:defRPr>
            </a:defPPr>
            <a:lvl1pPr>
              <a:defRPr sz="2025" b="1">
                <a:solidFill>
                  <a:srgbClr val="14213D"/>
                </a:solidFill>
              </a:defRPr>
            </a:lvl1pPr>
            <a:lvl2pPr>
              <a:defRPr sz="2025" b="1">
                <a:solidFill>
                  <a:srgbClr val="14213D"/>
                </a:solidFill>
              </a:defRPr>
            </a:lvl2pPr>
            <a:lvl3pPr>
              <a:defRPr sz="2025" b="1">
                <a:solidFill>
                  <a:srgbClr val="14213D"/>
                </a:solidFill>
              </a:defRPr>
            </a:lvl3pPr>
            <a:lvl4pPr>
              <a:defRPr sz="2025" b="1">
                <a:solidFill>
                  <a:srgbClr val="14213D"/>
                </a:solidFill>
              </a:defRPr>
            </a:lvl4pPr>
            <a:lvl5pPr>
              <a:defRPr sz="2025" b="1">
                <a:solidFill>
                  <a:srgbClr val="14213D"/>
                </a:solidFill>
              </a:defRPr>
            </a:lvl5pPr>
            <a:lvl6pPr>
              <a:defRPr sz="2025" b="1">
                <a:solidFill>
                  <a:srgbClr val="14213D"/>
                </a:solidFill>
              </a:defRPr>
            </a:lvl6pPr>
            <a:lvl7pPr>
              <a:defRPr sz="2025" b="1">
                <a:solidFill>
                  <a:srgbClr val="14213D"/>
                </a:solidFill>
              </a:defRPr>
            </a:lvl7pPr>
            <a:lvl8pPr>
              <a:defRPr sz="2025" b="1">
                <a:solidFill>
                  <a:srgbClr val="14213D"/>
                </a:solidFill>
              </a:defRPr>
            </a:lvl8pPr>
            <a:lvl9pPr>
              <a:defRPr sz="2025" b="1">
                <a:solidFill>
                  <a:srgbClr val="14213D"/>
                </a:solidFill>
              </a:defRPr>
            </a:lvl9pPr>
          </a:lstStyle>
          <a:p>
            <a:pPr>
              <a:defRPr sz="2025" b="1">
                <a:solidFill>
                  <a:srgbClr val="14213D"/>
                </a:solidFill>
              </a:defRPr>
            </a:pPr>
            <a:r>
              <a:rPr sz="2025" b="1">
                <a:solidFill>
                  <a:srgbClr val="14213D"/>
                </a:solidFill>
              </a:rPr>
              <a:t>表头写「农用地」，实际填「耕地」</a:t>
            </a:r>
            <a:endParaRPr sz="2025" b="1">
              <a:solidFill>
                <a:srgbClr val="14213D"/>
              </a:solidFill>
            </a:endParaRPr>
          </a:p>
        </p:txBody>
      </p:sp>
      <p:sp>
        <p:nvSpPr>
          <p:cNvPr id="106" name="case-2"/>
          <p:cNvSpPr>
            <a:spLocks noGrp="1"/>
          </p:cNvSpPr>
          <p:nvPr/>
        </p:nvSpPr>
        <p:spPr>
          <a:xfrm>
            <a:off x="552450" y="3305175"/>
            <a:ext cx="518160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14213D"/>
                </a:solidFill>
              </a:defRPr>
            </a:defPPr>
            <a:lvl1pPr>
              <a:defRPr sz="1875" b="0">
                <a:solidFill>
                  <a:srgbClr val="14213D"/>
                </a:solidFill>
              </a:defRPr>
            </a:lvl1pPr>
            <a:lvl2pPr>
              <a:defRPr sz="1875" b="0">
                <a:solidFill>
                  <a:srgbClr val="14213D"/>
                </a:solidFill>
              </a:defRPr>
            </a:lvl2pPr>
            <a:lvl3pPr>
              <a:defRPr sz="1875" b="0">
                <a:solidFill>
                  <a:srgbClr val="14213D"/>
                </a:solidFill>
              </a:defRPr>
            </a:lvl3pPr>
            <a:lvl4pPr>
              <a:defRPr sz="1875" b="0">
                <a:solidFill>
                  <a:srgbClr val="14213D"/>
                </a:solidFill>
              </a:defRPr>
            </a:lvl4pPr>
            <a:lvl5pPr>
              <a:defRPr sz="1875" b="0">
                <a:solidFill>
                  <a:srgbClr val="14213D"/>
                </a:solidFill>
              </a:defRPr>
            </a:lvl5pPr>
            <a:lvl6pPr>
              <a:defRPr sz="1875" b="0">
                <a:solidFill>
                  <a:srgbClr val="14213D"/>
                </a:solidFill>
              </a:defRPr>
            </a:lvl6pPr>
            <a:lvl7pPr>
              <a:defRPr sz="1875" b="0">
                <a:solidFill>
                  <a:srgbClr val="14213D"/>
                </a:solidFill>
              </a:defRPr>
            </a:lvl7pPr>
            <a:lvl8pPr>
              <a:defRPr sz="1875" b="0">
                <a:solidFill>
                  <a:srgbClr val="14213D"/>
                </a:solidFill>
              </a:defRPr>
            </a:lvl8pPr>
            <a:lvl9pPr>
              <a:defRPr sz="1875" b="0">
                <a:solidFill>
                  <a:srgbClr val="14213D"/>
                </a:solidFill>
              </a:defRPr>
            </a:lvl9pPr>
          </a:lstStyle>
          <a:p>
            <a:pPr>
              <a:defRPr sz="1875" b="0">
                <a:solidFill>
                  <a:srgbClr val="14213D"/>
                </a:solidFill>
              </a:defRPr>
            </a:pPr>
            <a:r>
              <a:rPr sz="1875" b="0">
                <a:solidFill>
                  <a:srgbClr val="14213D"/>
                </a:solidFill>
              </a:rPr>
              <a:t>提问只问：草地、农村道路</a:t>
            </a:r>
            <a:endParaRPr sz="1875" b="0">
              <a:solidFill>
                <a:srgbClr val="14213D"/>
              </a:solidFill>
            </a:endParaRPr>
          </a:p>
          <a:p>
            <a:pPr>
              <a:defRPr sz="1875" b="0">
                <a:solidFill>
                  <a:srgbClr val="14213D"/>
                </a:solidFill>
              </a:defRPr>
            </a:pPr>
            <a:r>
              <a:rPr sz="1875" b="0">
                <a:solidFill>
                  <a:srgbClr val="14213D"/>
                </a:solidFill>
              </a:rPr>
              <a:t>是不是归属农用地？</a:t>
            </a:r>
            <a:endParaRPr sz="1875" b="0">
              <a:solidFill>
                <a:srgbClr val="14213D"/>
              </a:solidFill>
            </a:endParaRPr>
          </a:p>
        </p:txBody>
      </p:sp>
      <p:sp>
        <p:nvSpPr>
          <p:cNvPr id="107" name="case-3"/>
          <p:cNvSpPr>
            <a:spLocks noGrp="1"/>
          </p:cNvSpPr>
          <p:nvPr/>
        </p:nvSpPr>
        <p:spPr>
          <a:xfrm>
            <a:off x="552450" y="4305300"/>
            <a:ext cx="51816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0">
                <a:solidFill>
                  <a:srgbClr val="14213D"/>
                </a:solidFill>
              </a:defRPr>
            </a:defPPr>
            <a:lvl1pPr>
              <a:defRPr sz="1875" b="0">
                <a:solidFill>
                  <a:srgbClr val="14213D"/>
                </a:solidFill>
              </a:defRPr>
            </a:lvl1pPr>
            <a:lvl2pPr>
              <a:defRPr sz="1875" b="0">
                <a:solidFill>
                  <a:srgbClr val="14213D"/>
                </a:solidFill>
              </a:defRPr>
            </a:lvl2pPr>
            <a:lvl3pPr>
              <a:defRPr sz="1875" b="0">
                <a:solidFill>
                  <a:srgbClr val="14213D"/>
                </a:solidFill>
              </a:defRPr>
            </a:lvl3pPr>
            <a:lvl4pPr>
              <a:defRPr sz="1875" b="0">
                <a:solidFill>
                  <a:srgbClr val="14213D"/>
                </a:solidFill>
              </a:defRPr>
            </a:lvl4pPr>
            <a:lvl5pPr>
              <a:defRPr sz="1875" b="0">
                <a:solidFill>
                  <a:srgbClr val="14213D"/>
                </a:solidFill>
              </a:defRPr>
            </a:lvl5pPr>
            <a:lvl6pPr>
              <a:defRPr sz="1875" b="0">
                <a:solidFill>
                  <a:srgbClr val="14213D"/>
                </a:solidFill>
              </a:defRPr>
            </a:lvl6pPr>
            <a:lvl7pPr>
              <a:defRPr sz="1875" b="0">
                <a:solidFill>
                  <a:srgbClr val="14213D"/>
                </a:solidFill>
              </a:defRPr>
            </a:lvl7pPr>
            <a:lvl8pPr>
              <a:defRPr sz="1875" b="0">
                <a:solidFill>
                  <a:srgbClr val="14213D"/>
                </a:solidFill>
              </a:defRPr>
            </a:lvl8pPr>
            <a:lvl9pPr>
              <a:defRPr sz="1875" b="0">
                <a:solidFill>
                  <a:srgbClr val="14213D"/>
                </a:solidFill>
              </a:defRPr>
            </a:lvl9pPr>
          </a:lstStyle>
          <a:p>
            <a:pPr>
              <a:defRPr sz="1875" b="0">
                <a:solidFill>
                  <a:srgbClr val="14213D"/>
                </a:solidFill>
              </a:defRPr>
            </a:pPr>
            <a:r>
              <a:rPr sz="1875" b="0">
                <a:solidFill>
                  <a:srgbClr val="14213D"/>
                </a:solidFill>
              </a:rPr>
              <a:t>AI 回答“是”。</a:t>
            </a:r>
            <a:endParaRPr sz="1875" b="0">
              <a:solidFill>
                <a:srgbClr val="14213D"/>
              </a:solidFill>
            </a:endParaRPr>
          </a:p>
          <a:p>
            <a:pPr>
              <a:defRPr sz="1875" b="0">
                <a:solidFill>
                  <a:srgbClr val="14213D"/>
                </a:solidFill>
              </a:defRPr>
            </a:pPr>
            <a:r>
              <a:rPr sz="1875" b="0">
                <a:solidFill>
                  <a:srgbClr val="14213D"/>
                </a:solidFill>
              </a:rPr>
              <a:t>审核据此放过了表头与填报口径。</a:t>
            </a:r>
            <a:endParaRPr sz="1875" b="0">
              <a:solidFill>
                <a:srgbClr val="14213D"/>
              </a:solidFill>
            </a:endParaRPr>
          </a:p>
        </p:txBody>
      </p:sp>
      <p:sp>
        <p:nvSpPr>
          <p:cNvPr id="108" name="fix-label"/>
          <p:cNvSpPr>
            <a:spLocks noGrp="1"/>
          </p:cNvSpPr>
          <p:nvPr/>
        </p:nvSpPr>
        <p:spPr>
          <a:xfrm>
            <a:off x="6572250" y="1971675"/>
            <a:ext cx="5048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725" b="1">
                <a:solidFill>
                  <a:srgbClr val="0F766E"/>
                </a:solidFill>
              </a:defRPr>
            </a:defPPr>
            <a:lvl1pPr>
              <a:defRPr sz="1725" b="1">
                <a:solidFill>
                  <a:srgbClr val="0F766E"/>
                </a:solidFill>
              </a:defRPr>
            </a:lvl1pPr>
            <a:lvl2pPr>
              <a:defRPr sz="1725" b="1">
                <a:solidFill>
                  <a:srgbClr val="0F766E"/>
                </a:solidFill>
              </a:defRPr>
            </a:lvl2pPr>
            <a:lvl3pPr>
              <a:defRPr sz="1725" b="1">
                <a:solidFill>
                  <a:srgbClr val="0F766E"/>
                </a:solidFill>
              </a:defRPr>
            </a:lvl3pPr>
            <a:lvl4pPr>
              <a:defRPr sz="1725" b="1">
                <a:solidFill>
                  <a:srgbClr val="0F766E"/>
                </a:solidFill>
              </a:defRPr>
            </a:lvl4pPr>
            <a:lvl5pPr>
              <a:defRPr sz="1725" b="1">
                <a:solidFill>
                  <a:srgbClr val="0F766E"/>
                </a:solidFill>
              </a:defRPr>
            </a:lvl5pPr>
            <a:lvl6pPr>
              <a:defRPr sz="1725" b="1">
                <a:solidFill>
                  <a:srgbClr val="0F766E"/>
                </a:solidFill>
              </a:defRPr>
            </a:lvl6pPr>
            <a:lvl7pPr>
              <a:defRPr sz="1725" b="1">
                <a:solidFill>
                  <a:srgbClr val="0F766E"/>
                </a:solidFill>
              </a:defRPr>
            </a:lvl7pPr>
            <a:lvl8pPr>
              <a:defRPr sz="1725" b="1">
                <a:solidFill>
                  <a:srgbClr val="0F766E"/>
                </a:solidFill>
              </a:defRPr>
            </a:lvl8pPr>
            <a:lvl9pPr>
              <a:defRPr sz="1725" b="1">
                <a:solidFill>
                  <a:srgbClr val="0F766E"/>
                </a:solidFill>
              </a:defRPr>
            </a:lvl9pPr>
          </a:lstStyle>
          <a:p>
            <a:pPr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下一轮检查增加什么</a:t>
            </a:r>
            <a:endParaRPr sz="1725" b="1">
              <a:solidFill>
                <a:srgbClr val="0F766E"/>
              </a:solidFill>
            </a:endParaRPr>
          </a:p>
        </p:txBody>
      </p:sp>
      <p:sp>
        <p:nvSpPr>
          <p:cNvPr id="109" name="fix-prompt"/>
          <p:cNvSpPr>
            <a:spLocks noGrp="1"/>
          </p:cNvSpPr>
          <p:nvPr/>
        </p:nvSpPr>
        <p:spPr>
          <a:xfrm>
            <a:off x="6572250" y="2457450"/>
            <a:ext cx="5048250" cy="1733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025" b="1">
                <a:solidFill>
                  <a:srgbClr val="14213D"/>
                </a:solidFill>
              </a:defRPr>
            </a:defPPr>
            <a:lvl1pPr>
              <a:defRPr sz="2025" b="1">
                <a:solidFill>
                  <a:srgbClr val="14213D"/>
                </a:solidFill>
              </a:defRPr>
            </a:lvl1pPr>
            <a:lvl2pPr>
              <a:defRPr sz="2025" b="1">
                <a:solidFill>
                  <a:srgbClr val="14213D"/>
                </a:solidFill>
              </a:defRPr>
            </a:lvl2pPr>
            <a:lvl3pPr>
              <a:defRPr sz="2025" b="1">
                <a:solidFill>
                  <a:srgbClr val="14213D"/>
                </a:solidFill>
              </a:defRPr>
            </a:lvl3pPr>
            <a:lvl4pPr>
              <a:defRPr sz="2025" b="1">
                <a:solidFill>
                  <a:srgbClr val="14213D"/>
                </a:solidFill>
              </a:defRPr>
            </a:lvl4pPr>
            <a:lvl5pPr>
              <a:defRPr sz="2025" b="1">
                <a:solidFill>
                  <a:srgbClr val="14213D"/>
                </a:solidFill>
              </a:defRPr>
            </a:lvl5pPr>
            <a:lvl6pPr>
              <a:defRPr sz="2025" b="1">
                <a:solidFill>
                  <a:srgbClr val="14213D"/>
                </a:solidFill>
              </a:defRPr>
            </a:lvl6pPr>
            <a:lvl7pPr>
              <a:defRPr sz="2025" b="1">
                <a:solidFill>
                  <a:srgbClr val="14213D"/>
                </a:solidFill>
              </a:defRPr>
            </a:lvl7pPr>
            <a:lvl8pPr>
              <a:defRPr sz="2025" b="1">
                <a:solidFill>
                  <a:srgbClr val="14213D"/>
                </a:solidFill>
              </a:defRPr>
            </a:lvl8pPr>
            <a:lvl9pPr>
              <a:defRPr sz="2025" b="1">
                <a:solidFill>
                  <a:srgbClr val="14213D"/>
                </a:solidFill>
              </a:defRPr>
            </a:lvl9pPr>
          </a:lstStyle>
          <a:p>
            <a:pPr>
              <a:defRPr sz="2025" b="1">
                <a:solidFill>
                  <a:srgbClr val="14213D"/>
                </a:solidFill>
              </a:defRPr>
            </a:pPr>
            <a:r>
              <a:rPr sz="2025" b="1">
                <a:solidFill>
                  <a:srgbClr val="14213D"/>
                </a:solidFill>
              </a:rPr>
              <a:t>请分别核对表头定义、分类归属</a:t>
            </a:r>
            <a:endParaRPr sz="2025" b="1">
              <a:solidFill>
                <a:srgbClr val="14213D"/>
              </a:solidFill>
            </a:endParaRPr>
          </a:p>
          <a:p>
            <a:pPr>
              <a:defRPr sz="2025" b="1">
                <a:solidFill>
                  <a:srgbClr val="14213D"/>
                </a:solidFill>
              </a:defRPr>
            </a:pPr>
            <a:r>
              <a:rPr sz="2025" b="1">
                <a:solidFill>
                  <a:srgbClr val="14213D"/>
                </a:solidFill>
              </a:rPr>
              <a:t>和实际填报内容。</a:t>
            </a:r>
            <a:endParaRPr sz="2025" b="1">
              <a:solidFill>
                <a:srgbClr val="14213D"/>
              </a:solidFill>
            </a:endParaRPr>
          </a:p>
          <a:p>
            <a:pPr>
              <a:defRPr sz="2025" b="1">
                <a:solidFill>
                  <a:srgbClr val="14213D"/>
                </a:solidFill>
              </a:defRPr>
            </a:pPr>
            <a:r>
              <a:rPr sz="2025" b="1">
                <a:solidFill>
                  <a:srgbClr val="14213D"/>
                </a:solidFill>
              </a:rPr>
              <a:t>指出三者是否一致，</a:t>
            </a:r>
            <a:endParaRPr sz="2025" b="1">
              <a:solidFill>
                <a:srgbClr val="14213D"/>
              </a:solidFill>
            </a:endParaRPr>
          </a:p>
          <a:p>
            <a:pPr>
              <a:defRPr sz="2025" b="1">
                <a:solidFill>
                  <a:srgbClr val="14213D"/>
                </a:solidFill>
              </a:defRPr>
            </a:pPr>
            <a:r>
              <a:rPr sz="2025" b="1">
                <a:solidFill>
                  <a:srgbClr val="14213D"/>
                </a:solidFill>
              </a:rPr>
              <a:t>依据不足的地方列为待核。</a:t>
            </a:r>
            <a:endParaRPr sz="2025" b="1">
              <a:solidFill>
                <a:srgbClr val="14213D"/>
              </a:solidFill>
            </a:endParaRPr>
          </a:p>
        </p:txBody>
      </p:sp>
      <p:sp>
        <p:nvSpPr>
          <p:cNvPr id="110" name="boundary"/>
          <p:cNvSpPr>
            <a:spLocks noGrp="1"/>
          </p:cNvSpPr>
          <p:nvPr/>
        </p:nvSpPr>
        <p:spPr>
          <a:xfrm>
            <a:off x="6572250" y="4438650"/>
            <a:ext cx="5048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50" b="0">
                <a:solidFill>
                  <a:srgbClr val="687386"/>
                </a:solidFill>
              </a:defRPr>
            </a:defPPr>
            <a:lvl1pPr>
              <a:defRPr sz="1650" b="0">
                <a:solidFill>
                  <a:srgbClr val="687386"/>
                </a:solidFill>
              </a:defRPr>
            </a:lvl1pPr>
            <a:lvl2pPr>
              <a:defRPr sz="1650" b="0">
                <a:solidFill>
                  <a:srgbClr val="687386"/>
                </a:solidFill>
              </a:defRPr>
            </a:lvl2pPr>
            <a:lvl3pPr>
              <a:defRPr sz="1650" b="0">
                <a:solidFill>
                  <a:srgbClr val="687386"/>
                </a:solidFill>
              </a:defRPr>
            </a:lvl3pPr>
            <a:lvl4pPr>
              <a:defRPr sz="1650" b="0">
                <a:solidFill>
                  <a:srgbClr val="687386"/>
                </a:solidFill>
              </a:defRPr>
            </a:lvl4pPr>
            <a:lvl5pPr>
              <a:defRPr sz="1650" b="0">
                <a:solidFill>
                  <a:srgbClr val="687386"/>
                </a:solidFill>
              </a:defRPr>
            </a:lvl5pPr>
            <a:lvl6pPr>
              <a:defRPr sz="1650" b="0">
                <a:solidFill>
                  <a:srgbClr val="687386"/>
                </a:solidFill>
              </a:defRPr>
            </a:lvl6pPr>
            <a:lvl7pPr>
              <a:defRPr sz="1650" b="0">
                <a:solidFill>
                  <a:srgbClr val="687386"/>
                </a:solidFill>
              </a:defRPr>
            </a:lvl7pPr>
            <a:lvl8pPr>
              <a:defRPr sz="1650" b="0">
                <a:solidFill>
                  <a:srgbClr val="687386"/>
                </a:solidFill>
              </a:defRPr>
            </a:lvl8pPr>
            <a:lvl9pPr>
              <a:defRPr sz="1650" b="0">
                <a:solidFill>
                  <a:srgbClr val="687386"/>
                </a:solidFill>
              </a:defRPr>
            </a:lvl9pPr>
          </a:lstStyle>
          <a:p>
            <a:pPr>
              <a:defRPr sz="1650" b="0">
                <a:solidFill>
                  <a:srgbClr val="687386"/>
                </a:solidFill>
              </a:defRPr>
            </a:pPr>
            <a:r>
              <a:rPr sz="1650" b="0">
                <a:solidFill>
                  <a:srgbClr val="687386"/>
                </a:solidFill>
              </a:rPr>
              <a:t>这次记录说明检查范围有遗漏。</a:t>
            </a:r>
            <a:endParaRPr sz="1650" b="0">
              <a:solidFill>
                <a:srgbClr val="687386"/>
              </a:solidFill>
            </a:endParaRPr>
          </a:p>
          <a:p>
            <a:pPr>
              <a:defRPr sz="1650" b="0">
                <a:solidFill>
                  <a:srgbClr val="687386"/>
                </a:solidFill>
              </a:defRPr>
            </a:pPr>
            <a:r>
              <a:rPr sz="1650" b="0">
                <a:solidFill>
                  <a:srgbClr val="687386"/>
                </a:solidFill>
              </a:rPr>
              <a:t>仅凭一轮对话，不能确定训练机制</a:t>
            </a:r>
            <a:endParaRPr sz="1650" b="0">
              <a:solidFill>
                <a:srgbClr val="687386"/>
              </a:solidFill>
            </a:endParaRPr>
          </a:p>
          <a:p>
            <a:pPr>
              <a:defRPr sz="1650" b="0">
                <a:solidFill>
                  <a:srgbClr val="687386"/>
                </a:solidFill>
              </a:defRPr>
            </a:pPr>
            <a:r>
              <a:rPr sz="1650" b="0">
                <a:solidFill>
                  <a:srgbClr val="687386"/>
                </a:solidFill>
              </a:rPr>
              <a:t>就是这次漏检的原因。</a:t>
            </a:r>
            <a:endParaRPr sz="1650" b="0">
              <a:solidFill>
                <a:srgbClr val="687386"/>
              </a:solidFill>
            </a:endParaRPr>
          </a:p>
        </p:txBody>
      </p:sp>
      <p:sp>
        <p:nvSpPr>
          <p:cNvPr id="111" name="takeaway-label"/>
          <p:cNvSpPr>
            <a:spLocks noGrp="1"/>
          </p:cNvSpPr>
          <p:nvPr/>
        </p:nvSpPr>
        <p:spPr>
          <a:xfrm>
            <a:off x="552450" y="5905500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结论</a:t>
            </a:r>
            <a:endParaRPr sz="1500" b="1">
              <a:solidFill>
                <a:srgbClr val="0F766E"/>
              </a:solidFill>
            </a:endParaRPr>
          </a:p>
        </p:txBody>
      </p:sp>
      <p:sp>
        <p:nvSpPr>
          <p:cNvPr id="112" name="takeaway"/>
          <p:cNvSpPr>
            <a:spLocks noGrp="1"/>
          </p:cNvSpPr>
          <p:nvPr/>
        </p:nvSpPr>
        <p:spPr>
          <a:xfrm>
            <a:off x="1428750" y="5876925"/>
            <a:ext cx="10172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1">
                <a:solidFill>
                  <a:srgbClr val="14213D"/>
                </a:solidFill>
              </a:defRPr>
            </a:defPPr>
            <a:lvl1pPr>
              <a:defRPr sz="1875" b="1">
                <a:solidFill>
                  <a:srgbClr val="14213D"/>
                </a:solidFill>
              </a:defRPr>
            </a:lvl1pPr>
            <a:lvl2pPr>
              <a:defRPr sz="1875" b="1">
                <a:solidFill>
                  <a:srgbClr val="14213D"/>
                </a:solidFill>
              </a:defRPr>
            </a:lvl2pPr>
            <a:lvl3pPr>
              <a:defRPr sz="1875" b="1">
                <a:solidFill>
                  <a:srgbClr val="14213D"/>
                </a:solidFill>
              </a:defRPr>
            </a:lvl3pPr>
            <a:lvl4pPr>
              <a:defRPr sz="1875" b="1">
                <a:solidFill>
                  <a:srgbClr val="14213D"/>
                </a:solidFill>
              </a:defRPr>
            </a:lvl4pPr>
            <a:lvl5pPr>
              <a:defRPr sz="1875" b="1">
                <a:solidFill>
                  <a:srgbClr val="14213D"/>
                </a:solidFill>
              </a:defRPr>
            </a:lvl5pPr>
            <a:lvl6pPr>
              <a:defRPr sz="1875" b="1">
                <a:solidFill>
                  <a:srgbClr val="14213D"/>
                </a:solidFill>
              </a:defRPr>
            </a:lvl6pPr>
            <a:lvl7pPr>
              <a:defRPr sz="1875" b="1">
                <a:solidFill>
                  <a:srgbClr val="14213D"/>
                </a:solidFill>
              </a:defRPr>
            </a:lvl7pPr>
            <a:lvl8pPr>
              <a:defRPr sz="1875" b="1">
                <a:solidFill>
                  <a:srgbClr val="14213D"/>
                </a:solidFill>
              </a:defRPr>
            </a:lvl8pPr>
            <a:lvl9pPr>
              <a:defRPr sz="1875" b="1">
                <a:solidFill>
                  <a:srgbClr val="14213D"/>
                </a:solidFill>
              </a:defRPr>
            </a:lvl9pPr>
          </a:lstStyle>
          <a:p>
            <a:pPr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归属判断与字段口径需要分别核对</a:t>
            </a:r>
            <a:endParaRPr sz="1875" b="1">
              <a:solidFill>
                <a:srgbClr val="14213D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长上下文：输入长度和位置会影响信息利用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研究观察到长输入下表现下降，但幅度取决于任务、模型与干扰内容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 Research《Context Rot》（2025-07-14）；Liu 等，arXiv 2307.03172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0350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0" name="Picture 9" descr="chroma_her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163" y="1965960"/>
            <a:ext cx="4747993" cy="3154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13892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横轴：输入长度（token）；纵轴：得分。图：Chroma Research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0" y="1920240"/>
            <a:ext cx="47823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858000" y="1920240"/>
            <a:ext cx="73152" cy="89611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86600" y="199339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个模型的受测任务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86600" y="235915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长输入下的表现并不均匀；不同模型和任务下降幅度不同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58000" y="2926080"/>
            <a:ext cx="47823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858000" y="2926080"/>
            <a:ext cx="73152" cy="89611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86600" y="299923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中间位置更容易漏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86600" y="336499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受测检索任务中，关键信息放在首尾通常更易找到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8000" y="3977639"/>
            <a:ext cx="4782312" cy="15544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86600" y="4114800"/>
            <a:ext cx="4325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怎么防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86600" y="4526279"/>
            <a:ext cx="437083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一个任务一段对话，聊久了就新开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只给相关材料，关键要求放开头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上下文窗口 1M 只说明装得下，不代表都看得清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291600"/>
            <a:ext cx="54864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01  认识 AI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000" y="291600"/>
            <a:ext cx="9144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17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7200" y="604800"/>
            <a:ext cx="457200" cy="54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7200" y="712800"/>
            <a:ext cx="11095200" cy="52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奖励黑客与工具性趋同：指标和权限的风险</a:t>
            </a:r>
            <a:endParaRPr sz="27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7200" y="1260000"/>
            <a:ext cx="11095200" cy="30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7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代理指标可能偏离真实目标；下面展示需要检查的行为与理论风险</a:t>
            </a:r>
            <a:endParaRPr sz="17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7200" y="6400800"/>
            <a:ext cx="11095200" cy="0"/>
          </a:xfrm>
          <a:prstGeom prst="line">
            <a:avLst/>
          </a:prstGeom>
          <a:ln w="9525">
            <a:solidFill>
              <a:srgbClr val="E2DFD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7200" y="6454800"/>
            <a:ext cx="96012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来源：OpenAI、Anthropic 关于“奖励黑客”的公开说明；Omohundro（2008）工具性趋同；本分享实测记录（2026-10）</a:t>
            </a:r>
            <a:endParaRPr sz="8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3600" y="6454800"/>
            <a:ext cx="18288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8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来源索引 ›</a:t>
            </a:r>
            <a:endParaRPr sz="8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  <a:hlinkClick r:id="rId1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5778000"/>
            <a:ext cx="9144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2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17320" y="5778000"/>
            <a:ext cx="1022652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800" b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验收既检查结果，也检查过程；权限与操作范围按任务限定</a:t>
            </a:r>
            <a:endParaRPr sz="1800" b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1719072"/>
            <a:ext cx="5486400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548640" y="1719072"/>
            <a:ext cx="73152" cy="385876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22959" y="184708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奖励黑客  Reward hacking</a:t>
            </a:r>
            <a:endParaRPr sz="17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22959" y="22402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代理指标变好，真实目标却可能落空</a:t>
            </a:r>
            <a:endParaRPr sz="12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22960" y="2697480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你要的</a:t>
            </a:r>
            <a:endParaRPr sz="1050" b="1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246120" y="269748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它做的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22960" y="2990088"/>
            <a:ext cx="2103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22960" y="2990088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通过单元测试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926080" y="2990088"/>
            <a:ext cx="320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5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246120" y="2990088"/>
            <a:ext cx="2560320" cy="438912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246120" y="2990088"/>
            <a:ext cx="25603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把测试改成永远通过</a:t>
            </a:r>
            <a:endParaRPr sz="13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22960" y="3557016"/>
            <a:ext cx="2103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22960" y="3557016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减少报错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926080" y="3557016"/>
            <a:ext cx="320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5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3246120" y="3557016"/>
            <a:ext cx="2560320" cy="438912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3246120" y="3557016"/>
            <a:ext cx="25603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把报错悄悄吞掉</a:t>
            </a:r>
            <a:endParaRPr sz="13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822960" y="4123944"/>
            <a:ext cx="2103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22960" y="4123944"/>
            <a:ext cx="21031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把表填满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926080" y="4123944"/>
            <a:ext cx="32004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5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3246120" y="4123944"/>
            <a:ext cx="2560320" cy="438912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246120" y="4123944"/>
            <a:ext cx="25603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用推算值补齐空行</a:t>
            </a:r>
            <a:endParaRPr sz="13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22960" y="4800600"/>
            <a:ext cx="4983480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60120" y="480060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核法  </a:t>
            </a: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挑 3 条结论回原文，看它改了哪些文件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217920" y="1719072"/>
            <a:ext cx="5422392" cy="3858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6217920" y="1719072"/>
            <a:ext cx="73152" cy="385876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492240" y="1847088"/>
            <a:ext cx="496519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工具性趋同  Instrumental convergence</a:t>
            </a:r>
            <a:endParaRPr sz="17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92240" y="2240280"/>
            <a:ext cx="4965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某些目标下，资源或持续运行可能成为手段</a:t>
            </a:r>
            <a:endParaRPr sz="12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492240" y="2697480"/>
            <a:ext cx="54864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675120" y="2697480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自我保护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092440" y="2697480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理论风险：设法维持运行</a:t>
            </a:r>
            <a:endParaRPr sz="13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492240" y="3209544"/>
            <a:ext cx="54864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6675120" y="3209544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扩充资源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092440" y="3209544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理论风险：争取更多资源</a:t>
            </a:r>
            <a:endParaRPr sz="13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492240" y="3721608"/>
            <a:ext cx="54864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6675120" y="3721608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影响操作者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092440" y="3721608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影响反馈或决策，需逐案判断</a:t>
            </a:r>
            <a:endParaRPr sz="13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492240" y="4233672"/>
            <a:ext cx="54864" cy="38404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675120" y="4233672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走捷径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092440" y="4233672"/>
            <a:ext cx="33832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不能把所有失误都归为趋同</a:t>
            </a:r>
            <a:endParaRPr sz="13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6492240" y="4800600"/>
            <a:ext cx="4873752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6629400" y="4800600"/>
            <a:ext cx="46634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约束  </a:t>
            </a: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不改测试、不删文件、不加权限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548640" y="5796288"/>
            <a:ext cx="11093760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模型与工具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同一句话，十种结果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同一个任务，使用体验为何不同？这一章结合盲测和案例，区分模型能力、任务适配与客户端条件。</a:t>
            </a:r>
            <a:endParaRPr sz="14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19600" y="18180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鹈鹕盲测：十个配置，十种结果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19600" y="22644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差别一：能力有档次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19600" y="27108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差别二：各有专精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19600" y="31572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差别三：外壳决定能干什么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8319600" y="36036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同一品牌，不同入口与使用权益</a:t>
            </a:r>
            <a:endParaRPr sz="15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19600" y="40500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榜单与全球格局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319600" y="4496400"/>
            <a:ext cx="3571200" cy="410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各家脾气 · 免费额度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鹈鹕盲测：同一句提示词，十个配置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来源：10 份原始 HTML 录屏（统一视口，去黑边）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“创建一个HTML，内容是SVG绘制一个鹈鹕骑自行车的2D动画，你不需要任何测试”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8778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每个配置只生成一次、不带历史；先投票，再点图揭晓配置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281160" y="14173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十份同时播放 ›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Picture 11" descr="A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48640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7824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GLM-5.3 Flash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Picture 14" descr="B.gif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5320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2795320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24504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 2.1 Turbo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Picture 17" descr="C.gif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2001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042001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71185" y="3817938"/>
            <a:ext cx="1773936" cy="365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V4.1 Flash 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Picture 20" descr="D.gif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8682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7288682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17866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5.5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Picture 23" descr="E.gif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5363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9535363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864547" y="3817938"/>
            <a:ext cx="1773936" cy="365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Preview high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Picture 26" descr="F.gif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548640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7824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5 Preview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Picture 29" descr="G.gif">
            <a:hlinkClick r:id="rId15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95320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2795320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24504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 high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Picture 32" descr="H.gif">
            <a:hlinkClick r:id="rId17" action="ppaction://hlinksldjump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42001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5042001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71185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fast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" name="Picture 35" descr="I.gif">
            <a:hlinkClick r:id="rId19" action="ppaction://hlinksldjump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88682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7288682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17866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Qwen3.8 Flash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Qoder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Picture 38" descr="J.gif">
            <a:hlinkClick r:id="rId21" action="ppaction://hlinksldjump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35363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40" name="TextBox 39"/>
          <p:cNvSpPr txBox="1"/>
          <p:nvPr/>
        </p:nvSpPr>
        <p:spPr>
          <a:xfrm>
            <a:off x="9535363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864547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M3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291600"/>
            <a:ext cx="54864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02  模型与工具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000" y="291600"/>
            <a:ext cx="9144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7200" y="604800"/>
            <a:ext cx="457200" cy="54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7200" y="6400800"/>
            <a:ext cx="11095200" cy="0"/>
          </a:xfrm>
          <a:prstGeom prst="line">
            <a:avLst/>
          </a:prstGeom>
          <a:ln w="9525">
            <a:solidFill>
              <a:srgbClr val="E2DFE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7200" y="6454800"/>
            <a:ext cx="96012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8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来源：本稿鹈鹕、图纸与报告案例；单次记录，不是控制变量实验</a:t>
            </a:r>
            <a:endParaRPr sz="8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3600" y="6454800"/>
            <a:ext cx="18288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8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来源索引 ›</a:t>
            </a:r>
            <a:endParaRPr sz="8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hlinkClick r:id="rId1"/>
            </a:endParaRPr>
          </a:p>
        </p:txBody>
      </p:sp>
      <p:sp>
        <p:nvSpPr>
          <p:cNvPr id="102" name="title"/>
          <p:cNvSpPr>
            <a:spLocks noGrp="1"/>
          </p:cNvSpPr>
          <p:nvPr/>
        </p:nvSpPr>
        <p:spPr>
          <a:xfrm>
            <a:off x="552450" y="78105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700" b="1">
                <a:solidFill>
                  <a:srgbClr val="14213D"/>
                </a:solidFill>
              </a:defRPr>
            </a:defPPr>
            <a:lvl1pPr>
              <a:defRPr sz="2700" b="1">
                <a:solidFill>
                  <a:srgbClr val="14213D"/>
                </a:solidFill>
              </a:defRPr>
            </a:lvl1pPr>
            <a:lvl2pPr>
              <a:defRPr sz="2700" b="1">
                <a:solidFill>
                  <a:srgbClr val="14213D"/>
                </a:solidFill>
              </a:defRPr>
            </a:lvl2pPr>
            <a:lvl3pPr>
              <a:defRPr sz="2700" b="1">
                <a:solidFill>
                  <a:srgbClr val="14213D"/>
                </a:solidFill>
              </a:defRPr>
            </a:lvl3pPr>
            <a:lvl4pPr>
              <a:defRPr sz="2700" b="1">
                <a:solidFill>
                  <a:srgbClr val="14213D"/>
                </a:solidFill>
              </a:defRPr>
            </a:lvl4pPr>
            <a:lvl5pPr>
              <a:defRPr sz="2700" b="1">
                <a:solidFill>
                  <a:srgbClr val="14213D"/>
                </a:solidFill>
              </a:defRPr>
            </a:lvl5pPr>
            <a:lvl6pPr>
              <a:defRPr sz="2700" b="1">
                <a:solidFill>
                  <a:srgbClr val="14213D"/>
                </a:solidFill>
              </a:defRPr>
            </a:lvl6pPr>
            <a:lvl7pPr>
              <a:defRPr sz="2700" b="1">
                <a:solidFill>
                  <a:srgbClr val="14213D"/>
                </a:solidFill>
              </a:defRPr>
            </a:lvl7pPr>
            <a:lvl8pPr>
              <a:defRPr sz="2700" b="1">
                <a:solidFill>
                  <a:srgbClr val="14213D"/>
                </a:solidFill>
              </a:defRPr>
            </a:lvl8pPr>
            <a:lvl9pPr>
              <a:defRPr sz="2700" b="1">
                <a:solidFill>
                  <a:srgbClr val="14213D"/>
                </a:solidFill>
              </a:defRPr>
            </a:lvl9pPr>
          </a:lstStyle>
          <a:p>
            <a:pPr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配置选择：先确认输入，再比较交付质量</a:t>
            </a:r>
            <a:endParaRPr sz="2700" b="1">
              <a:solidFill>
                <a:srgbClr val="14213D"/>
              </a:solidFill>
            </a:endParaRPr>
          </a:p>
        </p:txBody>
      </p:sp>
      <p:sp>
        <p:nvSpPr>
          <p:cNvPr id="103" name="subtitle"/>
          <p:cNvSpPr>
            <a:spLocks noGrp="1"/>
          </p:cNvSpPr>
          <p:nvPr/>
        </p:nvSpPr>
        <p:spPr>
          <a:xfrm>
            <a:off x="552450" y="1371600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50" b="0">
                <a:solidFill>
                  <a:srgbClr val="687386"/>
                </a:solidFill>
              </a:defRPr>
            </a:defPPr>
            <a:lvl1pPr>
              <a:defRPr sz="1650" b="0">
                <a:solidFill>
                  <a:srgbClr val="687386"/>
                </a:solidFill>
              </a:defRPr>
            </a:lvl1pPr>
            <a:lvl2pPr>
              <a:defRPr sz="1650" b="0">
                <a:solidFill>
                  <a:srgbClr val="687386"/>
                </a:solidFill>
              </a:defRPr>
            </a:lvl2pPr>
            <a:lvl3pPr>
              <a:defRPr sz="1650" b="0">
                <a:solidFill>
                  <a:srgbClr val="687386"/>
                </a:solidFill>
              </a:defRPr>
            </a:lvl3pPr>
            <a:lvl4pPr>
              <a:defRPr sz="1650" b="0">
                <a:solidFill>
                  <a:srgbClr val="687386"/>
                </a:solidFill>
              </a:defRPr>
            </a:lvl4pPr>
            <a:lvl5pPr>
              <a:defRPr sz="1650" b="0">
                <a:solidFill>
                  <a:srgbClr val="687386"/>
                </a:solidFill>
              </a:defRPr>
            </a:lvl5pPr>
            <a:lvl6pPr>
              <a:defRPr sz="1650" b="0">
                <a:solidFill>
                  <a:srgbClr val="687386"/>
                </a:solidFill>
              </a:defRPr>
            </a:lvl6pPr>
            <a:lvl7pPr>
              <a:defRPr sz="1650" b="0">
                <a:solidFill>
                  <a:srgbClr val="687386"/>
                </a:solidFill>
              </a:defRPr>
            </a:lvl7pPr>
            <a:lvl8pPr>
              <a:defRPr sz="1650" b="0">
                <a:solidFill>
                  <a:srgbClr val="687386"/>
                </a:solidFill>
              </a:defRPr>
            </a:lvl8pPr>
            <a:lvl9pPr>
              <a:defRPr sz="1650" b="0">
                <a:solidFill>
                  <a:srgbClr val="687386"/>
                </a:solidFill>
              </a:defRPr>
            </a:lvl9pPr>
          </a:lstStyle>
          <a:p>
            <a:pPr>
              <a:defRPr sz="1650" b="0">
                <a:solidFill>
                  <a:srgbClr val="687386"/>
                </a:solidFill>
              </a:defRPr>
            </a:pPr>
            <a:r>
              <a:rPr sz="1650" b="0">
                <a:solidFill>
                  <a:srgbClr val="687386"/>
                </a:solidFill>
              </a:rPr>
              <a:t>同一任务同时受模型、客户端、材料和设置影响，单次结果不能拆出各自贡献</a:t>
            </a:r>
            <a:endParaRPr sz="1650" b="0">
              <a:solidFill>
                <a:srgbClr val="687386"/>
              </a:solidFill>
            </a:endParaRPr>
          </a:p>
        </p:txBody>
      </p:sp>
      <p:graphicFrame>
        <p:nvGraphicFramePr>
          <p:cNvPr id="104" name="表格 103"/>
          <p:cNvGraphicFramePr/>
          <p:nvPr/>
        </p:nvGraphicFramePr>
        <p:xfrm>
          <a:off x="552450" y="2000250"/>
          <a:ext cx="11087100" cy="3371850"/>
        </p:xfrm>
        <a:graphic>
          <a:graphicData uri="http://schemas.openxmlformats.org/drawingml/2006/table">
            <a:tbl>
              <a:tblPr/>
              <a:tblGrid>
                <a:gridCol w="2428875"/>
                <a:gridCol w="4572000"/>
                <a:gridCol w="4086225"/>
              </a:tblGrid>
              <a:tr h="428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检查什么</a:t>
                      </a:r>
                      <a:endParaRPr sz="16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4763">
                      <a:solidFill>
                        <a:srgbClr val="D7D6CF"/>
                      </a:solidFill>
                    </a:lnL>
                    <a:lnR w="4763">
                      <a:solidFill>
                        <a:srgbClr val="D7D6CF"/>
                      </a:solidFill>
                    </a:lnR>
                    <a:lnT w="4763">
                      <a:solidFill>
                        <a:srgbClr val="D7D6CF"/>
                      </a:solidFill>
                    </a:lnT>
                    <a:lnB w="4763">
                      <a:solidFill>
                        <a:srgbClr val="D7D6CF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本稿能看到的证据</a:t>
                      </a:r>
                      <a:endParaRPr sz="16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T w="4763">
                      <a:solidFill>
                        <a:srgbClr val="D7D6CF"/>
                      </a:solidFill>
                    </a:lnT>
                    <a:lnB w="4763">
                      <a:solidFill>
                        <a:srgbClr val="D7D6CF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下一步怎么比</a:t>
                      </a:r>
                      <a:endParaRPr sz="16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T w="4763">
                      <a:solidFill>
                        <a:srgbClr val="D7D6CF"/>
                      </a:solidFill>
                    </a:lnT>
                    <a:lnB w="4763">
                      <a:solidFill>
                        <a:srgbClr val="D7D6CF"/>
                      </a:solidFill>
                    </a:lnB>
                    <a:solidFill>
                      <a:srgbClr val="14213D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F766E"/>
                          </a:solidFill>
                        </a:rPr>
                        <a:t>材料是否读到</a:t>
                      </a:r>
                      <a:endParaRPr sz="1725" b="1">
                        <a:solidFill>
                          <a:srgbClr val="0F766E"/>
                        </a:solidFill>
                      </a:endParaRPr>
                    </a:p>
                  </a:txBody>
                  <a:tcPr>
                    <a:lnL w="4763">
                      <a:solidFill>
                        <a:srgbClr val="D7D6CF"/>
                      </a:solidFill>
                    </a:lnL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Hy4 本次自述未启用视觉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GLM 看图后仍未命中检查点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核对读到的页码、原图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和实际读取方式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F766E"/>
                          </a:solidFill>
                        </a:rPr>
                        <a:t>交付是否可用</a:t>
                      </a:r>
                      <a:endParaRPr sz="1725" b="1">
                        <a:solidFill>
                          <a:srgbClr val="0F766E"/>
                        </a:solidFill>
                      </a:endParaRPr>
                    </a:p>
                  </a:txBody>
                  <a:tcPr>
                    <a:lnL w="4763">
                      <a:solidFill>
                        <a:srgbClr val="D7D6CF"/>
                      </a:solidFill>
                    </a:lnL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EEEC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四份报告均有待修正项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列出的条目范围也不一致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EEEC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同材料、同口径复测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逐项记录错误与返工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EEECE6"/>
                    </a:solidFill>
                  </a:tcPr>
                </a:tc>
              </a:tr>
              <a:tr h="9810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F766E"/>
                          </a:solidFill>
                        </a:rPr>
                        <a:t>成本是否合适</a:t>
                      </a:r>
                      <a:endParaRPr sz="1725" b="1">
                        <a:solidFill>
                          <a:srgbClr val="0F766E"/>
                        </a:solidFill>
                      </a:endParaRPr>
                    </a:p>
                  </a:txBody>
                  <a:tcPr>
                    <a:lnL w="4763">
                      <a:solidFill>
                        <a:srgbClr val="D7D6CF"/>
                      </a:solidFill>
                    </a:lnL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单次耗时包含等待和工具执行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不能当作模型纯推理速度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先完成一个小任务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再比较耗时与费用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" name="takeaway-label"/>
          <p:cNvSpPr>
            <a:spLocks noGrp="1"/>
          </p:cNvSpPr>
          <p:nvPr/>
        </p:nvSpPr>
        <p:spPr>
          <a:xfrm>
            <a:off x="552450" y="5905500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结论</a:t>
            </a:r>
            <a:endParaRPr sz="1500" b="1">
              <a:solidFill>
                <a:srgbClr val="0F766E"/>
              </a:solidFill>
            </a:endParaRPr>
          </a:p>
        </p:txBody>
      </p:sp>
      <p:sp>
        <p:nvSpPr>
          <p:cNvPr id="106" name="takeaway"/>
          <p:cNvSpPr>
            <a:spLocks noGrp="1"/>
          </p:cNvSpPr>
          <p:nvPr/>
        </p:nvSpPr>
        <p:spPr>
          <a:xfrm>
            <a:off x="1428750" y="5876925"/>
            <a:ext cx="10172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1">
                <a:solidFill>
                  <a:srgbClr val="14213D"/>
                </a:solidFill>
              </a:defRPr>
            </a:defPPr>
            <a:lvl1pPr>
              <a:defRPr sz="1875" b="1">
                <a:solidFill>
                  <a:srgbClr val="14213D"/>
                </a:solidFill>
              </a:defRPr>
            </a:lvl1pPr>
            <a:lvl2pPr>
              <a:defRPr sz="1875" b="1">
                <a:solidFill>
                  <a:srgbClr val="14213D"/>
                </a:solidFill>
              </a:defRPr>
            </a:lvl2pPr>
            <a:lvl3pPr>
              <a:defRPr sz="1875" b="1">
                <a:solidFill>
                  <a:srgbClr val="14213D"/>
                </a:solidFill>
              </a:defRPr>
            </a:lvl3pPr>
            <a:lvl4pPr>
              <a:defRPr sz="1875" b="1">
                <a:solidFill>
                  <a:srgbClr val="14213D"/>
                </a:solidFill>
              </a:defRPr>
            </a:lvl4pPr>
            <a:lvl5pPr>
              <a:defRPr sz="1875" b="1">
                <a:solidFill>
                  <a:srgbClr val="14213D"/>
                </a:solidFill>
              </a:defRPr>
            </a:lvl5pPr>
            <a:lvl6pPr>
              <a:defRPr sz="1875" b="1">
                <a:solidFill>
                  <a:srgbClr val="14213D"/>
                </a:solidFill>
              </a:defRPr>
            </a:lvl6pPr>
            <a:lvl7pPr>
              <a:defRPr sz="1875" b="1">
                <a:solidFill>
                  <a:srgbClr val="14213D"/>
                </a:solidFill>
              </a:defRPr>
            </a:lvl7pPr>
            <a:lvl8pPr>
              <a:defRPr sz="1875" b="1">
                <a:solidFill>
                  <a:srgbClr val="14213D"/>
                </a:solidFill>
              </a:defRPr>
            </a:lvl8pPr>
            <a:lvl9pPr>
              <a:defRPr sz="1875" b="1">
                <a:solidFill>
                  <a:srgbClr val="14213D"/>
                </a:solidFill>
              </a:defRPr>
            </a:lvl9pPr>
          </a:lstStyle>
          <a:p>
            <a:pPr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选型看自己的任务结果，价格和榜单只帮助挑选候选</a:t>
            </a:r>
            <a:endParaRPr sz="1875" b="1">
              <a:solidFill>
                <a:srgbClr val="14213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同一品牌，网页版、会员与 API 常不是同一个模型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来源：各产品价格页与 Artificial Analysis；原稿 2026-10 查询记录，权益以当前官网为准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248556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CCFC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 / 家族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3125647" y="1792224"/>
            <a:ext cx="201168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谁提供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18255" y="1600200"/>
            <a:ext cx="2485567" cy="65836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18255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型号与档位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5995263" y="1792224"/>
            <a:ext cx="201168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8255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实际跑的是哪个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87871" y="1600200"/>
            <a:ext cx="248556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CCFC8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87871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产品入口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Chevron 18"/>
          <p:cNvSpPr/>
          <p:nvPr/>
        </p:nvSpPr>
        <p:spPr>
          <a:xfrm>
            <a:off x="8864879" y="1792224"/>
            <a:ext cx="201168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7871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网页、App、API、客户端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57487" y="1600200"/>
            <a:ext cx="2485567" cy="65836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57487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部署方式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57487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厂商云、第三方或本地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2788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不同入口的型号、额度和工具权限需要分别确认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200400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200400"/>
            <a:ext cx="137583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17087" y="3200400"/>
            <a:ext cx="33013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原稿免费记录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01284" y="3200400"/>
            <a:ext cx="293455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原稿付费记录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18722" y="3200400"/>
            <a:ext cx="27511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原稿榜单分数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96768" y="3621024"/>
            <a:ext cx="102303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217087" y="3621024"/>
            <a:ext cx="330131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Luna 等，上下文 27K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01284" y="3621024"/>
            <a:ext cx="293455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Sol，更长上下文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18722" y="3621024"/>
            <a:ext cx="27511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Luna 38 → Sol 52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1330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548640" y="4133087"/>
            <a:ext cx="11094415" cy="51206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96768" y="4133087"/>
            <a:ext cx="102303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217087" y="4133087"/>
            <a:ext cx="330131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Sonnet、Haiku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701284" y="4133087"/>
            <a:ext cx="293455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Opus、Claude Code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818722" y="4133087"/>
            <a:ext cx="27511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Haiku 43 → Opus 58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6451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996768" y="4645152"/>
            <a:ext cx="102303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217087" y="4645152"/>
            <a:ext cx="330131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Flash-Lite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701284" y="4645152"/>
            <a:ext cx="293455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Argon（AI Pro）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818722" y="4645152"/>
            <a:ext cx="27511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 41 → Argon 53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548640" y="51572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比较时记录实际型号、入口和设置，避免只用品牌名代表一次体验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LogoBadge"/>
          <p:cNvSpPr/>
          <p:nvPr/>
        </p:nvSpPr>
        <p:spPr>
          <a:xfrm>
            <a:off x="694368" y="3736656"/>
            <a:ext cx="280800" cy="28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1" name="Logo" descr="open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04" y="3784392"/>
            <a:ext cx="185327" cy="185327"/>
          </a:xfrm>
          <a:prstGeom prst="rect">
            <a:avLst/>
          </a:prstGeom>
        </p:spPr>
      </p:pic>
      <p:sp>
        <p:nvSpPr>
          <p:cNvPr id="52" name="LogoBadge"/>
          <p:cNvSpPr/>
          <p:nvPr/>
        </p:nvSpPr>
        <p:spPr>
          <a:xfrm>
            <a:off x="694368" y="4248719"/>
            <a:ext cx="280800" cy="28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3" name="Logo" descr="clau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04" y="4296455"/>
            <a:ext cx="185327" cy="185327"/>
          </a:xfrm>
          <a:prstGeom prst="rect">
            <a:avLst/>
          </a:prstGeom>
        </p:spPr>
      </p:pic>
      <p:sp>
        <p:nvSpPr>
          <p:cNvPr id="54" name="LogoBadge"/>
          <p:cNvSpPr/>
          <p:nvPr/>
        </p:nvSpPr>
        <p:spPr>
          <a:xfrm>
            <a:off x="694368" y="4760784"/>
            <a:ext cx="280800" cy="28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5" name="Logo" descr="gemi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04" y="4808520"/>
            <a:ext cx="185327" cy="185327"/>
          </a:xfrm>
          <a:prstGeom prst="rect">
            <a:avLst/>
          </a:prstGeom>
        </p:spPr>
      </p:pic>
      <p:cxnSp>
        <p:nvCxnSpPr>
          <p:cNvPr id="56" name="Connector 55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实际效果 = 模型 × 外壳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同一个模型，换个客户端结果也会变；外壳决定它能读什么文件、能动什么、能跑多久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来源：各产品官网与 GitHub（2026-10-18 查询）；caprock.dev；本分享案例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4343400" cy="50292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模型（LLM）：看六项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92040" y="178308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endParaRPr sz="2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40680" y="1783080"/>
            <a:ext cx="6199632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40680" y="1783080"/>
            <a:ext cx="619963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外壳（Harness）：在哪跑、能跑多久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42316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25146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293522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一次装多少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61488" y="242316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926080" y="25146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最大输出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26080" y="293522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一次写多长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520439"/>
            <a:ext cx="2130552" cy="987552"/>
          </a:xfrm>
          <a:prstGeom prst="rect">
            <a:avLst/>
          </a:prstGeom>
          <a:solidFill>
            <a:srgbClr val="FBE9DE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61187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输入模态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3232" y="403250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真能看见图吗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761488" y="3520439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926080" y="361187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输出模态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26080" y="403250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能产出什么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461772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470915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3232" y="5129783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跨对话记住啥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61488" y="461772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926080" y="470915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推理与工具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26080" y="5129783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想多久、能调啥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40680" y="2423160"/>
            <a:ext cx="6199632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550408" y="2423160"/>
            <a:ext cx="14761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209464" y="2423160"/>
            <a:ext cx="221838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610730" y="2423160"/>
            <a:ext cx="195642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550408" y="2788920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聊天网页 / App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09464" y="2788920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DeepSeek、千问、ChatGPT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10730" y="2788920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一问一答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40680" y="3264408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Rectangle 40"/>
          <p:cNvSpPr/>
          <p:nvPr/>
        </p:nvSpPr>
        <p:spPr>
          <a:xfrm>
            <a:off x="5440680" y="3264408"/>
            <a:ext cx="6199632" cy="47548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550408" y="3264408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编辑器 / 插件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09464" y="3264408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CodeBuddy、Trae、Cursor、Cline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610730" y="3264408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在编辑器里改文件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5440680" y="3739896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5550408" y="3739896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终端 Agent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209464" y="3739896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Codex、Claude Code、OpenCode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610730" y="3739896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读写整个文件夹、跑程序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40680" y="4215383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0" name="Rectangle 49"/>
          <p:cNvSpPr/>
          <p:nvPr/>
        </p:nvSpPr>
        <p:spPr>
          <a:xfrm>
            <a:off x="5440680" y="4215383"/>
            <a:ext cx="6199632" cy="47548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550408" y="4215383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桌面办公 Agent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209464" y="4215383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WorkBuddy、Claude 桌面版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610730" y="4215383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直接处理本机 Excel、PDF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5440680" y="4690871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5550408" y="4690871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常驻 Agent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209464" y="4690871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Hermes Agent、OpenClaw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610730" y="4690871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长期运行，接聊天软件，有记忆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8" name="Connector 57"/>
          <p:cNvCxnSpPr/>
          <p:nvPr/>
        </p:nvCxnSpPr>
        <p:spPr>
          <a:xfrm>
            <a:off x="5440680" y="5166359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9" name="Rectangle 58"/>
          <p:cNvSpPr/>
          <p:nvPr/>
        </p:nvSpPr>
        <p:spPr>
          <a:xfrm>
            <a:off x="5440680" y="5166359"/>
            <a:ext cx="6199632" cy="47548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550408" y="5166359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 / 个人代理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209464" y="5166359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Devin、Jules、Hark、Muse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610730" y="5166359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云端电脑替你跑任务、办事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5440680" y="5641847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66" name="TextBox 6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模型决定上限，外壳决定它此刻能干什么；比较两个结果时，这两样都要写清楚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公开榜单①（AA 智能指数）：分数和价格不成正比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智能指数 v4.3.2；横轴是每道题实际花费；2026-10-18 查询，DeepSeek 1017 为 10-21 补查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来源：artificialanalysis.ai/leaderboards/models；artificialanalysis.ai/models/deepseek-v4-1-flash-1017（2026-10-21）；DeepSeek 官方价格页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48640" y="58978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417320" y="5897880"/>
            <a:ext cx="1022573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榜单只帮你挑候选；分数接近时，价格可能差 5 到 10 倍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1234440" y="1828800"/>
            <a:ext cx="5790542" cy="1567542"/>
          </a:xfrm>
          <a:prstGeom prst="rect">
            <a:avLst/>
          </a:prstGeom>
          <a:solidFill>
            <a:srgbClr val="E4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344168" y="1901952"/>
            <a:ext cx="29260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最划算区</a:t>
            </a: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  分高于中位、价低于中位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8" name="Connector 87"/>
          <p:cNvCxnSpPr/>
          <p:nvPr/>
        </p:nvCxnSpPr>
        <p:spPr>
          <a:xfrm>
            <a:off x="1234440" y="5257800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731520" y="5138928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26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0" name="Connector 89"/>
          <p:cNvCxnSpPr/>
          <p:nvPr/>
        </p:nvCxnSpPr>
        <p:spPr>
          <a:xfrm>
            <a:off x="1234440" y="4767942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91" name="TextBox 90"/>
          <p:cNvSpPr txBox="1"/>
          <p:nvPr/>
        </p:nvSpPr>
        <p:spPr>
          <a:xfrm>
            <a:off x="731520" y="4649070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31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2" name="Connector 91"/>
          <p:cNvCxnSpPr/>
          <p:nvPr/>
        </p:nvCxnSpPr>
        <p:spPr>
          <a:xfrm>
            <a:off x="1234440" y="4278085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93" name="TextBox 92"/>
          <p:cNvSpPr txBox="1"/>
          <p:nvPr/>
        </p:nvSpPr>
        <p:spPr>
          <a:xfrm>
            <a:off x="731520" y="4159213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36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4" name="Connector 93"/>
          <p:cNvCxnSpPr/>
          <p:nvPr/>
        </p:nvCxnSpPr>
        <p:spPr>
          <a:xfrm>
            <a:off x="1234440" y="3788228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95" name="TextBox 94"/>
          <p:cNvSpPr txBox="1"/>
          <p:nvPr/>
        </p:nvSpPr>
        <p:spPr>
          <a:xfrm>
            <a:off x="731520" y="3669356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41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6" name="Connector 95"/>
          <p:cNvCxnSpPr/>
          <p:nvPr/>
        </p:nvCxnSpPr>
        <p:spPr>
          <a:xfrm>
            <a:off x="1234440" y="3298371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97" name="TextBox 96"/>
          <p:cNvSpPr txBox="1"/>
          <p:nvPr/>
        </p:nvSpPr>
        <p:spPr>
          <a:xfrm>
            <a:off x="731520" y="3179499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46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8" name="Connector 97"/>
          <p:cNvCxnSpPr/>
          <p:nvPr/>
        </p:nvCxnSpPr>
        <p:spPr>
          <a:xfrm>
            <a:off x="1234440" y="2808514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99" name="TextBox 98"/>
          <p:cNvSpPr txBox="1"/>
          <p:nvPr/>
        </p:nvSpPr>
        <p:spPr>
          <a:xfrm>
            <a:off x="731520" y="2689642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51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0" name="Connector 99"/>
          <p:cNvCxnSpPr/>
          <p:nvPr/>
        </p:nvCxnSpPr>
        <p:spPr>
          <a:xfrm>
            <a:off x="1234440" y="2318657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01" name="TextBox 100"/>
          <p:cNvSpPr txBox="1"/>
          <p:nvPr/>
        </p:nvSpPr>
        <p:spPr>
          <a:xfrm>
            <a:off x="731520" y="2199785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56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2" name="Connector 101"/>
          <p:cNvCxnSpPr/>
          <p:nvPr/>
        </p:nvCxnSpPr>
        <p:spPr>
          <a:xfrm>
            <a:off x="1234440" y="1828800"/>
            <a:ext cx="10241280" cy="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03" name="TextBox 102"/>
          <p:cNvSpPr txBox="1"/>
          <p:nvPr/>
        </p:nvSpPr>
        <p:spPr>
          <a:xfrm>
            <a:off x="731520" y="1709928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61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4" name="Connector 103"/>
          <p:cNvCxnSpPr/>
          <p:nvPr/>
        </p:nvCxnSpPr>
        <p:spPr>
          <a:xfrm>
            <a:off x="1234440" y="1828800"/>
            <a:ext cx="0" cy="342900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05" name="TextBox 104"/>
          <p:cNvSpPr txBox="1"/>
          <p:nvPr/>
        </p:nvSpPr>
        <p:spPr>
          <a:xfrm>
            <a:off x="868680" y="53035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$0.05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6" name="Connector 105"/>
          <p:cNvCxnSpPr/>
          <p:nvPr/>
        </p:nvCxnSpPr>
        <p:spPr>
          <a:xfrm>
            <a:off x="2574245" y="1828800"/>
            <a:ext cx="0" cy="342900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07" name="TextBox 106"/>
          <p:cNvSpPr txBox="1"/>
          <p:nvPr/>
        </p:nvSpPr>
        <p:spPr>
          <a:xfrm>
            <a:off x="2208485" y="53035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$0.1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8" name="Connector 107"/>
          <p:cNvCxnSpPr/>
          <p:nvPr/>
        </p:nvCxnSpPr>
        <p:spPr>
          <a:xfrm>
            <a:off x="5685177" y="1828800"/>
            <a:ext cx="0" cy="342900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09" name="TextBox 108"/>
          <p:cNvSpPr txBox="1"/>
          <p:nvPr/>
        </p:nvSpPr>
        <p:spPr>
          <a:xfrm>
            <a:off x="5319417" y="53035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$0.5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0" name="Connector 109"/>
          <p:cNvCxnSpPr/>
          <p:nvPr/>
        </p:nvCxnSpPr>
        <p:spPr>
          <a:xfrm>
            <a:off x="7024982" y="1828800"/>
            <a:ext cx="0" cy="342900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11" name="TextBox 110"/>
          <p:cNvSpPr txBox="1"/>
          <p:nvPr/>
        </p:nvSpPr>
        <p:spPr>
          <a:xfrm>
            <a:off x="6659222" y="53035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$1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2" name="Connector 111"/>
          <p:cNvCxnSpPr/>
          <p:nvPr/>
        </p:nvCxnSpPr>
        <p:spPr>
          <a:xfrm>
            <a:off x="10135914" y="1828800"/>
            <a:ext cx="0" cy="342900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13" name="TextBox 112"/>
          <p:cNvSpPr txBox="1"/>
          <p:nvPr/>
        </p:nvSpPr>
        <p:spPr>
          <a:xfrm>
            <a:off x="9770154" y="53035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$5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4" name="Connector 113"/>
          <p:cNvCxnSpPr/>
          <p:nvPr/>
        </p:nvCxnSpPr>
        <p:spPr>
          <a:xfrm>
            <a:off x="11475720" y="1828800"/>
            <a:ext cx="0" cy="3429000"/>
          </a:xfrm>
          <a:prstGeom prst="line">
            <a:avLst/>
          </a:prstGeom>
          <a:ln w="6350">
            <a:solidFill>
              <a:srgbClr val="E3E1DA"/>
            </a:solidFill>
          </a:ln>
        </p:spPr>
      </p:cxnSp>
      <p:sp>
        <p:nvSpPr>
          <p:cNvPr id="115" name="TextBox 114"/>
          <p:cNvSpPr txBox="1"/>
          <p:nvPr/>
        </p:nvSpPr>
        <p:spPr>
          <a:xfrm>
            <a:off x="11109960" y="5303520"/>
            <a:ext cx="7315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$10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6" name="Connector 115"/>
          <p:cNvCxnSpPr/>
          <p:nvPr/>
        </p:nvCxnSpPr>
        <p:spPr>
          <a:xfrm>
            <a:off x="1234440" y="5257800"/>
            <a:ext cx="10241280" cy="0"/>
          </a:xfrm>
          <a:prstGeom prst="line">
            <a:avLst/>
          </a:prstGeom>
          <a:ln w="9525">
            <a:solidFill>
              <a:srgbClr val="8A909C"/>
            </a:solidFill>
          </a:ln>
        </p:spPr>
      </p:cxnSp>
      <p:sp>
        <p:nvSpPr>
          <p:cNvPr id="117" name="TextBox 116"/>
          <p:cNvSpPr txBox="1"/>
          <p:nvPr/>
        </p:nvSpPr>
        <p:spPr>
          <a:xfrm>
            <a:off x="1234440" y="5532120"/>
            <a:ext cx="10241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每道题成本（美元，对数刻度：每格贵 10 倍）</a:t>
            </a:r>
            <a:endParaRPr sz="11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384048" y="2514600"/>
            <a:ext cx="292608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智能指数</a:t>
            </a:r>
            <a:endParaRPr sz="11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9" name="Connector 118"/>
          <p:cNvCxnSpPr/>
          <p:nvPr/>
        </p:nvCxnSpPr>
        <p:spPr>
          <a:xfrm flipV="1">
            <a:off x="1828786" y="3298371"/>
            <a:ext cx="1252591" cy="783771"/>
          </a:xfrm>
          <a:prstGeom prst="line">
            <a:avLst/>
          </a:prstGeom>
          <a:ln w="15875">
            <a:solidFill>
              <a:srgbClr val="6FA79F"/>
            </a:solidFill>
            <a:prstDash val="dash"/>
          </a:ln>
        </p:spPr>
      </p:cxnSp>
      <p:cxnSp>
        <p:nvCxnSpPr>
          <p:cNvPr id="120" name="Connector 119"/>
          <p:cNvCxnSpPr/>
          <p:nvPr/>
        </p:nvCxnSpPr>
        <p:spPr>
          <a:xfrm flipV="1">
            <a:off x="3081377" y="2710542"/>
            <a:ext cx="3308630" cy="587829"/>
          </a:xfrm>
          <a:prstGeom prst="line">
            <a:avLst/>
          </a:prstGeom>
          <a:ln w="15875">
            <a:solidFill>
              <a:srgbClr val="6FA79F"/>
            </a:solidFill>
            <a:prstDash val="dash"/>
          </a:ln>
        </p:spPr>
      </p:cxnSp>
      <p:cxnSp>
        <p:nvCxnSpPr>
          <p:cNvPr id="121" name="Connector 120"/>
          <p:cNvCxnSpPr/>
          <p:nvPr/>
        </p:nvCxnSpPr>
        <p:spPr>
          <a:xfrm flipV="1">
            <a:off x="6390007" y="2612571"/>
            <a:ext cx="1965092" cy="97971"/>
          </a:xfrm>
          <a:prstGeom prst="line">
            <a:avLst/>
          </a:prstGeom>
          <a:ln w="15875">
            <a:solidFill>
              <a:srgbClr val="6FA79F"/>
            </a:solidFill>
            <a:prstDash val="dash"/>
          </a:ln>
        </p:spPr>
      </p:cxnSp>
      <p:cxnSp>
        <p:nvCxnSpPr>
          <p:cNvPr id="122" name="Connector 121"/>
          <p:cNvCxnSpPr/>
          <p:nvPr/>
        </p:nvCxnSpPr>
        <p:spPr>
          <a:xfrm flipV="1">
            <a:off x="8355099" y="2318657"/>
            <a:ext cx="1950934" cy="293914"/>
          </a:xfrm>
          <a:prstGeom prst="line">
            <a:avLst/>
          </a:prstGeom>
          <a:ln w="15875">
            <a:solidFill>
              <a:srgbClr val="6FA79F"/>
            </a:solidFill>
            <a:prstDash val="dash"/>
          </a:ln>
        </p:spPr>
      </p:cxnSp>
      <p:cxnSp>
        <p:nvCxnSpPr>
          <p:cNvPr id="123" name="Connector 122"/>
          <p:cNvCxnSpPr/>
          <p:nvPr/>
        </p:nvCxnSpPr>
        <p:spPr>
          <a:xfrm flipV="1">
            <a:off x="10306033" y="2122714"/>
            <a:ext cx="175842" cy="195943"/>
          </a:xfrm>
          <a:prstGeom prst="line">
            <a:avLst/>
          </a:prstGeom>
          <a:ln w="15875">
            <a:solidFill>
              <a:srgbClr val="6FA79F"/>
            </a:solidFill>
            <a:prstDash val="dash"/>
          </a:ln>
        </p:spPr>
      </p:cxnSp>
      <p:sp>
        <p:nvSpPr>
          <p:cNvPr id="124" name="Oval 123"/>
          <p:cNvSpPr/>
          <p:nvPr/>
        </p:nvSpPr>
        <p:spPr>
          <a:xfrm>
            <a:off x="10408723" y="2049562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8342179" y="199469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Opus 5.5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Oval 125"/>
          <p:cNvSpPr/>
          <p:nvPr/>
        </p:nvSpPr>
        <p:spPr>
          <a:xfrm>
            <a:off x="10232881" y="2245505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10434049" y="2190641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Sonnet 5.5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Oval 127"/>
          <p:cNvSpPr/>
          <p:nvPr/>
        </p:nvSpPr>
        <p:spPr>
          <a:xfrm>
            <a:off x="10879715" y="25394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10495667" y="2722299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Fable 5.1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Oval 129"/>
          <p:cNvSpPr/>
          <p:nvPr/>
        </p:nvSpPr>
        <p:spPr>
          <a:xfrm>
            <a:off x="9236027" y="25394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1" name="TextBox 130"/>
          <p:cNvSpPr txBox="1"/>
          <p:nvPr/>
        </p:nvSpPr>
        <p:spPr>
          <a:xfrm>
            <a:off x="8394779" y="2319963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GPT-6 Astra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Oval 131"/>
          <p:cNvSpPr/>
          <p:nvPr/>
        </p:nvSpPr>
        <p:spPr>
          <a:xfrm>
            <a:off x="8281947" y="25394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3" name="TextBox 132"/>
          <p:cNvSpPr txBox="1"/>
          <p:nvPr/>
        </p:nvSpPr>
        <p:spPr>
          <a:xfrm>
            <a:off x="6215403" y="2484555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Gemini 4 Argon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Oval 133"/>
          <p:cNvSpPr/>
          <p:nvPr/>
        </p:nvSpPr>
        <p:spPr>
          <a:xfrm>
            <a:off x="6316855" y="2637390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5" name="TextBox 134"/>
          <p:cNvSpPr txBox="1"/>
          <p:nvPr/>
        </p:nvSpPr>
        <p:spPr>
          <a:xfrm>
            <a:off x="4250311" y="258252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GPT-6.1 Sol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Oval 135"/>
          <p:cNvSpPr/>
          <p:nvPr/>
        </p:nvSpPr>
        <p:spPr>
          <a:xfrm>
            <a:off x="9867679" y="2637390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9163591" y="282027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Muse Wonder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9501531" y="32252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7434987" y="3170355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Grok 4.7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Oval 139"/>
          <p:cNvSpPr/>
          <p:nvPr/>
        </p:nvSpPr>
        <p:spPr>
          <a:xfrm>
            <a:off x="3935206" y="3519133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1868662" y="3464269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Haiku 5.5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Oval 141"/>
          <p:cNvSpPr/>
          <p:nvPr/>
        </p:nvSpPr>
        <p:spPr>
          <a:xfrm>
            <a:off x="7367626" y="3715076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7568794" y="366021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Gemini 3.8 Flash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Oval 143"/>
          <p:cNvSpPr/>
          <p:nvPr/>
        </p:nvSpPr>
        <p:spPr>
          <a:xfrm>
            <a:off x="1755634" y="4008990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1417306" y="419187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GPT-6 Luna</a:t>
            </a:r>
            <a:endParaRPr sz="110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Oval 145"/>
          <p:cNvSpPr/>
          <p:nvPr/>
        </p:nvSpPr>
        <p:spPr>
          <a:xfrm>
            <a:off x="3008225" y="3225219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941681" y="3170355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MiMo-V2.6-Pro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Oval 147"/>
          <p:cNvSpPr/>
          <p:nvPr/>
        </p:nvSpPr>
        <p:spPr>
          <a:xfrm>
            <a:off x="10215099" y="3323190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10416267" y="326832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Qwen3.8 Max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8301276" y="3323190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6234732" y="326832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GLM-5.3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Oval 151"/>
          <p:cNvSpPr/>
          <p:nvPr/>
        </p:nvSpPr>
        <p:spPr>
          <a:xfrm>
            <a:off x="8291636" y="3421162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" name="TextBox 152"/>
          <p:cNvSpPr txBox="1"/>
          <p:nvPr/>
        </p:nvSpPr>
        <p:spPr>
          <a:xfrm>
            <a:off x="8492804" y="336629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Kimi K3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4" name="Oval 153"/>
          <p:cNvSpPr/>
          <p:nvPr/>
        </p:nvSpPr>
        <p:spPr>
          <a:xfrm>
            <a:off x="7008965" y="3421162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5" name="TextBox 154"/>
          <p:cNvSpPr txBox="1"/>
          <p:nvPr/>
        </p:nvSpPr>
        <p:spPr>
          <a:xfrm>
            <a:off x="4942421" y="336629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Step 5 Preview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Oval 155"/>
          <p:cNvSpPr/>
          <p:nvPr/>
        </p:nvSpPr>
        <p:spPr>
          <a:xfrm>
            <a:off x="4491276" y="3617105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4692444" y="3562241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GLM-5.3-Flash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Oval 157"/>
          <p:cNvSpPr/>
          <p:nvPr/>
        </p:nvSpPr>
        <p:spPr>
          <a:xfrm>
            <a:off x="5030010" y="3813048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5231178" y="375818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Qwen3.8-Flash-Next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Oval 159"/>
          <p:cNvSpPr/>
          <p:nvPr/>
        </p:nvSpPr>
        <p:spPr>
          <a:xfrm>
            <a:off x="5650302" y="4890733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5851470" y="4835869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MiniMax M3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Oval 161"/>
          <p:cNvSpPr/>
          <p:nvPr/>
        </p:nvSpPr>
        <p:spPr>
          <a:xfrm>
            <a:off x="4420980" y="3911019"/>
            <a:ext cx="146304" cy="146304"/>
          </a:xfrm>
          <a:prstGeom prst="ellipse">
            <a:avLst/>
          </a:prstGeom>
          <a:noFill/>
          <a:ln w="19050">
            <a:solidFill>
              <a:srgbClr val="A3A9B4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3" name="TextBox 162"/>
          <p:cNvSpPr txBox="1"/>
          <p:nvPr/>
        </p:nvSpPr>
        <p:spPr>
          <a:xfrm>
            <a:off x="2354436" y="3856155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7A808C"/>
                </a:solidFill>
                <a:latin typeface="微软雅黑" panose="020B0503020204020204" charset="-122"/>
                <a:ea typeface="微软雅黑" panose="020B0503020204020204" charset="-122"/>
              </a:rPr>
              <a:t>DeepSeek 9 月版</a:t>
            </a:r>
            <a:endParaRPr sz="1050" b="0">
              <a:solidFill>
                <a:srgbClr val="7A80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4" name="Connector 163"/>
          <p:cNvCxnSpPr/>
          <p:nvPr/>
        </p:nvCxnSpPr>
        <p:spPr>
          <a:xfrm flipH="1" flipV="1">
            <a:off x="4421182" y="3524358"/>
            <a:ext cx="72950" cy="368373"/>
          </a:xfrm>
          <a:prstGeom prst="line">
            <a:avLst/>
          </a:prstGeom>
          <a:ln w="19050">
            <a:solidFill>
              <a:srgbClr val="D9622B"/>
            </a:solidFill>
            <a:tailEnd type="triangle" w="med" len="med"/>
          </a:ln>
        </p:spPr>
      </p:cxnSp>
      <p:sp>
        <p:nvSpPr>
          <p:cNvPr id="165" name="Oval 164"/>
          <p:cNvSpPr/>
          <p:nvPr/>
        </p:nvSpPr>
        <p:spPr>
          <a:xfrm>
            <a:off x="4284022" y="3259182"/>
            <a:ext cx="274320" cy="274320"/>
          </a:xfrm>
          <a:prstGeom prst="ellipse">
            <a:avLst/>
          </a:prstGeom>
          <a:noFill/>
          <a:ln w="15875">
            <a:solidFill>
              <a:srgbClr val="D962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6" name="Oval 165"/>
          <p:cNvSpPr/>
          <p:nvPr/>
        </p:nvSpPr>
        <p:spPr>
          <a:xfrm>
            <a:off x="4338886" y="3314046"/>
            <a:ext cx="164592" cy="164592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7" name="TextBox 166"/>
          <p:cNvSpPr txBox="1"/>
          <p:nvPr/>
        </p:nvSpPr>
        <p:spPr>
          <a:xfrm>
            <a:off x="2592382" y="2966574"/>
            <a:ext cx="1700784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DeepSeek 1017</a:t>
            </a:r>
            <a:endParaRPr sz="12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Rectangle 167"/>
          <p:cNvSpPr/>
          <p:nvPr/>
        </p:nvSpPr>
        <p:spPr>
          <a:xfrm>
            <a:off x="7086600" y="4160520"/>
            <a:ext cx="4343400" cy="960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9" name="Rectangle 168"/>
          <p:cNvSpPr/>
          <p:nvPr/>
        </p:nvSpPr>
        <p:spPr>
          <a:xfrm>
            <a:off x="7086600" y="4160520"/>
            <a:ext cx="54864" cy="9601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0" name="TextBox 169"/>
          <p:cNvSpPr txBox="1"/>
          <p:nvPr/>
        </p:nvSpPr>
        <p:spPr>
          <a:xfrm>
            <a:off x="7269480" y="4233672"/>
            <a:ext cx="4114800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DeepSeek 1017：</a:t>
            </a:r>
            <a:r>
              <a:rPr sz="12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39 → 45 分，价格没变</a:t>
            </a:r>
            <a:endParaRPr sz="12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追平 GLM-5.3，每题成本约它的八分之一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但话多：跑一轮指数输出 2.1 亿 token，同类中位 1.4 亿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8000"/>
              </a:lnSpc>
            </a:pPr>
            <a:r>
              <a:rPr sz="105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美国  </a:t>
            </a: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● </a:t>
            </a: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中国  </a:t>
            </a:r>
            <a:r>
              <a:rPr sz="1050" b="1">
                <a:solidFill>
                  <a:srgbClr val="6FA79F"/>
                </a:solidFill>
                <a:latin typeface="微软雅黑" panose="020B0503020204020204" charset="-122"/>
                <a:ea typeface="微软雅黑" panose="020B0503020204020204" charset="-122"/>
              </a:rPr>
              <a:t>┅ </a:t>
            </a: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帕累托线：没人比它更便宜又更高分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1" name="Connector 170"/>
          <p:cNvCxnSpPr/>
          <p:nvPr/>
        </p:nvCxnSpPr>
        <p:spPr>
          <a:xfrm>
            <a:off x="548640" y="591616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公开榜单②：不同评测衡量不同能力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2026-10-13 至 10-18 查询；Arena 即原 LMArena；分差在误差范围内的按“并列”看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来源：epoch.ai/benchmarks；arcprize.org/blog/astra；arena.ai/leaderboard；artificialanalysis.ai；BenchLeader（LiveBench）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4415" cy="32370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2109354" cy="3237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0602" y="1783080"/>
            <a:ext cx="2476112" cy="3237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主要测什么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09594" y="1783080"/>
            <a:ext cx="2751180" cy="3237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第一名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43654" y="1783080"/>
            <a:ext cx="3026248" cy="3237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紧随其后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06786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Epoch 综合指数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50602" y="2106786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 多项评测合成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46399" y="2106786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43654" y="2106786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Astra（几乎并列）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47463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548640" y="2474635"/>
            <a:ext cx="11094415" cy="3678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2474635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FrontierMath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50602" y="2474635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研究级数学题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46399" y="2474635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97.6%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43654" y="2474635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Erdős 未解题：唯一得分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48640" y="28424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58368" y="2842484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ARC-AGI-3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50602" y="2842484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全新抽象推理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846399" y="2842484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99.9%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43654" y="2842484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 97.5%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321033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548640" y="3210333"/>
            <a:ext cx="11094415" cy="3678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" y="3210333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LiveBench 推理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50602" y="3210333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推理题，定期换题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846399" y="3210333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92.7%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43654" y="3210333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357818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658368" y="3578181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智能指数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50602" y="3578181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 Agent、办公任务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846399" y="3578181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 58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43654" y="3578181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 5.5 56，Astra 53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394603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Rectangle 40"/>
          <p:cNvSpPr/>
          <p:nvPr/>
        </p:nvSpPr>
        <p:spPr>
          <a:xfrm>
            <a:off x="548640" y="3946030"/>
            <a:ext cx="11094415" cy="3678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8368" y="3946030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Arena 文字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50602" y="3946030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人类盲投偏好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846399" y="3946030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543654" y="3946030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Wonder、Opus 5.5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8640" y="431387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58368" y="4313879"/>
            <a:ext cx="210935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Arena Agent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950602" y="4313879"/>
            <a:ext cx="2476112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人类评 Agent 干活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846399" y="4313879"/>
            <a:ext cx="2514374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543654" y="4313879"/>
            <a:ext cx="3026248" cy="3678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Sol、Fable 5.1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468172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548640" y="4864608"/>
            <a:ext cx="9144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417320" y="4864608"/>
            <a:ext cx="720110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先看榜单测什么，再用真实工作任务比较候选配置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LogoBadge"/>
          <p:cNvSpPr/>
          <p:nvPr/>
        </p:nvSpPr>
        <p:spPr>
          <a:xfrm>
            <a:off x="5623200" y="2200711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7" name="Logo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3800" y="2231311"/>
            <a:ext cx="118799" cy="118799"/>
          </a:xfrm>
          <a:prstGeom prst="rect">
            <a:avLst/>
          </a:prstGeom>
        </p:spPr>
      </p:pic>
      <p:sp>
        <p:nvSpPr>
          <p:cNvPr id="58" name="LogoBadge"/>
          <p:cNvSpPr/>
          <p:nvPr/>
        </p:nvSpPr>
        <p:spPr>
          <a:xfrm>
            <a:off x="5623200" y="2568559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9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800" y="2599160"/>
            <a:ext cx="118799" cy="118799"/>
          </a:xfrm>
          <a:prstGeom prst="rect">
            <a:avLst/>
          </a:prstGeom>
        </p:spPr>
      </p:pic>
      <p:sp>
        <p:nvSpPr>
          <p:cNvPr id="60" name="LogoBadge"/>
          <p:cNvSpPr/>
          <p:nvPr/>
        </p:nvSpPr>
        <p:spPr>
          <a:xfrm>
            <a:off x="5623200" y="2936408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1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800" y="2967008"/>
            <a:ext cx="118799" cy="118799"/>
          </a:xfrm>
          <a:prstGeom prst="rect">
            <a:avLst/>
          </a:prstGeom>
        </p:spPr>
      </p:pic>
      <p:sp>
        <p:nvSpPr>
          <p:cNvPr id="62" name="LogoBadge"/>
          <p:cNvSpPr/>
          <p:nvPr/>
        </p:nvSpPr>
        <p:spPr>
          <a:xfrm>
            <a:off x="5623200" y="330425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3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800" y="3334857"/>
            <a:ext cx="118799" cy="118799"/>
          </a:xfrm>
          <a:prstGeom prst="rect">
            <a:avLst/>
          </a:prstGeom>
        </p:spPr>
      </p:pic>
      <p:sp>
        <p:nvSpPr>
          <p:cNvPr id="64" name="LogoBadge"/>
          <p:cNvSpPr/>
          <p:nvPr/>
        </p:nvSpPr>
        <p:spPr>
          <a:xfrm>
            <a:off x="5623200" y="367210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5" name="Logo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3800" y="3702706"/>
            <a:ext cx="118799" cy="118799"/>
          </a:xfrm>
          <a:prstGeom prst="rect">
            <a:avLst/>
          </a:prstGeom>
        </p:spPr>
      </p:pic>
      <p:sp>
        <p:nvSpPr>
          <p:cNvPr id="66" name="LogoBadge"/>
          <p:cNvSpPr/>
          <p:nvPr/>
        </p:nvSpPr>
        <p:spPr>
          <a:xfrm>
            <a:off x="5623200" y="4039954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7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800" y="4070555"/>
            <a:ext cx="118799" cy="118799"/>
          </a:xfrm>
          <a:prstGeom prst="rect">
            <a:avLst/>
          </a:prstGeom>
        </p:spPr>
      </p:pic>
      <p:sp>
        <p:nvSpPr>
          <p:cNvPr id="68" name="LogoBadge"/>
          <p:cNvSpPr/>
          <p:nvPr/>
        </p:nvSpPr>
        <p:spPr>
          <a:xfrm>
            <a:off x="5623200" y="4407803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9" name="Logo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3800" y="4438403"/>
            <a:ext cx="118799" cy="118799"/>
          </a:xfrm>
          <a:prstGeom prst="rect">
            <a:avLst/>
          </a:prstGeom>
        </p:spPr>
      </p:pic>
      <p:pic>
        <p:nvPicPr>
          <p:cNvPr id="70" name="Picture 69" descr="meme_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034" y="4681728"/>
            <a:ext cx="2908277" cy="1636776"/>
          </a:xfrm>
          <a:prstGeom prst="rect">
            <a:avLst/>
          </a:prstGeom>
        </p:spPr>
      </p:pic>
      <p:cxnSp>
        <p:nvCxnSpPr>
          <p:cNvPr id="71" name="Connector 70"/>
          <p:cNvCxnSpPr/>
          <p:nvPr/>
        </p:nvCxnSpPr>
        <p:spPr>
          <a:xfrm>
            <a:off x="548640" y="4882896"/>
            <a:ext cx="806978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公开榜单中的模型分布（2026 年 10 月）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 Epoch、AA、Arena 三个榜单的位置分层；括号内为 AA 智能指数 v4.3.2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来源：artificialanalysis.ai；epoch.ai/eci；arena.ai/leaderboard；huggingface.co/datasets/lmarena-ai（2026-10-16）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2377440" cy="8412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第一梯队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· Anthropic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71800" y="1783080"/>
            <a:ext cx="867125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154680" y="1783080"/>
            <a:ext cx="835121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Astra、GPT-6.1 Sol（53/52）；Claude Opus 5.5、Sonnet 5.5（58/56）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68680" y="2697480"/>
            <a:ext cx="2377440" cy="841248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05840" y="26974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紧随其后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· Meta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91840" y="2697480"/>
            <a:ext cx="835121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803117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Argon（53，人类盲投第一）；Muse Wonder（52）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88719" y="3611880"/>
            <a:ext cx="2377440" cy="8412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36118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第二梯队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xAI · 国产头部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11880" y="3611880"/>
            <a:ext cx="803117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794760" y="3611880"/>
            <a:ext cx="771113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4.7（46）；MiMo（46）、Qwen3.8 Max（45）、GLM-5.3（45）、Kimi K3、Step 5（44）；DeepSeek 1017（45）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08760" y="4526280"/>
            <a:ext cx="2377440" cy="8412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645919" y="45262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其后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国产追赶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931920" y="4526280"/>
            <a:ext cx="771113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114800" y="4526280"/>
            <a:ext cx="739109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腾讯 Hy4（Agent 榜与 DeepSeek 9 月版相近）；MiniMax M3（29）；豆包无同口径分数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开源模型前六名全是中国模型；DeepSeek 1017 版升到 45 分，每题仍只要 $0.26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" y="5870448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17320" y="5870448"/>
            <a:ext cx="1022573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分层只反映所列榜单与日期，工作适配度仍由自己的任务验证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LogoBadge"/>
          <p:cNvSpPr/>
          <p:nvPr/>
        </p:nvSpPr>
        <p:spPr>
          <a:xfrm>
            <a:off x="2432880" y="18334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Logo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4704" y="1865304"/>
            <a:ext cx="123552" cy="123552"/>
          </a:xfrm>
          <a:prstGeom prst="rect">
            <a:avLst/>
          </a:prstGeom>
        </p:spPr>
      </p:pic>
      <p:sp>
        <p:nvSpPr>
          <p:cNvPr id="32" name="LogoBadge"/>
          <p:cNvSpPr/>
          <p:nvPr/>
        </p:nvSpPr>
        <p:spPr>
          <a:xfrm>
            <a:off x="2648880" y="18334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Logo" descr="anthro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704" y="1865304"/>
            <a:ext cx="123552" cy="123552"/>
          </a:xfrm>
          <a:prstGeom prst="rect">
            <a:avLst/>
          </a:prstGeom>
        </p:spPr>
      </p:pic>
      <p:sp>
        <p:nvSpPr>
          <p:cNvPr id="34" name="LogoBadge"/>
          <p:cNvSpPr/>
          <p:nvPr/>
        </p:nvSpPr>
        <p:spPr>
          <a:xfrm>
            <a:off x="2752920" y="27478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5" name="Logo" descr="goo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744" y="2779704"/>
            <a:ext cx="123552" cy="123552"/>
          </a:xfrm>
          <a:prstGeom prst="rect">
            <a:avLst/>
          </a:prstGeom>
        </p:spPr>
      </p:pic>
      <p:sp>
        <p:nvSpPr>
          <p:cNvPr id="36" name="LogoBadge"/>
          <p:cNvSpPr/>
          <p:nvPr/>
        </p:nvSpPr>
        <p:spPr>
          <a:xfrm>
            <a:off x="2968920" y="27478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7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744" y="2779704"/>
            <a:ext cx="123552" cy="123552"/>
          </a:xfrm>
          <a:prstGeom prst="rect">
            <a:avLst/>
          </a:prstGeom>
        </p:spPr>
      </p:pic>
      <p:sp>
        <p:nvSpPr>
          <p:cNvPr id="38" name="LogoBadge"/>
          <p:cNvSpPr/>
          <p:nvPr/>
        </p:nvSpPr>
        <p:spPr>
          <a:xfrm>
            <a:off x="2640959" y="36622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Logo" descr="gr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2783" y="3694104"/>
            <a:ext cx="123552" cy="123552"/>
          </a:xfrm>
          <a:prstGeom prst="rect">
            <a:avLst/>
          </a:prstGeom>
        </p:spPr>
      </p:pic>
      <p:sp>
        <p:nvSpPr>
          <p:cNvPr id="40" name="LogoBadge"/>
          <p:cNvSpPr/>
          <p:nvPr/>
        </p:nvSpPr>
        <p:spPr>
          <a:xfrm>
            <a:off x="2856958" y="36622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8782" y="3694104"/>
            <a:ext cx="123552" cy="123552"/>
          </a:xfrm>
          <a:prstGeom prst="rect">
            <a:avLst/>
          </a:prstGeom>
        </p:spPr>
      </p:pic>
      <p:sp>
        <p:nvSpPr>
          <p:cNvPr id="42" name="LogoBadge"/>
          <p:cNvSpPr/>
          <p:nvPr/>
        </p:nvSpPr>
        <p:spPr>
          <a:xfrm>
            <a:off x="3072958" y="36622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3" name="Logo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4782" y="3694104"/>
            <a:ext cx="123552" cy="123552"/>
          </a:xfrm>
          <a:prstGeom prst="rect">
            <a:avLst/>
          </a:prstGeom>
        </p:spPr>
      </p:pic>
      <p:sp>
        <p:nvSpPr>
          <p:cNvPr id="44" name="LogoBadge"/>
          <p:cNvSpPr/>
          <p:nvPr/>
        </p:nvSpPr>
        <p:spPr>
          <a:xfrm>
            <a:off x="3288958" y="36622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5" name="Logo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0782" y="3694104"/>
            <a:ext cx="123552" cy="123552"/>
          </a:xfrm>
          <a:prstGeom prst="rect">
            <a:avLst/>
          </a:prstGeom>
        </p:spPr>
      </p:pic>
      <p:sp>
        <p:nvSpPr>
          <p:cNvPr id="46" name="LogoBadge"/>
          <p:cNvSpPr/>
          <p:nvPr/>
        </p:nvSpPr>
        <p:spPr>
          <a:xfrm>
            <a:off x="3176999" y="45766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Logo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8823" y="4608504"/>
            <a:ext cx="123552" cy="123552"/>
          </a:xfrm>
          <a:prstGeom prst="rect">
            <a:avLst/>
          </a:prstGeom>
        </p:spPr>
      </p:pic>
      <p:sp>
        <p:nvSpPr>
          <p:cNvPr id="48" name="LogoBadge"/>
          <p:cNvSpPr/>
          <p:nvPr/>
        </p:nvSpPr>
        <p:spPr>
          <a:xfrm>
            <a:off x="3392999" y="45766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9" name="Logo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4823" y="4608504"/>
            <a:ext cx="123552" cy="123552"/>
          </a:xfrm>
          <a:prstGeom prst="rect">
            <a:avLst/>
          </a:prstGeom>
        </p:spPr>
      </p:pic>
      <p:sp>
        <p:nvSpPr>
          <p:cNvPr id="50" name="LogoBadge"/>
          <p:cNvSpPr/>
          <p:nvPr/>
        </p:nvSpPr>
        <p:spPr>
          <a:xfrm>
            <a:off x="3608999" y="457668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1" name="Logo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40823" y="4608504"/>
            <a:ext cx="123552" cy="123552"/>
          </a:xfrm>
          <a:prstGeom prst="rect">
            <a:avLst/>
          </a:prstGeom>
        </p:spPr>
      </p:pic>
      <p:cxnSp>
        <p:nvCxnSpPr>
          <p:cNvPr id="52" name="Connector 51"/>
          <p:cNvCxnSpPr/>
          <p:nvPr/>
        </p:nvCxnSpPr>
        <p:spPr>
          <a:xfrm>
            <a:off x="548640" y="5888736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各家模型的“脾气”：使用体感与公开证据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左边是分享人和社区的使用体感，不是评测结论；右边是能对上的公开证据或本次案例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来源：分享人体感；本分享两个案例；Artificial Analysis；FrontierMath Erdős；LMArena；Sun 等 ICML 2025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65960" y="1755648"/>
            <a:ext cx="4846320" cy="254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体感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86600" y="1755648"/>
            <a:ext cx="4480560" cy="254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能对上的证据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031556"/>
            <a:ext cx="1325880" cy="471948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48640" y="2180201"/>
            <a:ext cx="1325880" cy="3233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874519" y="2031556"/>
            <a:ext cx="9765792" cy="4719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011680" y="2031556"/>
            <a:ext cx="49377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写代码偏“防御式”，兜底写得很全；推理这一项最硬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86600" y="2031556"/>
            <a:ext cx="44805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 是 FrontierMath Erdős 未解题唯一得分的模型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2576112"/>
            <a:ext cx="1325880" cy="4719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2724757"/>
            <a:ext cx="1325880" cy="3233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874519" y="2576112"/>
            <a:ext cx="9765792" cy="4719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011680" y="2576112"/>
            <a:ext cx="49377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最听得懂人话，一句话就办对；会主动查证，也爱纠正你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86600" y="2576112"/>
            <a:ext cx="44805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报告案例 4 分钟出结果、金额全对、承建单位也查对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120667"/>
            <a:ext cx="1325880" cy="471948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3269313"/>
            <a:ext cx="1325880" cy="3233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74519" y="3120667"/>
            <a:ext cx="9765792" cy="4719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011680" y="3120667"/>
            <a:ext cx="49377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知识面最广，中文最顺；但几乎不反对你，先夸再顺着说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86600" y="3120667"/>
            <a:ext cx="44805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职业作家盲评榜前两名（2026-02，较旧）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3665223"/>
            <a:ext cx="1325880" cy="4719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3813868"/>
            <a:ext cx="1325880" cy="3233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874519" y="3665223"/>
            <a:ext cx="9765792" cy="4719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11680" y="3665223"/>
            <a:ext cx="49377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出字最快、最便宜；但先来一段“雷霆大思考”才给答案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86600" y="3665223"/>
            <a:ext cx="44805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报告案例原因最具体，但有套错，耗时 34 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48640" y="4209779"/>
            <a:ext cx="1325880" cy="4719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48640" y="4358424"/>
            <a:ext cx="1325880" cy="3233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豆包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874519" y="4209779"/>
            <a:ext cx="9765792" cy="4719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011680" y="4209779"/>
            <a:ext cx="49377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彻底顺着你：说 A 对就夸 A 对，说 A 错就立刻改口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86600" y="4209779"/>
            <a:ext cx="4480560" cy="4719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未进本次盲测，也无同口径分数；只按日常使用记录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486460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17320" y="4864608"/>
            <a:ext cx="473921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脾气是真的：按任务挑，比按总分挑靠谱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LogoBadge"/>
          <p:cNvSpPr/>
          <p:nvPr/>
        </p:nvSpPr>
        <p:spPr>
          <a:xfrm>
            <a:off x="1099980" y="2045732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Logo" descr="opena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924" y="2083676"/>
            <a:ext cx="147312" cy="147312"/>
          </a:xfrm>
          <a:prstGeom prst="rect">
            <a:avLst/>
          </a:prstGeom>
        </p:spPr>
      </p:pic>
      <p:sp>
        <p:nvSpPr>
          <p:cNvPr id="42" name="LogoBadge"/>
          <p:cNvSpPr/>
          <p:nvPr/>
        </p:nvSpPr>
        <p:spPr>
          <a:xfrm>
            <a:off x="1099980" y="2590288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3" name="Logo" descr="cl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924" y="2628232"/>
            <a:ext cx="147312" cy="147312"/>
          </a:xfrm>
          <a:prstGeom prst="rect">
            <a:avLst/>
          </a:prstGeom>
        </p:spPr>
      </p:pic>
      <p:sp>
        <p:nvSpPr>
          <p:cNvPr id="44" name="LogoBadge"/>
          <p:cNvSpPr/>
          <p:nvPr/>
        </p:nvSpPr>
        <p:spPr>
          <a:xfrm>
            <a:off x="1099980" y="3134844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5" name="Logo" descr="gemi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924" y="3172788"/>
            <a:ext cx="147312" cy="147312"/>
          </a:xfrm>
          <a:prstGeom prst="rect">
            <a:avLst/>
          </a:prstGeom>
        </p:spPr>
      </p:pic>
      <p:sp>
        <p:nvSpPr>
          <p:cNvPr id="46" name="LogoBadge"/>
          <p:cNvSpPr/>
          <p:nvPr/>
        </p:nvSpPr>
        <p:spPr>
          <a:xfrm>
            <a:off x="1099980" y="3679400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Logo" descr="deepsee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924" y="3717344"/>
            <a:ext cx="147312" cy="147312"/>
          </a:xfrm>
          <a:prstGeom prst="rect">
            <a:avLst/>
          </a:prstGeom>
        </p:spPr>
      </p:pic>
      <p:sp>
        <p:nvSpPr>
          <p:cNvPr id="48" name="LogoBadge"/>
          <p:cNvSpPr/>
          <p:nvPr/>
        </p:nvSpPr>
        <p:spPr>
          <a:xfrm>
            <a:off x="1099980" y="4223956"/>
            <a:ext cx="223200" cy="223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9" name="Logo" descr="douba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924" y="4261900"/>
            <a:ext cx="147312" cy="147312"/>
          </a:xfrm>
          <a:prstGeom prst="rect">
            <a:avLst/>
          </a:prstGeom>
        </p:spPr>
      </p:pic>
      <p:pic>
        <p:nvPicPr>
          <p:cNvPr id="50" name="Picture 49" descr="meme_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928" y="4681728"/>
            <a:ext cx="1782383" cy="1645920"/>
          </a:xfrm>
          <a:prstGeom prst="rect">
            <a:avLst/>
          </a:prstGeom>
        </p:spPr>
      </p:pic>
      <p:cxnSp>
        <p:nvCxnSpPr>
          <p:cNvPr id="51" name="Connector 50"/>
          <p:cNvCxnSpPr/>
          <p:nvPr/>
        </p:nvCxnSpPr>
        <p:spPr>
          <a:xfrm>
            <a:off x="548640" y="4882896"/>
            <a:ext cx="560789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1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lang="en-US"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免费额度与入门付费：原稿查询记录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价格与额度 2026-10-18 查询，活动经常变，以官网为准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来源：workbuddy.cn、trae.cn、qoder.com、docs.cline.bot、learn.chatgpt.com、kiro.dev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1094415" cy="331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2292733" cy="331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33981" y="1828800"/>
            <a:ext cx="3393005" cy="331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免费能用多少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09867" y="1828800"/>
            <a:ext cx="2751180" cy="331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想多用：最低付费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43927" y="1828800"/>
            <a:ext cx="1925975" cy="331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7968" y="2160200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WorkBuddy（腾讯）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33981" y="2160200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09867" y="2160200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¥99/月（连续包月 ¥70）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43927" y="2160200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国内版，人民币支付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52041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548640" y="2520418"/>
            <a:ext cx="11094415" cy="36021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7968" y="2520418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国内版（字节）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33981" y="2520418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积分，功能全开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09867" y="2520418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¥49/月起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43927" y="2520418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trae.cn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48640" y="288063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967968" y="2880637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Qoder（阿里）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33981" y="2880637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新用户 2 周试用＋300 Credits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09867" y="2880637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$20/月；国内版 ¥59/月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43927" y="2880637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可接自己的 API Key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32408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548640" y="3240855"/>
            <a:ext cx="11094415" cy="36021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67968" y="3240855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33981" y="3240855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插件开源免费；限时免费模型轮换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09867" y="3240855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$9.99/月，或自带 Key 按量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43927" y="3240855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 Code 插件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360107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967968" y="3601073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Codex（OpenAI）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133981" y="3601073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免费账号可用小模型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09867" y="3601073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$20/月（Plus）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43927" y="3601073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需海外账号</a:t>
            </a:r>
            <a:endParaRPr sz="15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39612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Rectangle 40"/>
          <p:cNvSpPr/>
          <p:nvPr/>
        </p:nvSpPr>
        <p:spPr>
          <a:xfrm>
            <a:off x="548640" y="3961291"/>
            <a:ext cx="11094415" cy="36021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67968" y="3961291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Kiro（AWS）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133981" y="3961291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 credits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709867" y="3961291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643927" y="3961291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需海外账号</a:t>
            </a:r>
            <a:endParaRPr sz="15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8640" y="432150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967968" y="4321509"/>
            <a:ext cx="1975933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133981" y="4321509"/>
            <a:ext cx="339300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无免费版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09867" y="4321509"/>
            <a:ext cx="2751180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$20/月（Claude Pro）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643927" y="4321509"/>
            <a:ext cx="1925975" cy="3602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需海外账号</a:t>
            </a:r>
            <a:endParaRPr sz="15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468172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548640" y="4864608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417320" y="4864608"/>
            <a:ext cx="842436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先用免费积分跑通一个真实小任务，再决定付不付费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LogoBadge"/>
          <p:cNvSpPr/>
          <p:nvPr/>
        </p:nvSpPr>
        <p:spPr>
          <a:xfrm>
            <a:off x="665568" y="2210709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7" name="Logo" descr="tenc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632" y="2254773"/>
            <a:ext cx="171071" cy="171071"/>
          </a:xfrm>
          <a:prstGeom prst="rect">
            <a:avLst/>
          </a:prstGeom>
        </p:spPr>
      </p:pic>
      <p:sp>
        <p:nvSpPr>
          <p:cNvPr id="58" name="LogoBadge"/>
          <p:cNvSpPr/>
          <p:nvPr/>
        </p:nvSpPr>
        <p:spPr>
          <a:xfrm>
            <a:off x="665568" y="2570928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9" name="Logo" descr="byte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32" y="2614992"/>
            <a:ext cx="171071" cy="171071"/>
          </a:xfrm>
          <a:prstGeom prst="rect">
            <a:avLst/>
          </a:prstGeom>
        </p:spPr>
      </p:pic>
      <p:sp>
        <p:nvSpPr>
          <p:cNvPr id="60" name="LogoBadge"/>
          <p:cNvSpPr/>
          <p:nvPr/>
        </p:nvSpPr>
        <p:spPr>
          <a:xfrm>
            <a:off x="665568" y="2931146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1" name="Logo" descr="alibab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32" y="2975210"/>
            <a:ext cx="171071" cy="171071"/>
          </a:xfrm>
          <a:prstGeom prst="rect">
            <a:avLst/>
          </a:prstGeom>
        </p:spPr>
      </p:pic>
      <p:sp>
        <p:nvSpPr>
          <p:cNvPr id="62" name="LogoBadge"/>
          <p:cNvSpPr/>
          <p:nvPr/>
        </p:nvSpPr>
        <p:spPr>
          <a:xfrm>
            <a:off x="665568" y="3291363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3" name="Logo" descr="c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32" y="3335428"/>
            <a:ext cx="171071" cy="171071"/>
          </a:xfrm>
          <a:prstGeom prst="rect">
            <a:avLst/>
          </a:prstGeom>
        </p:spPr>
      </p:pic>
      <p:sp>
        <p:nvSpPr>
          <p:cNvPr id="64" name="LogoBadge"/>
          <p:cNvSpPr/>
          <p:nvPr/>
        </p:nvSpPr>
        <p:spPr>
          <a:xfrm>
            <a:off x="665568" y="3651582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5" name="Logo" descr="code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632" y="3695646"/>
            <a:ext cx="171071" cy="171071"/>
          </a:xfrm>
          <a:prstGeom prst="rect">
            <a:avLst/>
          </a:prstGeom>
        </p:spPr>
      </p:pic>
      <p:sp>
        <p:nvSpPr>
          <p:cNvPr id="66" name="LogoBadge"/>
          <p:cNvSpPr/>
          <p:nvPr/>
        </p:nvSpPr>
        <p:spPr>
          <a:xfrm>
            <a:off x="665568" y="4011800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7" name="Logo" descr="aw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632" y="4055864"/>
            <a:ext cx="171071" cy="171071"/>
          </a:xfrm>
          <a:prstGeom prst="rect">
            <a:avLst/>
          </a:prstGeom>
        </p:spPr>
      </p:pic>
      <p:sp>
        <p:nvSpPr>
          <p:cNvPr id="68" name="LogoBadge"/>
          <p:cNvSpPr/>
          <p:nvPr/>
        </p:nvSpPr>
        <p:spPr>
          <a:xfrm>
            <a:off x="665568" y="4372018"/>
            <a:ext cx="259200" cy="259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9" name="Logo" descr="clau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632" y="4416083"/>
            <a:ext cx="171071" cy="171071"/>
          </a:xfrm>
          <a:prstGeom prst="rect">
            <a:avLst/>
          </a:prstGeom>
        </p:spPr>
      </p:pic>
      <p:pic>
        <p:nvPicPr>
          <p:cNvPr id="70" name="Picture 69" descr="meme_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2680" y="4709160"/>
            <a:ext cx="1627631" cy="1627632"/>
          </a:xfrm>
          <a:prstGeom prst="rect">
            <a:avLst/>
          </a:prstGeom>
        </p:spPr>
      </p:pic>
      <p:cxnSp>
        <p:nvCxnSpPr>
          <p:cNvPr id="71" name="Connector 70"/>
          <p:cNvCxnSpPr/>
          <p:nvPr/>
        </p:nvCxnSpPr>
        <p:spPr>
          <a:xfrm>
            <a:off x="548640" y="4882896"/>
            <a:ext cx="9293045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两个真实案例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交付物像样，仍要人来核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一张挡块图纸、一份修编报告。看 AI 找对了什么、漏了什么、编了什么。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案例一：十个配置审图纸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43230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看图还是靠 OCR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94436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假错误长什么样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45643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案例二：四份修编报告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3968496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总额与旧模板残留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0" y="44805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同一条变更的原因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0" y="499262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合同条文怎么处理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案例一｜挡块图纸审查：十个配置，同一句提示词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来源：本地图纸 桥墩挡块.pdf；图纸争议核对.md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93192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0" name="Picture 9" descr="drawing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740582"/>
            <a:ext cx="3785615" cy="18797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54880" y="178308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“审查这个有没有问题结果输出excel给我”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54880" y="2286000"/>
            <a:ext cx="33375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754880" y="2286000"/>
            <a:ext cx="6858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754880" y="228600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32120" y="2286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分段与总长对不上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Picture 15" descr="k2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172" y="2816352"/>
            <a:ext cx="2488974" cy="19385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92040" y="48006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1a 大样各段加起来比印刷总长公式多 45 cm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57032" y="2286000"/>
            <a:ext cx="33375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257032" y="2286000"/>
            <a:ext cx="6858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57032" y="228600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K2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34272" y="2286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符号不一致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Picture 21" descr="k3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8774" y="2816352"/>
            <a:ext cx="1374074" cy="19385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94192" y="48006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3a 图上写 sinα，引线公式写 sinβ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当前稿只计 K1、K2，单位差异不计入；命中分母为 2，不代表整体准确率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审查结果：3 个配置找到关键问题，假错误 30 条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当前稿复核口径：按两个检查点排序；误报记录含单位争议，另有 21 条待核未计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来源：各配置审查工作簿；图纸争议核对.md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28800"/>
            <a:ext cx="3246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配置（模型 · 客户端）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88216" y="1828800"/>
            <a:ext cx="118905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耗时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60155" y="1828800"/>
            <a:ext cx="3201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63199" y="1828800"/>
            <a:ext cx="3201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K2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66244" y="1828800"/>
            <a:ext cx="68601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35138" y="1828800"/>
            <a:ext cx="64028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假错误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58302" y="1828800"/>
            <a:ext cx="68601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条数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27197" y="1828800"/>
            <a:ext cx="254270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怎么读的图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8368" y="2212848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5.5 · Hark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88216" y="2212848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3分03秒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377859" y="2249424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60155" y="2212848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880903" y="2249424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63199" y="2212848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66244" y="2212848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35138" y="2212848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58302" y="2212848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027197" y="2212848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看图（自述人工识读）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25648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548640" y="2564891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" y="2564891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 high · Codex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088216" y="2564891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14分34秒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377859" y="2601468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60155" y="256489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63199" y="256489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66244" y="256489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35138" y="2564891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58302" y="256489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027197" y="2564891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定位＋回看原图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291693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58368" y="2916935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Qwen3.8 Flash · Qoder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088216" y="2916935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43分09秒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460155" y="291693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880903" y="2953511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963199" y="291693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466244" y="291693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252842" y="2953511"/>
            <a:ext cx="768299" cy="27889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335138" y="2916935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158302" y="291693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27197" y="2916935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渲染成图逐格读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326897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2" name="Rectangle 51"/>
          <p:cNvSpPr/>
          <p:nvPr/>
        </p:nvSpPr>
        <p:spPr>
          <a:xfrm>
            <a:off x="548640" y="3268979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58368" y="3268979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fast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088216" y="3268979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2分38秒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60155" y="326897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963199" y="326897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66244" y="326897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335138" y="3268979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158302" y="326897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027197" y="3268979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未说明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48640" y="3621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62" name="TextBox 61"/>
          <p:cNvSpPr txBox="1"/>
          <p:nvPr/>
        </p:nvSpPr>
        <p:spPr>
          <a:xfrm>
            <a:off x="658368" y="3621023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45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V4.1 Flash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088216" y="3621023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32分05秒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60155" y="362102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963199" y="362102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66244" y="362102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335138" y="3621023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158302" y="362102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027197" y="3621023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自述“图面识读”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548640" y="397306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71" name="Rectangle 70"/>
          <p:cNvSpPr/>
          <p:nvPr/>
        </p:nvSpPr>
        <p:spPr>
          <a:xfrm>
            <a:off x="548640" y="3973067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58368" y="3973067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5 Preview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088216" y="3973067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29分40秒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460155" y="3973067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963199" y="3973067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466244" y="3973067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252842" y="4009643"/>
            <a:ext cx="768299" cy="27889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335138" y="3973067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158302" y="3973067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027197" y="3973067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未说明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548640" y="432511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82" name="TextBox 81"/>
          <p:cNvSpPr txBox="1"/>
          <p:nvPr/>
        </p:nvSpPr>
        <p:spPr>
          <a:xfrm>
            <a:off x="658368" y="4325111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M3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088216" y="4325111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12分27秒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460155" y="432511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963199" y="432511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466244" y="432511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7252842" y="4361687"/>
            <a:ext cx="768299" cy="27889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335138" y="4325111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158302" y="432511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027197" y="4325111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未说明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1" name="Connector 90"/>
          <p:cNvCxnSpPr/>
          <p:nvPr/>
        </p:nvCxnSpPr>
        <p:spPr>
          <a:xfrm>
            <a:off x="548640" y="46771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92" name="Rectangle 91"/>
          <p:cNvSpPr/>
          <p:nvPr/>
        </p:nvSpPr>
        <p:spPr>
          <a:xfrm>
            <a:off x="548640" y="4677155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658368" y="4677155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 2.1 Turbo · 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088216" y="4677155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12分47秒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5460155" y="467715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963199" y="467715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466244" y="467715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335138" y="4677155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158302" y="467715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027197" y="4677155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1" name="Connector 100"/>
          <p:cNvCxnSpPr/>
          <p:nvPr/>
        </p:nvCxnSpPr>
        <p:spPr>
          <a:xfrm>
            <a:off x="548640" y="502919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02" name="TextBox 101"/>
          <p:cNvSpPr txBox="1"/>
          <p:nvPr/>
        </p:nvSpPr>
        <p:spPr>
          <a:xfrm>
            <a:off x="658368" y="5029199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GLM-5.3 Flash · 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088216" y="5029199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1时24分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460155" y="502919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963199" y="502919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466244" y="502919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335138" y="5029199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158302" y="502919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9027197" y="5029199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渲染后放大看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0" name="Connector 109"/>
          <p:cNvCxnSpPr/>
          <p:nvPr/>
        </p:nvCxnSpPr>
        <p:spPr>
          <a:xfrm>
            <a:off x="548640" y="538124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11" name="Rectangle 110"/>
          <p:cNvSpPr/>
          <p:nvPr/>
        </p:nvSpPr>
        <p:spPr>
          <a:xfrm>
            <a:off x="548640" y="5381243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658368" y="5381243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Preview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088216" y="5381243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3分55秒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5460155" y="538124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5963199" y="538124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6466244" y="538124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335138" y="5381243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8158302" y="538124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9027197" y="5381243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视觉未启用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0" name="Connector 119"/>
          <p:cNvCxnSpPr/>
          <p:nvPr/>
        </p:nvCxnSpPr>
        <p:spPr>
          <a:xfrm>
            <a:off x="548640" y="57332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23" name="TextBox 122"/>
          <p:cNvSpPr txBox="1"/>
          <p:nvPr/>
        </p:nvSpPr>
        <p:spPr>
          <a:xfrm>
            <a:off x="548640" y="5852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417320" y="585216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条目数不能代替质量：检查点命中、误报与待核需要分别看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5" name="Connector 124"/>
          <p:cNvCxnSpPr/>
          <p:nvPr/>
        </p:nvCxnSpPr>
        <p:spPr>
          <a:xfrm>
            <a:off x="548640" y="587044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读图方式：本次命中的配置均回看了原图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纯文本 OCR 可能丢失线条、位置和符号；图纸类结论需要回到原图核对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来源：各配置 回答.txt 与工作簿自述；读图方式只依据自述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6492240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61264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直接看图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00200" y="2560320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自述“人工识读”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12079" y="2560320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 ＋ K2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3310127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3310127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00200" y="3310127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定位后回看原图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12079" y="3310127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4059935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4059935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00200" y="4059935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“文字提取无效”，渲染成图逐格读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12079" y="4059935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K2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4809744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1520" y="4809744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00200" y="4809744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渲染后放大读图，看了 1 小时 24 分，判“无实质错误”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12079" y="4809744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223759" y="1965960"/>
            <a:ext cx="4416552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52359" y="1965960"/>
            <a:ext cx="4050791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只靠 OCR / 没开视觉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223759" y="2560320"/>
            <a:ext cx="4416552" cy="676656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406640" y="2560320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75319" y="2560320"/>
            <a:ext cx="25877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“通过 OCR 识别图纸内容”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08792" y="2560320"/>
            <a:ext cx="6400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223759" y="3310127"/>
            <a:ext cx="4416552" cy="676656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06640" y="3310127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75319" y="3310127"/>
            <a:ext cx="25877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自述无法看图，只读元数据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908792" y="3310127"/>
            <a:ext cx="6400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看图仍可能漏检。先确认图像确实被读取，再独立核对结论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23760" y="4096512"/>
            <a:ext cx="44165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OCR 读错的字，直接成了“问题”</a:t>
            </a:r>
            <a:endParaRPr sz="13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406640" y="4416552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原图</a:t>
            </a:r>
            <a:endParaRPr sz="1000" b="1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418320" y="4416552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OCR 读成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223760" y="4645152"/>
            <a:ext cx="4416552" cy="28346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06640" y="4645152"/>
            <a:ext cx="173736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陈双喜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915400" y="4645152"/>
            <a:ext cx="36576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3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418320" y="4645152"/>
            <a:ext cx="210312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陈d喜</a:t>
            </a:r>
            <a:endParaRPr sz="13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223760" y="4974336"/>
            <a:ext cx="4416552" cy="28346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406640" y="4974336"/>
            <a:ext cx="173736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β(°)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915400" y="4974336"/>
            <a:ext cx="36576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3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418320" y="4974336"/>
            <a:ext cx="210312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β()</a:t>
            </a:r>
            <a:endParaRPr sz="13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223760" y="5303520"/>
            <a:ext cx="4416552" cy="28346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406640" y="5303520"/>
            <a:ext cx="173736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−9/sinβ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915400" y="5303520"/>
            <a:ext cx="36576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13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418320" y="5303520"/>
            <a:ext cx="2103120" cy="2834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3-9</a:t>
            </a:r>
            <a:endParaRPr sz="13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8" name="Connector 57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假错误：说得很具体，但和原图对不上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来源：各配置审查工作簿原文；图纸争议核对.md；人工对照原图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“60 项表格全对得上”只说明表和公式一致，不说明公式和图一致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8640" y="1755648"/>
            <a:ext cx="35478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49808" y="186537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MiniMax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3163823" y="1865376"/>
            <a:ext cx="274320" cy="27432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✕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483863" y="18653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假错误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749808" y="2212848"/>
            <a:ext cx="3145536" cy="658368"/>
          </a:xfrm>
          <a:prstGeom prst="roundRect">
            <a:avLst>
              <a:gd name="adj" fmla="val 15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49808" y="2212848"/>
            <a:ext cx="685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AI 说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417319" y="2212848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“α+γ 不闭合：…=85.3+84.7=170°”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877824" y="301752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417319" y="2944368"/>
            <a:ext cx="2450591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原图  </a:t>
            </a: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依据不成立，它却据此判“不通过”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4325112" y="1755648"/>
            <a:ext cx="35478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26279" y="186537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Auto fast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6940296" y="1865376"/>
            <a:ext cx="274320" cy="27432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✕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260336" y="18653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假错误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4526279" y="2212848"/>
            <a:ext cx="3145536" cy="658368"/>
          </a:xfrm>
          <a:prstGeom prst="roundRect">
            <a:avLst>
              <a:gd name="adj" fmla="val 15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4526279" y="2212848"/>
            <a:ext cx="685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AI 说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193792" y="2212848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“2#、3# 墩仅有左侧挡块”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654296" y="301752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193792" y="2944368"/>
            <a:ext cx="2450591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原图  </a:t>
            </a: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原图第 2、3 页都有右侧挡块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101583" y="1755648"/>
            <a:ext cx="35478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302752" y="186537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Step 5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10716767" y="1865376"/>
            <a:ext cx="274320" cy="27432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✕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1036807" y="18653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假错误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8302752" y="2212848"/>
            <a:ext cx="3145536" cy="658368"/>
          </a:xfrm>
          <a:prstGeom prst="roundRect">
            <a:avLst>
              <a:gd name="adj" fmla="val 15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8302752" y="2212848"/>
            <a:ext cx="685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AI 说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970263" y="2212848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7 条“1a 共重偏大 0.1kg”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Oval 67"/>
          <p:cNvSpPr/>
          <p:nvPr/>
        </p:nvSpPr>
        <p:spPr>
          <a:xfrm>
            <a:off x="8430767" y="3017520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970263" y="2944368"/>
            <a:ext cx="2450591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原图  </a:t>
            </a: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按 2.986 kg/m 算是对的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548640" y="3749039"/>
            <a:ext cx="35478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749808" y="385876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DeepSeek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Oval 71"/>
          <p:cNvSpPr/>
          <p:nvPr/>
        </p:nvSpPr>
        <p:spPr>
          <a:xfrm>
            <a:off x="3163823" y="3858768"/>
            <a:ext cx="274320" cy="27432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✕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483863" y="385876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假错误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749808" y="4206240"/>
            <a:ext cx="3145536" cy="658368"/>
          </a:xfrm>
          <a:prstGeom prst="roundRect">
            <a:avLst>
              <a:gd name="adj" fmla="val 15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749808" y="4206240"/>
            <a:ext cx="685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AI 说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417319" y="4206240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“缺少 β(°) 列”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877824" y="5010912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417319" y="4937759"/>
            <a:ext cx="2450591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原图  </a:t>
            </a: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原图第 3 页有 β(°) 列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4325112" y="3749039"/>
            <a:ext cx="35478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526279" y="385876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Qwen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Oval 80"/>
          <p:cNvSpPr/>
          <p:nvPr/>
        </p:nvSpPr>
        <p:spPr>
          <a:xfrm>
            <a:off x="6940296" y="3858768"/>
            <a:ext cx="274320" cy="27432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✕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260336" y="385876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假错误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4526279" y="4206240"/>
            <a:ext cx="3145536" cy="658368"/>
          </a:xfrm>
          <a:prstGeom prst="roundRect">
            <a:avLst>
              <a:gd name="adj" fmla="val 15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4526279" y="4206240"/>
            <a:ext cx="685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AI 说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193792" y="4206240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“分段之和比公式大 1.0cm”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Oval 85"/>
          <p:cNvSpPr/>
          <p:nvPr/>
        </p:nvSpPr>
        <p:spPr>
          <a:xfrm>
            <a:off x="4654296" y="5010912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5193792" y="4937759"/>
            <a:ext cx="2450591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原图  </a:t>
            </a: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漏了两端 22 cm，实际差 45 cm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8101583" y="3749039"/>
            <a:ext cx="354787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8302752" y="385876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Seed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Oval 89"/>
          <p:cNvSpPr/>
          <p:nvPr/>
        </p:nvSpPr>
        <p:spPr>
          <a:xfrm>
            <a:off x="10716767" y="3858768"/>
            <a:ext cx="274320" cy="27432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✕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1036807" y="385876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假错误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8302752" y="4206240"/>
            <a:ext cx="3145536" cy="658368"/>
          </a:xfrm>
          <a:prstGeom prst="roundRect">
            <a:avLst>
              <a:gd name="adj" fmla="val 15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8302752" y="4206240"/>
            <a:ext cx="68580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AI 说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8970263" y="4206240"/>
            <a:ext cx="240487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“陈双喜识别为陈d喜”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Oval 94"/>
          <p:cNvSpPr/>
          <p:nvPr/>
        </p:nvSpPr>
        <p:spPr>
          <a:xfrm>
            <a:off x="8430767" y="5010912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✓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8970263" y="4937759"/>
            <a:ext cx="2450591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原图  </a:t>
            </a: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OCR 自己读错的字，被当成问题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7" name="Connector 96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案例二｜修编报告：四个配置，同一份清单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来源：四份修编报告、源清单与复算底稿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2062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0" name="Picture 9" descr="report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68063"/>
            <a:ext cx="4023360" cy="2824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74920" y="1783080"/>
            <a:ext cx="6583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“根据提供的工程量清单完成修编报告，其余文件为查阅变更原因参考。”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74920" y="251460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材料：旧标段报告模板、修编前后清单、设计后服务函与勘误回复函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74920" y="301752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复算基准（汇总表，不含暂列金额）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74920" y="3474720"/>
            <a:ext cx="2103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212080" y="3566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41,638.9336</a:t>
            </a:r>
            <a:endParaRPr sz="21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12080" y="4206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修编前（万元）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296912" y="3474720"/>
            <a:ext cx="2103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34072" y="3566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41,465.1967</a:t>
            </a:r>
            <a:endParaRPr sz="21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34072" y="4206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修编后（万元）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18904" y="3474720"/>
            <a:ext cx="2103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56064" y="3566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−173.7369</a:t>
            </a:r>
            <a:endParaRPr sz="2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56064" y="4206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核减（万元）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74920" y="4892040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101 个变化子目：99 项金额变化（核增 41、核减 58），另 2 项只变数量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有了能复算的基准，才能判断哪份报告写对了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四份报告的差异：条目范围、数量与原文引用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来源：四份修编报告与复算底稿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0" name="Picture 9" descr="hark-opus5.5-4m-excerpt.png"/>
          <p:cNvPicPr>
            <a:picLocks noChangeAspect="1"/>
          </p:cNvPicPr>
          <p:nvPr/>
        </p:nvPicPr>
        <p:blipFill>
          <a:blip r:embed="rId2"/>
          <a:srcRect t="17296" b="17296"/>
          <a:stretch>
            <a:fillRect/>
          </a:stretch>
        </p:blipFill>
        <p:spPr>
          <a:xfrm>
            <a:off x="658368" y="1892807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85800" y="297180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· Hark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4 分 · 43 条（≥1 万元，没说明筛选）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333756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只列 ≥1 万元的条目，没交代筛选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33007" y="1783080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4" name="Picture 13" descr="trae-auto-7m-excerpt.png"/>
          <p:cNvPicPr>
            <a:picLocks noChangeAspect="1"/>
          </p:cNvPicPr>
          <p:nvPr/>
        </p:nvPicPr>
        <p:blipFill>
          <a:blip r:embed="rId3"/>
          <a:srcRect t="17296" b="17296"/>
          <a:stretch>
            <a:fillRect/>
          </a:stretch>
        </p:blipFill>
        <p:spPr>
          <a:xfrm>
            <a:off x="6342735" y="1892807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370167" y="297180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Auto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7 分 · 24 行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70167" y="333756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行数量错；正负号写反；合同条文被改写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858768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8" name="Picture 17" descr="workbuddy-auto-flat-14m-excerpt.png"/>
          <p:cNvPicPr>
            <a:picLocks noChangeAspect="1"/>
          </p:cNvPicPr>
          <p:nvPr/>
        </p:nvPicPr>
        <p:blipFill>
          <a:blip r:embed="rId4"/>
          <a:srcRect t="17296" b="17296"/>
          <a:stretch>
            <a:fillRect/>
          </a:stretch>
        </p:blipFill>
        <p:spPr>
          <a:xfrm>
            <a:off x="658368" y="3968496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685800" y="504748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14 分 · 101 条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541324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总额笔误；承建单位照抄旧标段；原因全是套话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33007" y="3858768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22" name="Picture 21" descr="workbuddy-deepseek-v4.1flash-34m-excerpt.png"/>
          <p:cNvPicPr>
            <a:picLocks noChangeAspect="1"/>
          </p:cNvPicPr>
          <p:nvPr/>
        </p:nvPicPr>
        <p:blipFill>
          <a:blip r:embed="rId5"/>
          <a:srcRect t="17296" b="17296"/>
          <a:stretch>
            <a:fillRect/>
          </a:stretch>
        </p:blipFill>
        <p:spPr>
          <a:xfrm>
            <a:off x="6342735" y="3968496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6370167" y="504748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V4.1 Flash   34 分 · 99 条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70167" y="541324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原因写得具体，但有的套错了条目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5852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17320" y="585216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各份列的范围不同，不能按条目多少排名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87044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总额笔误与模板残留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来源：四份修编报告原文；变更修编报告模板（TJ1）；TJ4 中标结果公告（2026-03-23）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52044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Opus：总额正确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167128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2" name="Picture 11" descr="rep_opu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56" y="2194560"/>
            <a:ext cx="2712606" cy="104241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251959" y="1783080"/>
            <a:ext cx="3520440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89120" y="178308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Auto：写成 41638.89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51959" y="2167128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6" name="Picture 15" descr="rep_auto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102" y="2194560"/>
            <a:ext cx="2884154" cy="104241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48640" y="3401568"/>
            <a:ext cx="7223760" cy="34747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401568"/>
            <a:ext cx="192023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61488" y="340156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承建单位怎么写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87568" y="3401568"/>
            <a:ext cx="201167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" y="374904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旧模板（TJ1）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61488" y="37490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中铁十二局集团有限公司</a:t>
            </a:r>
            <a:endParaRPr sz="14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87568" y="374904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旧标段的单位</a:t>
            </a:r>
            <a:endParaRPr sz="14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11480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5" name="Rectangle 24"/>
          <p:cNvSpPr/>
          <p:nvPr/>
        </p:nvSpPr>
        <p:spPr>
          <a:xfrm>
            <a:off x="548640" y="4114800"/>
            <a:ext cx="7223760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411480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61488" y="41148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广州公路工程集团有限公司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87568" y="411480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与中标公告一致</a:t>
            </a:r>
            <a:endParaRPr sz="14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48056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658368" y="448056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61488" y="4480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中铁十二局集团有限公司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87568" y="448056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✕ 照抄旧模板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84632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4" name="Rectangle 33"/>
          <p:cNvSpPr/>
          <p:nvPr/>
        </p:nvSpPr>
        <p:spPr>
          <a:xfrm>
            <a:off x="548640" y="4846320"/>
            <a:ext cx="7223760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8368" y="484632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61488" y="4846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“确定施工单位承建”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87568" y="484632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中性写法</a:t>
            </a:r>
            <a:endParaRPr sz="14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548640" y="521208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9" name="TextBox 38"/>
          <p:cNvSpPr txBox="1"/>
          <p:nvPr/>
        </p:nvSpPr>
        <p:spPr>
          <a:xfrm>
            <a:off x="658368" y="521208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61488" y="5212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687568" y="521208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缺项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48640" y="557784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3" name="Rectangle 42"/>
          <p:cNvSpPr/>
          <p:nvPr/>
        </p:nvSpPr>
        <p:spPr>
          <a:xfrm>
            <a:off x="8001000" y="1783080"/>
            <a:ext cx="3639312" cy="3904487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229600" y="1920240"/>
            <a:ext cx="3182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为什么最容易漏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29600" y="2331720"/>
            <a:ext cx="3227832" cy="3264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格式、语气都像正式报告，读起来很顺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金额全对时，人会放松对其他文字的检查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对策：拿模板逐句比，旧标段的名称、单位、日期都要换；材料外补进来的信息要注明出处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8640" y="5852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417320" y="585216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用旧报告当模板时，最该查的是“没改干净”的地方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0" name="Connector 49"/>
          <p:cNvCxnSpPr/>
          <p:nvPr/>
        </p:nvCxnSpPr>
        <p:spPr>
          <a:xfrm>
            <a:off x="548640" y="587044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同一条变更，四份报告给的原因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两个子目的原因原文对比；金额四份都写对了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来源：四份修编报告原文；勘误回复函（序号 49、70、73、81）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74519"/>
            <a:ext cx="155921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00466" y="1874519"/>
            <a:ext cx="449327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透水管（−71.8663 万元）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76624" y="1874519"/>
            <a:ext cx="449327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支座（−23.6094 万元）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295144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00466" y="229514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“纵向填挖交界渗沟间距由每4m…调整为每8m”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76624" y="229514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“乳子石大桥支座汇总表与细表类型及数量不一致”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8437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843784"/>
            <a:ext cx="11094415" cy="54864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843784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00466" y="284378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“环向渗沟透水管按每道1根计列”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76624" y="284378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“由120个调整为60个”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3924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8368" y="3392424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00466" y="339242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“根据设计变更调整排水工程数量”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76624" y="339242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“桥梁支座数量调整”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94106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941063"/>
            <a:ext cx="11094415" cy="54864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941063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00466" y="3941063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“依据设计后服务函及勘误回复函核对修改清单数量”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76624" y="3941063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同左（101 条都是这一句）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448970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Rectangle 31"/>
          <p:cNvSpPr/>
          <p:nvPr/>
        </p:nvSpPr>
        <p:spPr>
          <a:xfrm>
            <a:off x="548640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48640" y="4663440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7240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有据，对得上勘误表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374136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3374136" y="4663440"/>
            <a:ext cx="73152" cy="9144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602736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02736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透水管套错了条目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199631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199631" y="4663440"/>
            <a:ext cx="73152" cy="9144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28231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28231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两项数量都写错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025128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9025128" y="4663440"/>
            <a:ext cx="73152" cy="914400"/>
          </a:xfrm>
          <a:prstGeom prst="rect">
            <a:avLst/>
          </a:prstGeom>
          <a:solidFill>
            <a:srgbClr val="9A6B1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253728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50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253728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一句套话，等于没写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原因写得越具体，越要回到函件和勘误表里找对应条目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变更原因核对：说得具体，也要有出处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 203-1-2-2-1：395.9711 万元增至 573.1093 万元，增加 177.1382 万元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来源：四份修编报告与设计后服务函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920240"/>
            <a:ext cx="192597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67223" y="1920240"/>
            <a:ext cx="605199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原报告摘录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02101" y="1920240"/>
            <a:ext cx="256780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怎样判断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67223" y="2340864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下路床换填材料修改为石渣……利用石方增加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02101" y="2340864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具体，仍需核来源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85292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852928"/>
            <a:ext cx="11094415" cy="51206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852928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67223" y="2852928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利用方增加石渣利用量……调整为石渣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02101" y="2852928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仍需核对应关系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36499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8368" y="3364992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67223" y="3364992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石方利用量增加，根据土石方调配优化调整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02101" y="3364992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方向清楚，仍需依据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87705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877056"/>
            <a:ext cx="11094415" cy="51206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877056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67223" y="3877056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依据设计后服务函及勘误回复函核对修改清单数量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002101" y="3877056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泛化，未解释为何增加</a:t>
            </a:r>
            <a:endParaRPr sz="15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43891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548640" y="45262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参考函原文（设计后服务函 第 1 页第 8 项）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4846320"/>
            <a:ext cx="6858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34" name="Picture 33" descr="reason-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7" y="4873752"/>
            <a:ext cx="6088184" cy="6949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680960" y="4526280"/>
            <a:ext cx="395935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支持“下路床换填材料为石渣”。完整金额归因还要结合数量表，不能凭写得详细就判对。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580644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17320" y="5806440"/>
            <a:ext cx="1022573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检查顺序：金额 → 数量 → 原因能否回到源文件 → 模板有没有改干净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合同条文：改写容易删掉条件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专用条款 15.4 变更估价原则（新增单价怎么定）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来源：四份报告第三节；变更修编报告模板（TJ1）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5486400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/ WorkBuddy Auto / DeepSeek：逐字一致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3" name="Picture 12" descr="rep_opus_cl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36" y="2331720"/>
            <a:ext cx="4817806" cy="19202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45352" y="1874519"/>
            <a:ext cx="5394960" cy="4114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28232" y="1874519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Trae：压成三条，删掉了条件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45352" y="2286000"/>
            <a:ext cx="5394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pic>
        <p:nvPicPr>
          <p:cNvPr id="17" name="Picture 16" descr="rep_trae_cla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426" y="2331720"/>
            <a:ext cx="3704810" cy="19202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48640" y="4480560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4480560"/>
            <a:ext cx="73152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59" y="45445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删掉的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59" y="4864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15.4.1、15.4.3、15.4.5 等条款，“经发包人同意”，以及最后两段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15968" y="4480560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315968" y="4480560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90288" y="45445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多做的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90288" y="4864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写明本次新增单价按 15.4.2 款取 2 标、3 标平均值，389.77 元/m²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083296" y="4480560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83296" y="4480560"/>
            <a:ext cx="73152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57616" y="45445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三份都没核的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57616" y="4864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“2025年04月”是模板带来的月份，本标段是否适用没有依据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合同条文不让 AI 改写；要求它原样引用，再单独说明本次怎么适用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怎么用得稳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用方法对付前面的问题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第一类省搜索：帮你找到不知道的路子。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第二类省人力：量大、门槛低、目标明确，不需要复核。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第三类省判断：综合任务，要拆步、要留痕、要人签字。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847088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三类活：先分对，再决定检查强度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28142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第一类实例：一百多个文件里找一张图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71576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五种方法：各自对付一个问题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15010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提示词：写成任务书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358444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8321040" y="4018787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资料库（RAG）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2"/>
          <p:cNvSpPr txBox="1"/>
          <p:nvPr/>
        </p:nvSpPr>
        <p:spPr>
          <a:xfrm>
            <a:off x="8321040" y="4453127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 / Agent / 多 Agent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8321040" y="4887468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工作流的三个坑</a:t>
            </a:r>
            <a:endParaRPr sz="1700" b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8321040" y="5321808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企业：从试点到交付</a:t>
            </a:r>
            <a:endParaRPr sz="1700" b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76656"/>
            <a:ext cx="1109167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三类活：越需要人判断，检查越要加码</a:t>
            </a:r>
            <a:endParaRPr sz="27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225296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先看这件事落在哪一段，再决定交给它多少、怎么核</a:t>
            </a:r>
            <a:endParaRPr sz="16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1810512"/>
            <a:ext cx="3422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01  找路子</a:t>
            </a:r>
            <a:endParaRPr sz="13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121408"/>
            <a:ext cx="34229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你不知道有它</a:t>
            </a:r>
            <a:endParaRPr sz="2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2697480"/>
            <a:ext cx="34229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找工具、公式、规范、先例</a:t>
            </a:r>
            <a:endParaRPr sz="13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3090672"/>
            <a:ext cx="34229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例  </a:t>
            </a: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百余个文件里定位一份图纸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94360" y="4334256"/>
            <a:ext cx="3468624" cy="1188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33314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怎么核  </a:t>
            </a: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看一眼出处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91584" y="1810512"/>
            <a:ext cx="3422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02  跑量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91584" y="2121408"/>
            <a:ext cx="34229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量大、规则明确</a:t>
            </a:r>
            <a:endParaRPr sz="2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291584" y="2697480"/>
            <a:ext cx="34229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批量转表、改名、抽字段、套模板</a:t>
            </a:r>
            <a:endParaRPr sz="13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91584" y="3090672"/>
            <a:ext cx="34229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例  </a:t>
            </a: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三百份合同抽甲方和金额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4172712" y="1828800"/>
            <a:ext cx="0" cy="2148839"/>
          </a:xfrm>
          <a:prstGeom prst="line">
            <a:avLst/>
          </a:prstGeom>
          <a:ln w="9525">
            <a:solidFill>
              <a:srgbClr val="E2DFD8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4291584" y="4334256"/>
            <a:ext cx="3468624" cy="237744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28744" y="4645152"/>
            <a:ext cx="33314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怎么核  </a:t>
            </a: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先抽 3 个验格式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88808" y="1810512"/>
            <a:ext cx="3422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03  综合任务</a:t>
            </a:r>
            <a:endParaRPr sz="13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988808" y="2121408"/>
            <a:ext cx="34229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要判断、要取舍</a:t>
            </a:r>
            <a:endParaRPr sz="2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988808" y="2697480"/>
            <a:ext cx="34229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修编报告、审图、合同改写、长任务</a:t>
            </a:r>
            <a:endParaRPr sz="13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88808" y="3090672"/>
            <a:ext cx="342290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例  </a:t>
            </a: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看图、看表、看说明再下结论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7869936" y="1828800"/>
            <a:ext cx="0" cy="2148839"/>
          </a:xfrm>
          <a:prstGeom prst="line">
            <a:avLst/>
          </a:prstGeom>
          <a:ln w="9525">
            <a:solidFill>
              <a:srgbClr val="E2DFD8"/>
            </a:solidFill>
          </a:ln>
        </p:spPr>
      </p:cxnSp>
      <p:sp>
        <p:nvSpPr>
          <p:cNvPr id="28" name="Rectangle 27"/>
          <p:cNvSpPr/>
          <p:nvPr/>
        </p:nvSpPr>
        <p:spPr>
          <a:xfrm>
            <a:off x="7988808" y="4334256"/>
            <a:ext cx="3468624" cy="35661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25968" y="4764024"/>
            <a:ext cx="333146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怎么核  </a:t>
            </a: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拆步留痕，人签字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48640" y="4224528"/>
            <a:ext cx="11091672" cy="0"/>
          </a:xfrm>
          <a:prstGeom prst="line">
            <a:avLst/>
          </a:prstGeom>
          <a:ln w="19050">
            <a:solidFill>
              <a:srgbClr val="14213D"/>
            </a:solidFill>
            <a:tailEnd type="triangle" w="med" len="med"/>
          </a:ln>
        </p:spPr>
      </p:cxnSp>
      <p:sp>
        <p:nvSpPr>
          <p:cNvPr id="31" name="TextBox 30"/>
          <p:cNvSpPr txBox="1"/>
          <p:nvPr/>
        </p:nvSpPr>
        <p:spPr>
          <a:xfrm>
            <a:off x="8412480" y="392277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需要人判断的程度 →</a:t>
            </a:r>
            <a:endParaRPr sz="11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8640" y="3922776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色条高度 = 检查强度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8640" y="358444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上手顺序：先用第一类建立信任 → 再交给它跑量 → 最后才整段交出综合任务</a:t>
            </a:r>
            <a:endParaRPr sz="12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2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先按类分，再按类给检查强度：第三类永远要人签字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来源：本地文件索引脚本与生成结果（2026-10）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76656"/>
            <a:ext cx="1109167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第一类实例：百余个文件中定位一张图纸</a:t>
            </a:r>
            <a:endParaRPr sz="2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243584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第一类“找路子”的样子：不是它比你聪明，是它肯把一百多个文件翻一遍</a:t>
            </a:r>
            <a:endParaRPr sz="16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00784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生成出来的表长什么样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6675120" cy="329184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011680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序号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3856" y="201168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文件名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56432" y="201168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07408" y="201168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出图编号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58384" y="2011680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所在册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2340864"/>
            <a:ext cx="66751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340864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3856" y="2340864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控制成果表.xlsx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56432" y="2340864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07408" y="2340864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S1-2-2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58384" y="2340864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2651760"/>
            <a:ext cx="6675120" cy="310896"/>
          </a:xfrm>
          <a:prstGeom prst="rect">
            <a:avLst/>
          </a:prstGeom>
          <a:solidFill>
            <a:srgbClr val="ECEA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65176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33856" y="265176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逐桩坐标表.xlsx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56432" y="265176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坐标表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07408" y="265176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S1-2-7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58384" y="2651760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2962656"/>
            <a:ext cx="66751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2962656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33856" y="2962656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砍树挖根数量表.xls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56432" y="2962656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数量表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407408" y="2962656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S1-2-10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58384" y="2962656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3273551"/>
            <a:ext cx="6675120" cy="310896"/>
          </a:xfrm>
          <a:prstGeom prst="rect">
            <a:avLst/>
          </a:prstGeom>
          <a:solidFill>
            <a:srgbClr val="ECEA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273551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33856" y="3273551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……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456432" y="3273551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07408" y="3273551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358384" y="3273551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365760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实际表共 9 列，另含子目录、大小、修改时间，和可点击的相对路径</a:t>
            </a:r>
            <a:endParaRPr sz="10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4187952"/>
            <a:ext cx="6675120" cy="841248"/>
          </a:xfrm>
          <a:prstGeom prst="rect">
            <a:avLst/>
          </a:prstGeom>
          <a:solidFill>
            <a:srgbClr val="ECEA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4242816"/>
            <a:ext cx="6355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另有一张「册汇总」，先看它决定翻哪一册</a:t>
            </a:r>
            <a:endParaRPr sz="10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13232" y="4480560"/>
            <a:ext cx="6355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 · 26 个文件 · 9 个数量表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第三册一分册 路基 · 18 个 · 11 个数量表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406640" y="1700784"/>
            <a:ext cx="4251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学会用之后，找图变成三件事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406640" y="2011680"/>
            <a:ext cx="54864" cy="7132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975104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按册筛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552944" y="2249424"/>
            <a:ext cx="4023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“第三册第一分册有哪些数量表”——筛一列就出来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406640" y="2816352"/>
            <a:ext cx="54864" cy="7132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52944" y="277977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按出图编号定位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552944" y="3054096"/>
            <a:ext cx="4023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图纸目录上写 S1-2-7，直接查这一列，落到具体文件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406640" y="3621024"/>
            <a:ext cx="54864" cy="7132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358444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按类型找同类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552944" y="3858768"/>
            <a:ext cx="4023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要所有“数量表”，筛类型；要所有坐标表，同理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406640" y="4389120"/>
            <a:ext cx="4251960" cy="694944"/>
          </a:xfrm>
          <a:prstGeom prst="rect">
            <a:avLst/>
          </a:prstGeom>
          <a:solidFill>
            <a:srgbClr val="FBE9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06640" y="4389120"/>
            <a:ext cx="54864" cy="694944"/>
          </a:xfrm>
          <a:prstGeom prst="rect">
            <a:avLst/>
          </a:prstGeom>
          <a:solidFill>
            <a:srgbClr val="D962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4425696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表里没有的，直接问它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552944" y="4663440"/>
            <a:ext cx="397763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“有没有 XX 桥台的挡块图”——它会去翻目录和分册表，再告你在哪本</a:t>
            </a:r>
            <a:endParaRPr sz="10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48640" y="5376672"/>
            <a:ext cx="11091672" cy="292608"/>
          </a:xfrm>
          <a:prstGeom prst="rect">
            <a:avLst/>
          </a:prstGeom>
          <a:solidFill>
            <a:srgbClr val="E1F0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" y="5376672"/>
            <a:ext cx="54864" cy="2926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3232" y="5376672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这就是最土的 RAG：先建索引，再检索。好处是可核对、可重生成——换项目只要改一个路径参数重跑脚本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8640" y="5760720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417320" y="5760720"/>
            <a:ext cx="1022299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它的检索能力，要一张自己能核对的表来托底</a:t>
            </a:r>
            <a:endParaRPr sz="17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548640" y="577900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常见风险与可用的检查方法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来源：本分享第 01、03 部分；方法说明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17520" y="1755648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怎么做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52360" y="175564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主要缓解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06840" y="1755648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前面的例子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103120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提示词工程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80360" y="2103120"/>
            <a:ext cx="875995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17520" y="2103120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写成任务书：范围、格式、验收，允许“材料不足”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7269480" y="2286000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103120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迎合、瞎猜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06840" y="2103120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图纸：范围、证据与验收要求没写清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2816352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2816352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80360" y="2816352"/>
            <a:ext cx="8759952" cy="6217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017520" y="2816352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一个任务一段对话，长了压缩或新开，只放相关材料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Chevron 22"/>
          <p:cNvSpPr/>
          <p:nvPr/>
        </p:nvSpPr>
        <p:spPr>
          <a:xfrm>
            <a:off x="7269480" y="2999232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816352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上下文腐烂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06840" y="2816352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长对话后忘了前面的要求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3529584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3529584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检索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80360" y="3529584"/>
            <a:ext cx="875995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017520" y="3529584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先从资料库找片段，再带出处回答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7269480" y="3712463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3529584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幻觉、知识过时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006840" y="3529584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报告：原因要能回到函件和勘误表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4242816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85800" y="4242816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工作流与校验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880360" y="4242816"/>
            <a:ext cx="8759952" cy="6217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017520" y="4242816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固定步骤给程序，数字用脚本重算，多跑几次比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Chevron 36"/>
          <p:cNvSpPr/>
          <p:nvPr/>
        </p:nvSpPr>
        <p:spPr>
          <a:xfrm>
            <a:off x="7269480" y="4425696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4242816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抽卡、计算错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006840" y="4242816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报告：41,638.89 的笔误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4956048"/>
            <a:ext cx="2331720" cy="6217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85800" y="4956048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选对输入方式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880360" y="4956048"/>
            <a:ext cx="875995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017520" y="4956048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图纸先确认是“看图”还是 OCR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Chevron 43"/>
          <p:cNvSpPr/>
          <p:nvPr/>
        </p:nvSpPr>
        <p:spPr>
          <a:xfrm>
            <a:off x="7269480" y="5138928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4956048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看不见就乱猜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006840" y="4956048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图纸：文字识别仍需原图核对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没有一种方法能包治百病，按问题挑方法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提示词：从一句话到一份任务书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来源：原任务提示词，改写为方法示例，未复测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023360" cy="3749039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案例里的原话</a:t>
            </a:r>
            <a:endParaRPr sz="15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3474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“审查这个有没有问题结果输出excel给我”</a:t>
            </a:r>
            <a:endParaRPr sz="2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3474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原话没有约定审查范围、证据位置和验收方式。下一轮把这些要求写清楚，保留“无问题”与“材料不足”的可能。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4709160" y="3429000"/>
            <a:ext cx="320040" cy="45720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1783080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212080" y="1783080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86400" y="20116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23500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任务目标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0" y="2807208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检查图纸内部是否一致，没有问题也可以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458200" y="1783080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458200" y="1783080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32520" y="20116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32520" y="23500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材料范围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32520" y="2807208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先说明读到哪些页、是看图还是 OCR、哪些看不清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212080" y="3685032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212080" y="3685032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0" y="39136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输出格式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0" y="470916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可编辑 Excel，计算项保留公式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458200" y="3685032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458200" y="3685032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732520" y="39136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32520" y="42519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验收要求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732520" y="470916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每项写位置、依据和把握程度；不补造尺寸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完整写法见备注；这是改写示例，还没做对照复测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交付四步：每一步留下可检查的结果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来源：本地修编报告案例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567863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读材料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列出读了哪些文件、范围、缺页和认不出的地方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清单＋函件＋勘误表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90823" y="1828800"/>
            <a:ext cx="2567863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19423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定口径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90823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619423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说清单位、金额范围、资料优先级、哪些不许猜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90823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619423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19423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汇总表口径，不含暂列金额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33007" y="1828800"/>
            <a:ext cx="2567863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61607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做产物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33007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61607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按模板交可编辑文件，保留计算和出处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33007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61607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61607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报告＋变更表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075191" y="1828800"/>
            <a:ext cx="2567863" cy="822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303791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查结果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075191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303791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抽查事实、自己重算、打开文件看版面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075191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303791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303791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金额复算＋原因定位＋模板残留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上一步有看得见的结果，下一步才有可靠的输入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上下文管理：控制对话长度与输入量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减少无关输入，并在压缩或新开对话前，保留关键规则、来源和未完成事项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来源：Chroma《Context Rot》；Claude Code、Codex 官方文档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19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一个任务一段对话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19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切换任务时，按需交接仍相关的材料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606039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260603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71600" y="2606039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长了就压缩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66160" y="2606039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先写已完成、待办、口径与文件路径，再压缩或新开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33756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71600" y="33375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只放相关的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66160" y="333756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先让它说需要哪几页、哪张表，再给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06908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71600" y="40690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规则写进文件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66160" y="406908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保存规则文件，并确认客户端实际读取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480060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4800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71600" y="48006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要求放开头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66160" y="480060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关键要求放最前，必要时结尾再说一遍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772400" y="1874519"/>
            <a:ext cx="3867912" cy="35661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001000" y="20116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规则文件长什么样（示例）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01000" y="2468880"/>
            <a:ext cx="35204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项目规则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金额单位：万元，保留 4 位小数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汇总口径：不含暂列金额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合同条文原样引用，不改写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原因必须注明函件编号或勘误表序号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找不到依据就写“待核”，不要补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窗口容量只是上限；输入是否完整、相关、可定位，更值得检查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RAG：让模型从“闭卷考试”改成“开卷考试”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检索增强生成（Retrieval-Augmented Generation）：先翻资料找到相关几段，再让模型照着回答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来源：Chroma《Context Rot》；Lewis 等 RAG 原论文（2020）；火山引擎开发者社区《RAG 提示工程（一）》；吴恩达 RAG 课程（B 站 BV1KFb6z2EFE）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4406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73152" cy="128016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" y="1856231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不用 RAG ＝ 闭卷考试</a:t>
            </a:r>
            <a:endParaRPr sz="17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59" y="2240280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只凭训练时记住的东西答题。没见过的新规范、你单位的内部文件，它不会说“不知道”，会按“最像”往下编。</a:t>
            </a:r>
            <a:endParaRPr sz="13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99631" y="1783080"/>
            <a:ext cx="5440680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99631" y="1783080"/>
            <a:ext cx="73152" cy="1280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73951" y="1856231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7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用 RAG ＝ 开卷考试</a:t>
            </a:r>
            <a:endParaRPr sz="17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73951" y="2240280"/>
            <a:ext cx="49834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13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先在你给的资料里翻到相关的几段，和问题一起交给模型；它照着原文回答，还能标出处。模型本身一点没改。</a:t>
            </a:r>
            <a:endParaRPr sz="13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172968"/>
            <a:ext cx="1109167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3172968"/>
            <a:ext cx="73152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3172968"/>
            <a:ext cx="10972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还省 token</a:t>
            </a:r>
            <a:endParaRPr sz="13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920240" y="3172968"/>
            <a:ext cx="14630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整包塞 100 页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291840" y="3291840"/>
            <a:ext cx="3017520" cy="23774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291840" y="3291840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约 5–8 万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29400" y="3172968"/>
            <a:ext cx="13716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只送 3–5 段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863840" y="3291840"/>
            <a:ext cx="109728" cy="23774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28431" y="3172968"/>
            <a:ext cx="118872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约 1–2 千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326880" y="3172968"/>
            <a:ext cx="224028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差几十倍，每问一次省一次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3767328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31520" y="3767328"/>
            <a:ext cx="10058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具体怎么跑：</a:t>
            </a:r>
            <a:r>
              <a:rPr sz="1250" b="0">
                <a:solidFill>
                  <a:srgbClr val="D7DEE8"/>
                </a:solidFill>
                <a:latin typeface="微软雅黑" panose="020B0503020204020204" charset="-122"/>
                <a:ea typeface="微软雅黑" panose="020B0503020204020204" charset="-122"/>
              </a:rPr>
              <a:t>R 检索（翻书）→ A 增强（贴进提示词）→ G 生成（照着写）</a:t>
            </a:r>
            <a:endParaRPr sz="1250" b="0">
              <a:solidFill>
                <a:srgbClr val="D7DEE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187952"/>
            <a:ext cx="1109167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48640" y="4187952"/>
            <a:ext cx="73152" cy="60350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7240" y="4187952"/>
            <a:ext cx="7315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考前</a:t>
            </a:r>
            <a:endParaRPr sz="15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463040" y="4187952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只做一次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423160" y="4279392"/>
            <a:ext cx="2055113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468879" y="4279392"/>
            <a:ext cx="196367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资料：PDF、Word</a:t>
            </a:r>
            <a:endParaRPr sz="12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4514849" y="4489704"/>
            <a:ext cx="219456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37" name="Rectangle 36"/>
          <p:cNvSpPr/>
          <p:nvPr/>
        </p:nvSpPr>
        <p:spPr>
          <a:xfrm>
            <a:off x="4770881" y="4279392"/>
            <a:ext cx="2055113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816601" y="4279392"/>
            <a:ext cx="196367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切成小段：几百字一段</a:t>
            </a:r>
            <a:endParaRPr sz="12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6862571" y="4489704"/>
            <a:ext cx="219456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40" name="Rectangle 39"/>
          <p:cNvSpPr/>
          <p:nvPr/>
        </p:nvSpPr>
        <p:spPr>
          <a:xfrm>
            <a:off x="7118603" y="4279392"/>
            <a:ext cx="2055113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164323" y="4279392"/>
            <a:ext cx="196367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每段变成一串数字（向量）</a:t>
            </a:r>
            <a:endParaRPr sz="12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9210293" y="4489704"/>
            <a:ext cx="219457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43" name="Rectangle 42"/>
          <p:cNvSpPr/>
          <p:nvPr/>
        </p:nvSpPr>
        <p:spPr>
          <a:xfrm>
            <a:off x="9466326" y="4279392"/>
            <a:ext cx="2055113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512046" y="4279392"/>
            <a:ext cx="196367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存进向量库</a:t>
            </a:r>
            <a:endParaRPr sz="12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48640" y="4864608"/>
            <a:ext cx="1109167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548640" y="4864608"/>
            <a:ext cx="73152" cy="6035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77240" y="4864608"/>
            <a:ext cx="7315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考时</a:t>
            </a:r>
            <a:endParaRPr sz="15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463040" y="4864608"/>
            <a:ext cx="9144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每次提问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423160" y="4956048"/>
            <a:ext cx="1585569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2468879" y="4956048"/>
            <a:ext cx="149412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你的问题</a:t>
            </a:r>
            <a:endParaRPr sz="12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4045305" y="5166360"/>
            <a:ext cx="219456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52" name="Rectangle 51"/>
          <p:cNvSpPr/>
          <p:nvPr/>
        </p:nvSpPr>
        <p:spPr>
          <a:xfrm>
            <a:off x="4301337" y="4956048"/>
            <a:ext cx="1585569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347057" y="4956048"/>
            <a:ext cx="149412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也变成一串数字</a:t>
            </a:r>
            <a:endParaRPr sz="12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5923483" y="5166360"/>
            <a:ext cx="219456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55" name="Rectangle 54"/>
          <p:cNvSpPr/>
          <p:nvPr/>
        </p:nvSpPr>
        <p:spPr>
          <a:xfrm>
            <a:off x="6179515" y="4956048"/>
            <a:ext cx="1585569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225235" y="4956048"/>
            <a:ext cx="149412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找最接近的 3–5 段</a:t>
            </a:r>
            <a:endParaRPr sz="12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7801660" y="5166360"/>
            <a:ext cx="219456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58" name="Rectangle 57"/>
          <p:cNvSpPr/>
          <p:nvPr/>
        </p:nvSpPr>
        <p:spPr>
          <a:xfrm>
            <a:off x="8057692" y="4956048"/>
            <a:ext cx="1585569" cy="42062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103412" y="4956048"/>
            <a:ext cx="149412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段落＋问题交给模型</a:t>
            </a:r>
            <a:endParaRPr sz="1200" b="1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0" name="Connector 59"/>
          <p:cNvCxnSpPr/>
          <p:nvPr/>
        </p:nvCxnSpPr>
        <p:spPr>
          <a:xfrm>
            <a:off x="9679838" y="5166360"/>
            <a:ext cx="219456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61" name="Rectangle 60"/>
          <p:cNvSpPr/>
          <p:nvPr/>
        </p:nvSpPr>
        <p:spPr>
          <a:xfrm>
            <a:off x="9935870" y="4956048"/>
            <a:ext cx="1585569" cy="42062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981590" y="4956048"/>
            <a:ext cx="149412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照着答，标页码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RAG 不让模型变聪明，只是把该看的那几页先翻好，摆到它眼前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与 Agent 翻文件夹：一个递段落，一个开文件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文件夹有目录索引也一样：目录只告诉它去哪个文件，打开以后还得整份读、靠字面找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来源：Boris Cherny（Claude Code 负责人）X 帖，2026-02-01；Lewis 等 RAG 原论文（2020）；Claude Code 官方文档（Glob / Grep / Read 工具）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1672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对比项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51760" y="1783080"/>
            <a:ext cx="4389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让 Agent 翻文件夹（哪怕有目录索引）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23760" y="1783080"/>
            <a:ext cx="43891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A7E3DA"/>
                </a:solidFill>
                <a:latin typeface="微软雅黑" panose="020B0503020204020204" charset="-122"/>
                <a:ea typeface="微软雅黑" panose="020B0503020204020204" charset="-122"/>
              </a:rPr>
              <a:t>RAG（切段＋向量库检索）</a:t>
            </a:r>
            <a:endParaRPr sz="1250" b="1">
              <a:solidFill>
                <a:srgbClr val="A7E3D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240280"/>
            <a:ext cx="11091672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2240280"/>
            <a:ext cx="182880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索引到哪一层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51760" y="2240280"/>
            <a:ext cx="43891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文件一级：目录说“在哪个文件”，打开后整份或整页读进来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23760" y="2240280"/>
            <a:ext cx="443484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段落一级：每几百字一段，直接递上相关那几段</a:t>
            </a:r>
            <a:endParaRPr sz="12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2770632"/>
            <a:ext cx="11091672" cy="484632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2770632"/>
            <a:ext cx="182880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靠什么找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51760" y="2770632"/>
            <a:ext cx="43891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文件名、目录、关键词搜索（grep）；字面不重合就漏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223760" y="2770632"/>
            <a:ext cx="443484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按意思找：问“防撞设施”，能落到写“挡块”的那段</a:t>
            </a:r>
            <a:endParaRPr sz="12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3300984"/>
            <a:ext cx="11091672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3300984"/>
            <a:ext cx="182880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一次花多少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651760" y="3300984"/>
            <a:ext cx="43891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多轮：列目录 → 打开 → 读 → 再找；读进来的全算 token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23760" y="3300984"/>
            <a:ext cx="443484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一轮：只送 3–5 段，约 1–2 千 token</a:t>
            </a:r>
            <a:endParaRPr sz="12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3831336"/>
            <a:ext cx="11091672" cy="484632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3831336"/>
            <a:ext cx="182880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资料改了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651760" y="3831336"/>
            <a:ext cx="43891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马上是新的，不用维护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223760" y="3831336"/>
            <a:ext cx="443484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要重建索引，不然查到旧版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361688"/>
            <a:ext cx="11091672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4361688"/>
            <a:ext cx="182880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各自的坑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51760" y="4361688"/>
            <a:ext cx="43891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换了说法就漏找；文件大就读得多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23760" y="4361688"/>
            <a:ext cx="443484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“近”≠“对”：要精排、回原文核；没找到照样编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4892040"/>
            <a:ext cx="11091672" cy="484632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77240" y="4892040"/>
            <a:ext cx="182880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擅长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651760" y="4892040"/>
            <a:ext cx="438912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文件少、命名清楚、要顺着引用读全文：代码、一个项目的往来函件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223760" y="4892040"/>
            <a:ext cx="4434840" cy="4846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资料多、说法杂、反复问同一批：规范库、历年报告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48640" y="5458968"/>
            <a:ext cx="3566160" cy="310896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58368" y="5458968"/>
            <a:ext cx="338327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几十份、名字清楚：</a:t>
            </a: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让它翻文件夹就够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315968" y="5458968"/>
            <a:ext cx="3566160" cy="31089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425696" y="5458968"/>
            <a:ext cx="3383279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资料多、说法杂：</a:t>
            </a: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上 RAG（混合检索）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083296" y="5458968"/>
            <a:ext cx="3557016" cy="310896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193023" y="5458968"/>
            <a:ext cx="337413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常见做法：</a:t>
            </a: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两样都给，RAG 作搜索工具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897880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548640" y="598932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417320" y="5989320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目录索引告诉它去哪个文件；RAG 直接把那几段递到它眼前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工作流例一：审一张图纸，五步各有人、有标准、有产物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拆步骤 → 每一步定“谁做、按什么判、交出什么”；审图和做报告的骨架是同一个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来源：本稿图纸审查与修编报告两个案例的实际执行与复核记录；表格结构说明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403" y="1719072"/>
            <a:ext cx="1057058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例一：审一张图纸（五步）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7297" y="2084831"/>
            <a:ext cx="226299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49847" y="2084831"/>
            <a:ext cx="156325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谁做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87545" y="2084831"/>
            <a:ext cx="454088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按什么判（标准）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302872" y="2084831"/>
            <a:ext cx="2114117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交出什么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322576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548640" y="2377440"/>
            <a:ext cx="11091672" cy="6940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377440"/>
            <a:ext cx="74440" cy="694029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7297" y="2377440"/>
            <a:ext cx="2262998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定范围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49847" y="2377440"/>
            <a:ext cx="156325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87545" y="2377440"/>
            <a:ext cx="454088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页数、图号、哪些表；先确认是“看图”还是“只 OCR”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302872" y="2377440"/>
            <a:ext cx="2114117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一页清单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3071469"/>
            <a:ext cx="11091672" cy="694029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071469"/>
            <a:ext cx="74440" cy="694029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297" y="3071469"/>
            <a:ext cx="2262998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提取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49847" y="3071469"/>
            <a:ext cx="156325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OCR＋视觉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87545" y="3071469"/>
            <a:ext cx="454088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页数、表名、行数对得上；缺页、糊字要点名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302872" y="3071469"/>
            <a:ext cx="2114117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结构化底表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3765499"/>
            <a:ext cx="11091672" cy="6940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765499"/>
            <a:ext cx="74440" cy="694029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297" y="3765499"/>
            <a:ext cx="2262998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逐项核对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49847" y="3765499"/>
            <a:ext cx="156325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687545" y="3765499"/>
            <a:ext cx="454088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每条结论要有图中位置＋原文；不确定项进入“待确认”栏，写明缺什么证据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302872" y="3765499"/>
            <a:ext cx="2114117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问题清单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459528"/>
            <a:ext cx="11091672" cy="694029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459528"/>
            <a:ext cx="74440" cy="694029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7297" y="4459528"/>
            <a:ext cx="2262998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复算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049847" y="4459528"/>
            <a:ext cx="156325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687545" y="4459528"/>
            <a:ext cx="454088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关键量能独立复算；算不出来不进正文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302872" y="4459528"/>
            <a:ext cx="2114117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计算底稿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48640" y="5153558"/>
            <a:ext cx="11091672" cy="6940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5153558"/>
            <a:ext cx="74440" cy="694029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7297" y="5153558"/>
            <a:ext cx="2262998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汇总结论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049847" y="5153558"/>
            <a:ext cx="156325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687545" y="5153558"/>
            <a:ext cx="4540885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分“不一致 / 待确认 / 未检查”，不许混写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302872" y="5153558"/>
            <a:ext cx="2114117" cy="6940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审查意见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每一步都说清：谁做、按什么判、交出什么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来源：本稿第 33—38 页报告案例；验收方法示例，尚未做效果对照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title"/>
          <p:cNvSpPr>
            <a:spLocks noGrp="1"/>
          </p:cNvSpPr>
          <p:nvPr/>
        </p:nvSpPr>
        <p:spPr>
          <a:xfrm>
            <a:off x="552450" y="781050"/>
            <a:ext cx="110490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2700" b="1">
                <a:solidFill>
                  <a:srgbClr val="14213D"/>
                </a:solidFill>
              </a:defRPr>
            </a:defPPr>
            <a:lvl1pPr>
              <a:defRPr sz="2700" b="1">
                <a:solidFill>
                  <a:srgbClr val="14213D"/>
                </a:solidFill>
              </a:defRPr>
            </a:lvl1pPr>
            <a:lvl2pPr>
              <a:defRPr sz="2700" b="1">
                <a:solidFill>
                  <a:srgbClr val="14213D"/>
                </a:solidFill>
              </a:defRPr>
            </a:lvl2pPr>
            <a:lvl3pPr>
              <a:defRPr sz="2700" b="1">
                <a:solidFill>
                  <a:srgbClr val="14213D"/>
                </a:solidFill>
              </a:defRPr>
            </a:lvl3pPr>
            <a:lvl4pPr>
              <a:defRPr sz="2700" b="1">
                <a:solidFill>
                  <a:srgbClr val="14213D"/>
                </a:solidFill>
              </a:defRPr>
            </a:lvl4pPr>
            <a:lvl5pPr>
              <a:defRPr sz="2700" b="1">
                <a:solidFill>
                  <a:srgbClr val="14213D"/>
                </a:solidFill>
              </a:defRPr>
            </a:lvl5pPr>
            <a:lvl6pPr>
              <a:defRPr sz="2700" b="1">
                <a:solidFill>
                  <a:srgbClr val="14213D"/>
                </a:solidFill>
              </a:defRPr>
            </a:lvl6pPr>
            <a:lvl7pPr>
              <a:defRPr sz="2700" b="1">
                <a:solidFill>
                  <a:srgbClr val="14213D"/>
                </a:solidFill>
              </a:defRPr>
            </a:lvl7pPr>
            <a:lvl8pPr>
              <a:defRPr sz="2700" b="1">
                <a:solidFill>
                  <a:srgbClr val="14213D"/>
                </a:solidFill>
              </a:defRPr>
            </a:lvl8pPr>
            <a:lvl9pPr>
              <a:defRPr sz="2700" b="1">
                <a:solidFill>
                  <a:srgbClr val="14213D"/>
                </a:solidFill>
              </a:defRPr>
            </a:lvl9pPr>
          </a:lstStyle>
          <a:p>
            <a:pPr>
              <a:defRPr sz="2700" b="1">
                <a:solidFill>
                  <a:srgbClr val="14213D"/>
                </a:solidFill>
              </a:defRPr>
            </a:pPr>
            <a:r>
              <a:rPr sz="2700" b="1">
                <a:solidFill>
                  <a:srgbClr val="14213D"/>
                </a:solidFill>
              </a:rPr>
              <a:t>修编报告工作流：每一步都有验收依据</a:t>
            </a:r>
            <a:endParaRPr sz="2700" b="1">
              <a:solidFill>
                <a:srgbClr val="14213D"/>
              </a:solidFill>
            </a:endParaRPr>
          </a:p>
        </p:txBody>
      </p:sp>
      <p:sp>
        <p:nvSpPr>
          <p:cNvPr id="103" name="subtitle"/>
          <p:cNvSpPr>
            <a:spLocks noGrp="1"/>
          </p:cNvSpPr>
          <p:nvPr/>
        </p:nvSpPr>
        <p:spPr>
          <a:xfrm>
            <a:off x="552450" y="1371600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650" b="0">
                <a:solidFill>
                  <a:srgbClr val="687386"/>
                </a:solidFill>
              </a:defRPr>
            </a:defPPr>
            <a:lvl1pPr>
              <a:defRPr sz="1650" b="0">
                <a:solidFill>
                  <a:srgbClr val="687386"/>
                </a:solidFill>
              </a:defRPr>
            </a:lvl1pPr>
            <a:lvl2pPr>
              <a:defRPr sz="1650" b="0">
                <a:solidFill>
                  <a:srgbClr val="687386"/>
                </a:solidFill>
              </a:defRPr>
            </a:lvl2pPr>
            <a:lvl3pPr>
              <a:defRPr sz="1650" b="0">
                <a:solidFill>
                  <a:srgbClr val="687386"/>
                </a:solidFill>
              </a:defRPr>
            </a:lvl3pPr>
            <a:lvl4pPr>
              <a:defRPr sz="1650" b="0">
                <a:solidFill>
                  <a:srgbClr val="687386"/>
                </a:solidFill>
              </a:defRPr>
            </a:lvl4pPr>
            <a:lvl5pPr>
              <a:defRPr sz="1650" b="0">
                <a:solidFill>
                  <a:srgbClr val="687386"/>
                </a:solidFill>
              </a:defRPr>
            </a:lvl5pPr>
            <a:lvl6pPr>
              <a:defRPr sz="1650" b="0">
                <a:solidFill>
                  <a:srgbClr val="687386"/>
                </a:solidFill>
              </a:defRPr>
            </a:lvl6pPr>
            <a:lvl7pPr>
              <a:defRPr sz="1650" b="0">
                <a:solidFill>
                  <a:srgbClr val="687386"/>
                </a:solidFill>
              </a:defRPr>
            </a:lvl7pPr>
            <a:lvl8pPr>
              <a:defRPr sz="1650" b="0">
                <a:solidFill>
                  <a:srgbClr val="687386"/>
                </a:solidFill>
              </a:defRPr>
            </a:lvl8pPr>
            <a:lvl9pPr>
              <a:defRPr sz="1650" b="0">
                <a:solidFill>
                  <a:srgbClr val="687386"/>
                </a:solidFill>
              </a:defRPr>
            </a:lvl9pPr>
          </a:lstStyle>
          <a:p>
            <a:pPr>
              <a:defRPr sz="1650" b="0">
                <a:solidFill>
                  <a:srgbClr val="687386"/>
                </a:solidFill>
              </a:defRPr>
            </a:pPr>
            <a:r>
              <a:rPr sz="1650" b="0">
                <a:solidFill>
                  <a:srgbClr val="687386"/>
                </a:solidFill>
              </a:rPr>
              <a:t>把本次发现的问题写回检查表，下次仍按原文和计算结果验收</a:t>
            </a:r>
            <a:endParaRPr sz="1650" b="0">
              <a:solidFill>
                <a:srgbClr val="687386"/>
              </a:solidFill>
            </a:endParaRPr>
          </a:p>
        </p:txBody>
      </p:sp>
      <p:graphicFrame>
        <p:nvGraphicFramePr>
          <p:cNvPr id="104" name="表格 103"/>
          <p:cNvGraphicFramePr/>
          <p:nvPr/>
        </p:nvGraphicFramePr>
        <p:xfrm>
          <a:off x="552450" y="1924050"/>
          <a:ext cx="11087100" cy="3514725"/>
        </p:xfrm>
        <a:graphic>
          <a:graphicData uri="http://schemas.openxmlformats.org/drawingml/2006/table">
            <a:tbl>
              <a:tblPr/>
              <a:tblGrid>
                <a:gridCol w="2095500"/>
                <a:gridCol w="5305425"/>
                <a:gridCol w="3686175"/>
              </a:tblGrid>
              <a:tr h="4191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步骤</a:t>
                      </a:r>
                      <a:endParaRPr sz="16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lnL w="4763">
                      <a:solidFill>
                        <a:srgbClr val="D7D6CF"/>
                      </a:solidFill>
                    </a:lnL>
                    <a:lnR w="4763">
                      <a:solidFill>
                        <a:srgbClr val="D7D6CF"/>
                      </a:solidFill>
                    </a:lnR>
                    <a:lnT w="4763">
                      <a:solidFill>
                        <a:srgbClr val="D7D6CF"/>
                      </a:solidFill>
                    </a:lnT>
                    <a:lnB w="4763">
                      <a:solidFill>
                        <a:srgbClr val="D7D6CF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验收依据</a:t>
                      </a:r>
                      <a:endParaRPr sz="16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T w="4763">
                      <a:solidFill>
                        <a:srgbClr val="D7D6CF"/>
                      </a:solidFill>
                    </a:lnT>
                    <a:lnB w="4763">
                      <a:solidFill>
                        <a:srgbClr val="D7D6CF"/>
                      </a:solidFill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未满足时怎么处理</a:t>
                      </a:r>
                      <a:endParaRPr sz="165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T w="4763">
                      <a:solidFill>
                        <a:srgbClr val="D7D6CF"/>
                      </a:solidFill>
                    </a:lnT>
                    <a:lnB w="4763">
                      <a:solidFill>
                        <a:srgbClr val="D7D6CF"/>
                      </a:solidFill>
                    </a:lnB>
                    <a:solidFill>
                      <a:srgbClr val="14213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F766E"/>
                          </a:solidFill>
                        </a:rPr>
                        <a:t>1  核清单</a:t>
                      </a:r>
                      <a:endParaRPr sz="1725" b="1">
                        <a:solidFill>
                          <a:srgbClr val="0F766E"/>
                        </a:solidFill>
                      </a:endParaRPr>
                    </a:p>
                  </a:txBody>
                  <a:tcPr>
                    <a:lnL w="4763">
                      <a:solidFill>
                        <a:srgbClr val="D7D6CF"/>
                      </a:solidFill>
                    </a:lnL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范围、单位、变更条目与汇总表一致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列明差异，先确认统计口径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F766E"/>
                          </a:solidFill>
                        </a:rPr>
                        <a:t>2  对原因</a:t>
                      </a:r>
                      <a:endParaRPr sz="1725" b="1">
                        <a:solidFill>
                          <a:srgbClr val="0F766E"/>
                        </a:solidFill>
                      </a:endParaRPr>
                    </a:p>
                  </a:txBody>
                  <a:tcPr>
                    <a:lnL w="4763">
                      <a:solidFill>
                        <a:srgbClr val="D7D6CF"/>
                      </a:solidFill>
                    </a:lnL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EEEC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每条原因对应函件或勘误表位置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EEEC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标“待核”，保留缺失资料清单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EEECE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F766E"/>
                          </a:solidFill>
                        </a:rPr>
                        <a:t>3  套模板</a:t>
                      </a:r>
                      <a:endParaRPr sz="1725" b="1">
                        <a:solidFill>
                          <a:srgbClr val="0F766E"/>
                        </a:solidFill>
                      </a:endParaRPr>
                    </a:p>
                  </a:txBody>
                  <a:tcPr>
                    <a:lnL w="4763">
                      <a:solidFill>
                        <a:srgbClr val="D7D6CF"/>
                      </a:solidFill>
                    </a:lnL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标段、承建单位、条文与当前材料一致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保留原条文，清除旧项目残留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F766E"/>
                          </a:solidFill>
                        </a:rPr>
                        <a:t>4  复算金额</a:t>
                      </a:r>
                      <a:endParaRPr sz="1725" b="1">
                        <a:solidFill>
                          <a:srgbClr val="0F766E"/>
                        </a:solidFill>
                      </a:endParaRPr>
                    </a:p>
                  </a:txBody>
                  <a:tcPr>
                    <a:lnL w="4763">
                      <a:solidFill>
                        <a:srgbClr val="D7D6CF"/>
                      </a:solidFill>
                    </a:lnL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EEEC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核减额、分项合计与汇总表能相互核对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EEEC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记录差额与舍入，不强行调平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EEECE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F766E"/>
                          </a:solidFill>
                        </a:rPr>
                        <a:t>5  开文件</a:t>
                      </a:r>
                      <a:endParaRPr sz="1725" b="1">
                        <a:solidFill>
                          <a:srgbClr val="0F766E"/>
                        </a:solidFill>
                      </a:endParaRPr>
                    </a:p>
                  </a:txBody>
                  <a:tcPr>
                    <a:lnL w="4763">
                      <a:solidFill>
                        <a:srgbClr val="D7D6CF"/>
                      </a:solidFill>
                    </a:lnL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实际文件可打开，表格、公式和引用可用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13D"/>
                          </a:solidFill>
                        </a:rPr>
                        <a:t>修复后重新检查交付文件</a:t>
                      </a:r>
                      <a:endParaRPr sz="1725" b="0">
                        <a:solidFill>
                          <a:srgbClr val="14213D"/>
                        </a:solidFill>
                      </a:endParaRPr>
                    </a:p>
                  </a:txBody>
                  <a:tcPr>
                    <a:lnR w="4763">
                      <a:solidFill>
                        <a:srgbClr val="D7D6CF"/>
                      </a:solidFill>
                    </a:lnR>
                    <a:lnB w="4763">
                      <a:solidFill>
                        <a:srgbClr val="D7D6C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" name="takeaway-label"/>
          <p:cNvSpPr>
            <a:spLocks noGrp="1"/>
          </p:cNvSpPr>
          <p:nvPr/>
        </p:nvSpPr>
        <p:spPr>
          <a:xfrm>
            <a:off x="552450" y="5905500"/>
            <a:ext cx="66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500" b="1">
                <a:solidFill>
                  <a:srgbClr val="0F766E"/>
                </a:solidFill>
              </a:defRPr>
            </a:defPPr>
            <a:lvl1pPr>
              <a:defRPr sz="1500" b="1">
                <a:solidFill>
                  <a:srgbClr val="0F766E"/>
                </a:solidFill>
              </a:defRPr>
            </a:lvl1pPr>
            <a:lvl2pPr>
              <a:defRPr sz="1500" b="1">
                <a:solidFill>
                  <a:srgbClr val="0F766E"/>
                </a:solidFill>
              </a:defRPr>
            </a:lvl2pPr>
            <a:lvl3pPr>
              <a:defRPr sz="1500" b="1">
                <a:solidFill>
                  <a:srgbClr val="0F766E"/>
                </a:solidFill>
              </a:defRPr>
            </a:lvl3pPr>
            <a:lvl4pPr>
              <a:defRPr sz="1500" b="1">
                <a:solidFill>
                  <a:srgbClr val="0F766E"/>
                </a:solidFill>
              </a:defRPr>
            </a:lvl4pPr>
            <a:lvl5pPr>
              <a:defRPr sz="1500" b="1">
                <a:solidFill>
                  <a:srgbClr val="0F766E"/>
                </a:solidFill>
              </a:defRPr>
            </a:lvl5pPr>
            <a:lvl6pPr>
              <a:defRPr sz="1500" b="1">
                <a:solidFill>
                  <a:srgbClr val="0F766E"/>
                </a:solidFill>
              </a:defRPr>
            </a:lvl6pPr>
            <a:lvl7pPr>
              <a:defRPr sz="1500" b="1">
                <a:solidFill>
                  <a:srgbClr val="0F766E"/>
                </a:solidFill>
              </a:defRPr>
            </a:lvl7pPr>
            <a:lvl8pPr>
              <a:defRPr sz="1500" b="1">
                <a:solidFill>
                  <a:srgbClr val="0F766E"/>
                </a:solidFill>
              </a:defRPr>
            </a:lvl8pPr>
            <a:lvl9pPr>
              <a:defRPr sz="1500" b="1">
                <a:solidFill>
                  <a:srgbClr val="0F766E"/>
                </a:solidFill>
              </a:defRPr>
            </a:lvl9pPr>
          </a:lstStyle>
          <a:p>
            <a:pPr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结论</a:t>
            </a:r>
            <a:endParaRPr sz="1500" b="1">
              <a:solidFill>
                <a:srgbClr val="0F766E"/>
              </a:solidFill>
            </a:endParaRPr>
          </a:p>
        </p:txBody>
      </p:sp>
      <p:sp>
        <p:nvSpPr>
          <p:cNvPr id="106" name="takeaway"/>
          <p:cNvSpPr>
            <a:spLocks noGrp="1"/>
          </p:cNvSpPr>
          <p:nvPr/>
        </p:nvSpPr>
        <p:spPr>
          <a:xfrm>
            <a:off x="1428750" y="5876925"/>
            <a:ext cx="101727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>
              <a:defRPr sz="1875" b="1">
                <a:solidFill>
                  <a:srgbClr val="14213D"/>
                </a:solidFill>
              </a:defRPr>
            </a:defPPr>
            <a:lvl1pPr>
              <a:defRPr sz="1875" b="1">
                <a:solidFill>
                  <a:srgbClr val="14213D"/>
                </a:solidFill>
              </a:defRPr>
            </a:lvl1pPr>
            <a:lvl2pPr>
              <a:defRPr sz="1875" b="1">
                <a:solidFill>
                  <a:srgbClr val="14213D"/>
                </a:solidFill>
              </a:defRPr>
            </a:lvl2pPr>
            <a:lvl3pPr>
              <a:defRPr sz="1875" b="1">
                <a:solidFill>
                  <a:srgbClr val="14213D"/>
                </a:solidFill>
              </a:defRPr>
            </a:lvl3pPr>
            <a:lvl4pPr>
              <a:defRPr sz="1875" b="1">
                <a:solidFill>
                  <a:srgbClr val="14213D"/>
                </a:solidFill>
              </a:defRPr>
            </a:lvl4pPr>
            <a:lvl5pPr>
              <a:defRPr sz="1875" b="1">
                <a:solidFill>
                  <a:srgbClr val="14213D"/>
                </a:solidFill>
              </a:defRPr>
            </a:lvl5pPr>
            <a:lvl6pPr>
              <a:defRPr sz="1875" b="1">
                <a:solidFill>
                  <a:srgbClr val="14213D"/>
                </a:solidFill>
              </a:defRPr>
            </a:lvl6pPr>
            <a:lvl7pPr>
              <a:defRPr sz="1875" b="1">
                <a:solidFill>
                  <a:srgbClr val="14213D"/>
                </a:solidFill>
              </a:defRPr>
            </a:lvl7pPr>
            <a:lvl8pPr>
              <a:defRPr sz="1875" b="1">
                <a:solidFill>
                  <a:srgbClr val="14213D"/>
                </a:solidFill>
              </a:defRPr>
            </a:lvl8pPr>
            <a:lvl9pPr>
              <a:defRPr sz="1875" b="1">
                <a:solidFill>
                  <a:srgbClr val="14213D"/>
                </a:solidFill>
              </a:defRPr>
            </a:lvl9pPr>
          </a:lstStyle>
          <a:p>
            <a:pPr>
              <a:defRPr sz="1875" b="1">
                <a:solidFill>
                  <a:srgbClr val="14213D"/>
                </a:solidFill>
              </a:defRPr>
            </a:pPr>
            <a:r>
              <a:rPr sz="1875" b="1">
                <a:solidFill>
                  <a:srgbClr val="14213D"/>
                </a:solidFill>
              </a:rPr>
              <a:t>检查表降低漏检风险，关键结论仍需独立复核</a:t>
            </a:r>
            <a:endParaRPr sz="1875" b="1">
              <a:solidFill>
                <a:srgbClr val="1421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工作流的颗粒度：能复算的写死，要临场判断的留白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“整理成工作流”和“交给 Agent”是同一条线上的两档，差别只在写死多少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来源：本稿两案例的执行记录；各模型客户端说明；模型能力变化的观察（2026-10）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30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写死</a:t>
            </a:r>
            <a:endParaRPr sz="30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74519" y="199339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三条全中才写死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548640" y="2487168"/>
            <a:ext cx="5422391" cy="0"/>
          </a:xfrm>
          <a:prstGeom prst="line">
            <a:avLst/>
          </a:prstGeom>
          <a:ln w="19050">
            <a:solidFill>
              <a:srgbClr val="0F766E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48640" y="2633472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格式固定</a:t>
            </a:r>
            <a:endParaRPr sz="15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3160" y="2633472"/>
            <a:ext cx="3502151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Excel 行列、模板单元格、报告章节都是死的</a:t>
            </a:r>
            <a:endParaRPr sz="13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48640" y="3273552"/>
            <a:ext cx="5422391" cy="0"/>
          </a:xfrm>
          <a:prstGeom prst="line">
            <a:avLst/>
          </a:prstGeom>
          <a:ln w="9525">
            <a:solidFill>
              <a:srgbClr val="E2DFD8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548640" y="3346704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有唯一正确答案</a:t>
            </a:r>
            <a:endParaRPr sz="15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23160" y="3346704"/>
            <a:ext cx="3502151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合计数、差额、核减额，算错就是错</a:t>
            </a:r>
            <a:endParaRPr sz="13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986784"/>
            <a:ext cx="5422391" cy="0"/>
          </a:xfrm>
          <a:prstGeom prst="line">
            <a:avLst/>
          </a:prstGeom>
          <a:ln w="9525">
            <a:solidFill>
              <a:srgbClr val="E2DFD8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548640" y="4059935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出错代价高</a:t>
            </a:r>
            <a:endParaRPr sz="15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23160" y="4059935"/>
            <a:ext cx="3502151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要能复算、能追责，不能“大概对”</a:t>
            </a:r>
            <a:endParaRPr sz="13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700016"/>
            <a:ext cx="5422391" cy="0"/>
          </a:xfrm>
          <a:prstGeom prst="line">
            <a:avLst/>
          </a:prstGeom>
          <a:ln w="9525">
            <a:solidFill>
              <a:srgbClr val="E2DFD8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217920" y="1810512"/>
            <a:ext cx="1280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3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留白</a:t>
            </a:r>
            <a:endParaRPr sz="3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543800" y="199339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中一条就交给模型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6217920" y="2487168"/>
            <a:ext cx="5422392" cy="0"/>
          </a:xfrm>
          <a:prstGeom prst="line">
            <a:avLst/>
          </a:prstGeom>
          <a:ln w="19050">
            <a:solidFill>
              <a:srgbClr val="D9622B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217920" y="2633472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材料不全</a:t>
            </a:r>
            <a:endParaRPr sz="15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92440" y="2633472"/>
            <a:ext cx="3502151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缺页、口径不清，要临场判断</a:t>
            </a:r>
            <a:endParaRPr sz="13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6217920" y="3273552"/>
            <a:ext cx="5422392" cy="0"/>
          </a:xfrm>
          <a:prstGeom prst="line">
            <a:avLst/>
          </a:prstGeom>
          <a:ln w="9525">
            <a:solidFill>
              <a:srgbClr val="E2DFD8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217920" y="3346704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输出是自然语言</a:t>
            </a:r>
            <a:endParaRPr sz="15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092440" y="3346704"/>
            <a:ext cx="3502151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写原因、写信、写说明</a:t>
            </a:r>
            <a:endParaRPr sz="13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6217920" y="3986784"/>
            <a:ext cx="5422392" cy="0"/>
          </a:xfrm>
          <a:prstGeom prst="line">
            <a:avLst/>
          </a:prstGeom>
          <a:ln w="9525">
            <a:solidFill>
              <a:srgbClr val="E2DFD8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217920" y="4059935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步骤说不清</a:t>
            </a:r>
            <a:endParaRPr sz="15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092440" y="4059935"/>
            <a:ext cx="3502151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要边做边看结果再决定下一步</a:t>
            </a:r>
            <a:endParaRPr sz="13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6217920" y="4700016"/>
            <a:ext cx="5422392" cy="0"/>
          </a:xfrm>
          <a:prstGeom prst="line">
            <a:avLst/>
          </a:prstGeom>
          <a:ln w="9525">
            <a:solidFill>
              <a:srgbClr val="E2DFD8"/>
            </a:solidFill>
          </a:ln>
        </p:spPr>
      </p:cxnSp>
      <p:sp>
        <p:nvSpPr>
          <p:cNvPr id="34" name="Rectangle 33"/>
          <p:cNvSpPr/>
          <p:nvPr/>
        </p:nvSpPr>
        <p:spPr>
          <a:xfrm>
            <a:off x="548640" y="4901184"/>
            <a:ext cx="11091672" cy="6035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77240" y="4901184"/>
            <a:ext cx="106984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两档不是对立的：</a:t>
            </a:r>
            <a:r>
              <a:rPr sz="13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同一件事，外层（交付、审批、复算）写死，内层（怎么找、怎么写）留给模型。</a:t>
            </a:r>
            <a:endParaRPr sz="13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能复算、有唯一答案的写死；要判断的，留给模型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流程写得过细，反而会限制模型发挥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写清目标与验收，保留必要约束；在允许的范围内给模型选择方法的空间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来源：本稿两案例的执行记录；各模型客户端说明；模型能力变化的观察（2026-10）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三种过细</a:t>
            </a:r>
            <a:endParaRPr sz="12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148840"/>
            <a:ext cx="5486400" cy="0"/>
          </a:xfrm>
          <a:prstGeom prst="line">
            <a:avLst/>
          </a:prstGeom>
          <a:ln w="19050">
            <a:solidFill>
              <a:srgbClr val="D9622B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48640" y="2276856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拆分增加交接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624328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拆分增加交接成本；是否有收益，需要用同一任务对照</a:t>
            </a:r>
            <a:endParaRPr sz="13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172968"/>
            <a:ext cx="5486400" cy="0"/>
          </a:xfrm>
          <a:prstGeom prst="line">
            <a:avLst/>
          </a:prstGeom>
          <a:ln w="9525">
            <a:solidFill>
              <a:srgbClr val="DAD7D0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548640" y="3300984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标准写成了操作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3648456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无必要地固定操作顺序，可能阻止更合适的方法</a:t>
            </a:r>
            <a:endParaRPr sz="13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4197096"/>
            <a:ext cx="5486400" cy="0"/>
          </a:xfrm>
          <a:prstGeom prst="line">
            <a:avLst/>
          </a:prstGeom>
          <a:ln w="9525">
            <a:solidFill>
              <a:srgbClr val="DAD7D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548640" y="432511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给旧模型打的补丁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4672583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模型或工具变化后，复核旧规则是否仍然有用</a:t>
            </a:r>
            <a:endParaRPr sz="13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92240" y="1810512"/>
            <a:ext cx="5148072" cy="361188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12280" y="201168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怎么留活口</a:t>
            </a:r>
            <a:endParaRPr sz="16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12280" y="25603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8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269480" y="256032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写目标与验收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269480" y="2907791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保留必要流程，避免无依据地限定操作</a:t>
            </a:r>
            <a:endParaRPr sz="1250" b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12280" y="34747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8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269480" y="347472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留判断位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69480" y="3822191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每一步内部留一个判断位，允许它换做法</a:t>
            </a:r>
            <a:endParaRPr sz="1250" b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12280" y="4389120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8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269480" y="438912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定期复核规则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269480" y="4736592"/>
            <a:ext cx="4206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50" b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确认已过时再删，不凭感觉删</a:t>
            </a:r>
            <a:endParaRPr sz="1250" b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2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工作流首先要让人能验收，而不是先让模型听话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Agent 协作：收益与代价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收益来自并行和上下文隔离；代价来自协调、文件冲突，以及“同一个错误前提”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来源：本稿多 Agent 协作记录；Subagent 与并行任务说明；S09–S16 客户端文档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532120" cy="34747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什么时候值：两条真实收益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532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2677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2523744"/>
            <a:ext cx="5166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 Agent 各查一份清单的不同章节：串行 40 分钟的活，十几分钟出初稿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999232"/>
            <a:ext cx="5532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7238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上下文干净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3328415"/>
            <a:ext cx="5166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每个只看自己那一摊，主线不被几十页材料冲淡（接上下文腐烂那条）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822191"/>
            <a:ext cx="5532120" cy="3474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22191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什么时候只是更贵：三条真实代价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3232" y="424281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成本翻倍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76272" y="4242816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 Agent = 三份 token，还得加上协调的往返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3232" y="45354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写冲突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76272" y="4535424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两个改同一个文件，后写的把前面的覆盖掉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3232" y="4828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错误前提传染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76272" y="482803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三个都用了错的汇总口径 → 一起错，还像“交叉验证过”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55080" y="1737360"/>
            <a:ext cx="5285232" cy="34747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37360"/>
            <a:ext cx="496519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拆之前先过这四条（缺一就别拆）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10528" y="2231136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76288" y="2212848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任务能切成互不依赖的块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10528" y="2542032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76288" y="2523744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每块有独立、可核对的产出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10528" y="2852927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76288" y="2834639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写文件的范围不重叠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510528" y="3163823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76288" y="3145535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有人负责合并并验收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355080" y="3529584"/>
            <a:ext cx="5285232" cy="78638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8816" y="3584448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这几种就别拆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28816" y="3822191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步骤前后强依赖（第二步要用第一步的结论）· 总量本来就小 · 没有验收人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55080" y="4425696"/>
            <a:ext cx="5285232" cy="74980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8816" y="4480560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最常见的一种假复核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28816" y="4718304"/>
            <a:ext cx="49377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复核的人只复述执行者的答案，等于没复核；必须回到原材料逐条对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人多不自动变可靠：拆得开、验得了、有人兜底，才值得拆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工作流与 Agent 编排的三个陷阱，本稿都踩过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前面讲怎么搭；这一页讲它什么时候会坏事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来源：本稿两案例的执行与返工记录；多 Agent 协作记录；本稿整理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03920" y="1783080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怎么避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084831"/>
            <a:ext cx="11091672" cy="0"/>
          </a:xfrm>
          <a:prstGeom prst="line">
            <a:avLst/>
          </a:prstGeom>
          <a:ln w="12700">
            <a:solidFill>
              <a:srgbClr val="14213D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48640" y="2194560"/>
            <a:ext cx="822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44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44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71600" y="2231136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低级模型＋复杂工作流，不如高级模型一句话</a:t>
            </a:r>
            <a:endParaRPr sz="18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1600" y="2651760"/>
            <a:ext cx="6766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工作流不增加理解力，只会把同一个误解重复五遍。本次差的几组不是步骤不够细，是没看懂图；Opus 一句话，两个检查点全中。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8321040" y="2286000"/>
            <a:ext cx="0" cy="822960"/>
          </a:xfrm>
          <a:prstGeom prst="line">
            <a:avLst/>
          </a:prstGeom>
          <a:ln w="25400">
            <a:solidFill>
              <a:srgbClr val="0F766E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8503920" y="2267712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先确认模型够用，再谈工作流</a:t>
            </a:r>
            <a:endParaRPr sz="15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300984"/>
            <a:ext cx="11091672" cy="0"/>
          </a:xfrm>
          <a:prstGeom prst="line">
            <a:avLst/>
          </a:prstGeom>
          <a:ln w="9525">
            <a:solidFill>
              <a:srgbClr val="DAD7D0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548640" y="3410712"/>
            <a:ext cx="822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44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44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71600" y="3447288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不逐步确认，跑完查不出哪一步坏了</a:t>
            </a:r>
            <a:endParaRPr sz="18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71600" y="3867911"/>
            <a:ext cx="6766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中间产物没留，结果不对只能整条重跑，时间全耗在重跑上，而不是定位。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8321040" y="3502152"/>
            <a:ext cx="0" cy="822960"/>
          </a:xfrm>
          <a:prstGeom prst="line">
            <a:avLst/>
          </a:prstGeom>
          <a:ln w="25400">
            <a:solidFill>
              <a:srgbClr val="0F766E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8503920" y="3483864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每一步留一个能查的产物</a:t>
            </a:r>
            <a:endParaRPr sz="15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517136"/>
            <a:ext cx="11091672" cy="0"/>
          </a:xfrm>
          <a:prstGeom prst="line">
            <a:avLst/>
          </a:prstGeom>
          <a:ln w="9525">
            <a:solidFill>
              <a:srgbClr val="DAD7D0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548640" y="4626864"/>
            <a:ext cx="822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44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44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71600" y="466344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一个 AI 没看懂，换一个 AI 复核也看不懂</a:t>
            </a:r>
            <a:endParaRPr sz="18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71600" y="5084064"/>
            <a:ext cx="67665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复核者拿到的还是那段模糊描述，只会给出另一个同样模糊的判断。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8321040" y="4718303"/>
            <a:ext cx="0" cy="822961"/>
          </a:xfrm>
          <a:prstGeom prst="line">
            <a:avLst/>
          </a:prstGeom>
          <a:ln w="25400">
            <a:solidFill>
              <a:srgbClr val="0F766E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8503920" y="4700016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复核要能回到原文逐条对</a:t>
            </a:r>
            <a:endParaRPr sz="15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833872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548640" y="5925312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2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925312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先确认模型看得懂，再决定拆几步、用几个 Agent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数据分三级处理，付款、删除、外发前由人确认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来源：S30，工作资料与权限管理方法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6949440" cy="78638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23774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公开资料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54680" y="1783080"/>
            <a:ext cx="42062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按允许的流程使用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05840" y="2697480"/>
            <a:ext cx="6492240" cy="786384"/>
          </a:xfrm>
          <a:prstGeom prst="rect">
            <a:avLst/>
          </a:prstGeom>
          <a:solidFill>
            <a:srgbClr val="F3EBD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34440" y="2697480"/>
            <a:ext cx="23774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内部业务材料</a:t>
            </a:r>
            <a:endParaRPr sz="180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11880" y="2697480"/>
            <a:ext cx="3749039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脱敏，用单位允许的工具和账号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463040" y="3611880"/>
            <a:ext cx="6035040" cy="78638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91640" y="3611880"/>
            <a:ext cx="23774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密钥与高敏感资料</a:t>
            </a:r>
            <a:endParaRPr sz="1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69080" y="3611880"/>
            <a:ext cx="3291839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不贴进普通对话，用专门的凭据机制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863840" y="1783080"/>
            <a:ext cx="3776472" cy="2615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92440" y="19202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操作权限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92440" y="2331720"/>
            <a:ext cx="3383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读写本地文件、执行命令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只给完成任务必需的权限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对外发送、付款、删除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最后一步由人核对对象、内容、金额和后果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11094415" cy="9601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572000"/>
            <a:ext cx="18288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已经误传？</a:t>
            </a:r>
            <a:endParaRPr sz="1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06040" y="4572000"/>
            <a:ext cx="88696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马上停止扩散 → 撤销或轮换相关凭据 → 保留必要记录 → 按单位流程处理</a:t>
            </a:r>
            <a:endParaRPr sz="17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越敏感的数据、越不能撤回的动作，越要人在最后一步把关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带走三件事</a:t>
            </a:r>
            <a:endParaRPr sz="1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选好配置，交代清楚，检查结果</a:t>
            </a:r>
            <a:endParaRPr sz="4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822960" y="2331720"/>
            <a:ext cx="105156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822960" y="2441448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2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0" y="2441448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选配置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06240" y="2441448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确认型号和入口；图纸类任务，先确认它真能看图</a:t>
            </a:r>
            <a:endParaRPr sz="1500" b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3081527"/>
            <a:ext cx="105156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22960" y="3191256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2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45920" y="3191256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交代清楚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06240" y="3191256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目标、材料、格式、怎么算完成；不替它下结论</a:t>
            </a:r>
            <a:endParaRPr sz="1500" b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822960" y="3831335"/>
            <a:ext cx="105156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22960" y="3941063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2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45920" y="3941063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检查结果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06240" y="3941063"/>
            <a:ext cx="71323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500" b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回原文、重算关键数字、打开实际文件</a:t>
            </a:r>
            <a:endParaRPr sz="1500" b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581144"/>
            <a:ext cx="105156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22960" y="48463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上手路径</a:t>
            </a:r>
            <a:endParaRPr sz="12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194560" y="484632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22335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194560" y="48463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用免费积分跑通一个小任务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4919472" y="5029200"/>
            <a:ext cx="310896" cy="0"/>
          </a:xfrm>
          <a:prstGeom prst="line">
            <a:avLst/>
          </a:prstGeom>
          <a:ln w="19050">
            <a:solidFill>
              <a:srgbClr val="2DD4BF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5303520" y="4846320"/>
            <a:ext cx="882396" cy="365760"/>
          </a:xfrm>
          <a:prstGeom prst="roundRect">
            <a:avLst>
              <a:gd name="adj" fmla="val 50000"/>
            </a:avLst>
          </a:prstGeom>
          <a:solidFill>
            <a:srgbClr val="22335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303520" y="4846320"/>
            <a:ext cx="88239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核结果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6259068" y="5029200"/>
            <a:ext cx="310896" cy="0"/>
          </a:xfrm>
          <a:prstGeom prst="line">
            <a:avLst/>
          </a:prstGeom>
          <a:ln w="19050">
            <a:solidFill>
              <a:srgbClr val="2DD4BF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6643116" y="4846320"/>
            <a:ext cx="2061972" cy="365760"/>
          </a:xfrm>
          <a:prstGeom prst="roundRect">
            <a:avLst>
              <a:gd name="adj" fmla="val 50000"/>
            </a:avLst>
          </a:prstGeom>
          <a:solidFill>
            <a:srgbClr val="22335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43116" y="4846320"/>
            <a:ext cx="2061972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再决定换模型或付费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附录  </a:t>
            </a:r>
            <a:r>
              <a:rPr sz="1200" b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常用术语 · 公司档案 · 订阅与开通 · 资讯与榜单 · 分享与工具 · 原理与历史 · 参考资料来源</a:t>
            </a:r>
            <a:endParaRPr sz="1200" b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</a:rPr>
              <a:t>谢谢</a:t>
            </a:r>
            <a:endParaRPr sz="1600" b="1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提问与交流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会后查阅：附录索引</a:t>
            </a:r>
            <a:endParaRPr sz="12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822960" y="2697480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822960" y="2788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sz="2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17320" y="278892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常用术语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17320" y="308152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 panose="020B0503020204020204" charset="-122"/>
                <a:ea typeface="微软雅黑" panose="020B0503020204020204" charset="-122"/>
              </a:rPr>
              <a:t>听不懂的词，一句话讲清</a:t>
            </a:r>
            <a:endParaRPr sz="1100" b="0">
              <a:solidFill>
                <a:srgbClr val="9AA8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54880" y="278892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P57</a:t>
            </a:r>
            <a:endParaRPr sz="1400" b="1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6217920" y="2697480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217920" y="278892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sz="2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12280" y="278892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公司档案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12280" y="3081528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 panose="020B0503020204020204" charset="-122"/>
                <a:ea typeface="微软雅黑" panose="020B0503020204020204" charset="-122"/>
              </a:rPr>
              <a:t>每家一页：强在哪、边界在哪、什么时候选它</a:t>
            </a:r>
            <a:endParaRPr sz="1100" b="0">
              <a:solidFill>
                <a:srgbClr val="9AA8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149840" y="2788920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P62</a:t>
            </a:r>
            <a:endParaRPr sz="1400" b="1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822960" y="3447288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822960" y="353872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sz="2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17320" y="353872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订阅与开通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17320" y="383133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 panose="020B0503020204020204" charset="-122"/>
                <a:ea typeface="微软雅黑" panose="020B0503020204020204" charset="-122"/>
              </a:rPr>
              <a:t>怎么开通、花多少钱、怎么省</a:t>
            </a:r>
            <a:endParaRPr sz="1100" b="0">
              <a:solidFill>
                <a:srgbClr val="9AA8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54880" y="353872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P82</a:t>
            </a:r>
            <a:endParaRPr sz="1400" b="1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217920" y="3447288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217920" y="353872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sz="2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12280" y="353872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资讯与榜单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12280" y="3831336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 panose="020B0503020204020204" charset="-122"/>
                <a:ea typeface="微软雅黑" panose="020B0503020204020204" charset="-122"/>
              </a:rPr>
              <a:t>去哪看新消息，榜单怎么对着读</a:t>
            </a:r>
            <a:endParaRPr sz="1100" b="0">
              <a:solidFill>
                <a:srgbClr val="9AA8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149840" y="3538728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P90</a:t>
            </a:r>
            <a:endParaRPr sz="1400" b="1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822960" y="4197096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822960" y="428853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E</a:t>
            </a:r>
            <a:endParaRPr sz="2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17320" y="4288536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分享与工具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17320" y="458114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 panose="020B0503020204020204" charset="-122"/>
                <a:ea typeface="微软雅黑" panose="020B0503020204020204" charset="-122"/>
              </a:rPr>
              <a:t>自查工具、中转站风险、护栏与开源部署</a:t>
            </a:r>
            <a:endParaRPr sz="1100" b="0">
              <a:solidFill>
                <a:srgbClr val="9AA8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54880" y="4288536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P98</a:t>
            </a:r>
            <a:endParaRPr sz="1400" b="1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6217920" y="4197096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217920" y="428853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F</a:t>
            </a:r>
            <a:endParaRPr sz="2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12280" y="4288536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原理与历史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812280" y="4581144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 panose="020B0503020204020204" charset="-122"/>
                <a:ea typeface="微软雅黑" panose="020B0503020204020204" charset="-122"/>
              </a:rPr>
              <a:t>模型为什么会这样：从神经网络到注意力</a:t>
            </a:r>
            <a:endParaRPr sz="1100" b="0">
              <a:solidFill>
                <a:srgbClr val="9AA8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149840" y="4288536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P115</a:t>
            </a:r>
            <a:endParaRPr sz="1400" b="1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822960" y="4946904"/>
            <a:ext cx="5029200" cy="0"/>
          </a:xfrm>
          <a:prstGeom prst="line">
            <a:avLst/>
          </a:prstGeom>
          <a:ln w="9525">
            <a:solidFill>
              <a:srgbClr val="3B4A6B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822960" y="5038344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2400" b="1">
                <a:solidFill>
                  <a:srgbClr val="2DD4BF"/>
                </a:solidFill>
                <a:latin typeface="微软雅黑" panose="020B0503020204020204" charset="-122"/>
                <a:ea typeface="微软雅黑" panose="020B0503020204020204" charset="-122"/>
              </a:rPr>
              <a:t>Z</a:t>
            </a:r>
            <a:endParaRPr sz="2400" b="1">
              <a:solidFill>
                <a:srgbClr val="2DD4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417320" y="5038344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参考资料与来源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17320" y="5330952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9AA8BF"/>
                </a:solidFill>
                <a:latin typeface="微软雅黑" panose="020B0503020204020204" charset="-122"/>
                <a:ea typeface="微软雅黑" panose="020B0503020204020204" charset="-122"/>
              </a:rPr>
              <a:t>按编号归档，附原链接清单</a:t>
            </a:r>
            <a:endParaRPr sz="1100" b="0">
              <a:solidFill>
                <a:srgbClr val="9AA8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754880" y="5038344"/>
            <a:ext cx="109728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400" b="1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P127</a:t>
            </a:r>
            <a:endParaRPr sz="1400" b="1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17920" y="5138928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0">
                <a:solidFill>
                  <a:srgbClr val="9AA8BF"/>
                </a:solidFill>
                <a:latin typeface="微软雅黑" panose="020B0503020204020204" charset="-122"/>
                <a:ea typeface="微软雅黑" panose="020B0503020204020204" charset="-122"/>
              </a:rPr>
              <a:t>配套文件夹：十份鹈鹕原始 HTML、图纸与报告的核对材料</a:t>
            </a:r>
            <a:endParaRPr sz="1150" b="0">
              <a:solidFill>
                <a:srgbClr val="9AA8B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常用术语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模型本身、怎么交代任务、Agent 与工具、常见误解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A1  常用术语（一）：模型本身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Token、上下文、参数、MoE、推理模式、多模态、幻觉、开放权重、蒸馏与量化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Token（词元）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模型读写文字的最小单位，计费和上下文都按它算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汉字和 token 不一一对应，按各家分词器算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上下文窗口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一次对话里模型能“看到”的 token 上限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1M 约一百万 token；放得下≠记得住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模型内部可调的数字，决定能力上限和运行成本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参数多不等于一定更聪明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MoE（混合专家）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模型拆成多个“专家”，每次只调用一部分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总参数大、单次计算小，所以又快又便宜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 / 思考模式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先在内部推一遍再作答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想得越久越准，也越贵越慢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能同时处理文字、图片、音频、视频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看图≠OCR：前者理解画面，后者只认字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编出不存在的内容，还说得很肯定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引用、数字、条文最容易出，必须核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开放权重 / 开源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公开模型参数可下载 / 连训练代码数据也公开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DeepSeek、Qwen、GLM 多为开放权重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蒸馏 / 量化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用大模型教小模型 / 降低数字精度让模型变小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本地部署多用量化版，能力有折损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A2  常用术语（二）：怎么把任务交给它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提示词、系统提示词、上下文工程、RAG、向量、API、计费、缓存、限流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Prompt（提示词）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交给模型的任务、资料和要求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不是咒语；说清目标和验收标准更重要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系统提示词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客户端预先写给模型的“岗位说明”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同一模型换客户端效果不同，原因之一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上下文工程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决定把哪些资料、历史、规则放进上下文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比反复改提示词更影响结果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RAG（检索增强）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先从资料库检出相关片段，再让模型作答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检索漏了，回答就漏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Embedding（向量）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把文字变成一串数字，用来算“意思相近”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知识库检索的底层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/ API Key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程序调用模型的接口；Key 是计费凭证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 泄露＝别人花你的钱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按量 vs 订阅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按 token 付费；订阅按月给额度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 / Credits 是客户端自己的计量单位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缓存命中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重复的前文不重复计费或打折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长对话前文保持不变更省钱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限流（429）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每分钟、每天能调用的次数或 token 上限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 429 就是触发限流，等一会儿再试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A3  常用术语（三）：Agent 与工具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Agent、Harness、工具调用、MCP、Skill、Subagent、多 Agent、沙箱、Computer Use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Agent（智能体）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模型自己拆步骤、调工具、看结果再决定下一步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不只是自动连续聊天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Harness（外壳）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包住模型的运行环境：工具、上下文、权限、反馈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同一模型换外壳，表现差很多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模型按固定格式请求执行某个函数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读文件、搜网页、跑代码都靠它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把外部工具和数据接给模型的开放协议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像统一接口；不会让模型变聪明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Skill（技能）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打包好的任务说明、脚本和资料，用到才加载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不等于自动获得工具权限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Subagent（子代理）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 Agent 把子任务交给独立上下文的小 Agent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主线上下文更干净，还能并行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Agent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 Agent 分工协作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关键是有人负责验收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沙箱（Sandbox）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隔离的运行环境，Agent 在里面跑代码、改文件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出错不伤本机；权限仍要收紧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Computer Use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模型看屏幕截图，控制鼠标键盘操作电脑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能用没有接口的软件；慢，要盯着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A4  常用术语（四）：工作方式与评测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浏览器代理、Plan 模式、Vibe Coding、工作流、人工确认、提示注入、榜单、Arena、降智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Browser Use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专门操作网页的 Agent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填表、比价、下单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 / Ask 模式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只出方案 / 只问答，不直接动手改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 Plan 再让它执行更稳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Vibe Coding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只描述需求、让 AI 写代码，不逐行看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做原型很快，交付前要审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工作流（Workflow）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预先固定的步骤链，模型只负责其中几步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稳定、可复现，适合重复任务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人工确认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关键步骤停下来等人点头（Human-in-the-loop）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付款、发信、删文件前必须停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提示注入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网页或文件里藏指令，劫持 Agent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读外部内容的 Agent 都要防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Benchmark（榜单）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用固定题目给模型打分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只代表那一类题（见第 24 页）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Arena / Elo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匿名对战、人来投票排名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测的是偏好，受回答风格影响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降智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用户感觉同一个模型变笨了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官方承认过 bug（见 B1c）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
公司档案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 · 可用入口 · 强项 · 边界；OpenAI、Anthropic、Meta Muse、DeepSeek、Qwen 另有专题页；降智与封号紧跟其后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3749039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8321040" y="42062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1"/>
          <p:cNvSpPr txBox="1"/>
          <p:nvPr/>
        </p:nvSpPr>
        <p:spPr>
          <a:xfrm>
            <a:off x="8321040" y="46634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  OpenAI：以推理能力为核心的产品路线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同一家公司三个档位：Astra 打最难的题，Sol 干日常的活，Luna 守免费入口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来源：openai.com 模型页与系统卡、artificialanalysis.ai、epoch.ai/frontiermath；2026-10-18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Astra（旗舰，AA 53；FrontierMath Erdős 68 题里唯一得分，3%）；GPT-6.1 Sol（AA 52，每道题 $0.72，性价比最高的一档）；GPT-6 Luna（免费档的小模型，上下文 27K）。全部闭源。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网页 / 桌面 / 手机；Codex 一个名四种形态——终端、IDE 插件、桌面、云端，Astra 版的 Codex 外壳把 computer use 提速约 1.9 倍；另有 API 与 Azure。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推理与数学第一梯队；写代码偏“防御式”，兜底和异常处理写得多，改动面也大。本次鹈鹕 G 一次成片，图纸 1/2（K1）。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贵：Astra 输入/输出 $10 / $50 每百万 token。档位最多，免费版和付费版常常不是同一个模型——拿免费版的体验评价它会低估它。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G（GPT-6.1 Sol high · Codex，P19）；图纸 1/2（K1）、假错误 1 条（P30）；榜单与分层（P23–P25）；数学进展（B1b）。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要解“最难的那道题”选 Astra；日常写代码跑批，Sol 更划算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B1b  OpenAI 数学：从公开失误到可验证的推理进展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 OpenAI 自己发布、附 Lean 形式化证明；学界核验程度各不相同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来源：openai.com 研究公告（2026-05-20、08-01、09-08、10-06）；The Guardian；arXiv 2609.25050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2011680"/>
            <a:ext cx="0" cy="3063240"/>
          </a:xfrm>
          <a:prstGeom prst="line">
            <a:avLst/>
          </a:prstGeom>
          <a:ln w="25400">
            <a:solidFill>
              <a:srgbClr val="DAD7CE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722376" y="1965960"/>
            <a:ext cx="201168" cy="20116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178308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2025-10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94560" y="178308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331720" y="178308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先翻过车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3440" y="178308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称“解决 10 道 Erdős 题”，实为检索到已有文献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22376" y="2697480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51560" y="251460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2026-05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194560" y="251460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331720" y="251460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Erdős 单位距离猜想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63440" y="251460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内部模型给出反例，Alon 等数学家人工核验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22376" y="3429000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51560" y="324612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2026-08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194560" y="324612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331720" y="324612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十项研究成果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63440" y="324612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 内部版：球堆积、密码、Ramsey 数等；算力约 $2,000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22376" y="4160520"/>
            <a:ext cx="201168" cy="201168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51560" y="397764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2026-09</a:t>
            </a:r>
            <a:endParaRPr sz="16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194560" y="397764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331720" y="397764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纳维–斯托克斯千禧年难题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63440" y="397764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称约 1 万个 Agent 跑 88 小时给出“爆破”证明；学界评审中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22376" y="4892040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51560" y="470916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194560" y="470916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331720" y="470916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再公开一批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663440" y="470916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放上 GitHub，附 Lean 证明；平均约 3 小时 Pro 算力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321040" y="1783080"/>
            <a:ext cx="3319272" cy="36576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549640" y="19202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冷静看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49640" y="228600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3%</a:t>
            </a:r>
            <a:endParaRPr sz="4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49640" y="3108960"/>
            <a:ext cx="29718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 道未解的 Erdős 题，每题 $300 预算、要求机器可验证：</a:t>
            </a:r>
            <a:endParaRPr sz="14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解出 3%，其余模型 0%。</a:t>
            </a:r>
            <a:endParaRPr sz="14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（FrontierMath Erdős，2026-09）</a:t>
            </a:r>
            <a:endParaRPr sz="14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能解出真问题了，但还是“挑着解”：结论要看有没有可复查的证明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0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43" name="LogoBadge"/>
          <p:cNvSpPr/>
          <p:nvPr/>
        </p:nvSpPr>
        <p:spPr>
          <a:xfrm>
            <a:off x="9802800" y="208800"/>
            <a:ext cx="676800" cy="676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600" y="264600"/>
            <a:ext cx="565200" cy="565200"/>
          </a:xfrm>
          <a:prstGeom prst="rect">
            <a:avLst/>
          </a:prstGeom>
        </p:spPr>
      </p:pic>
      <p:cxnSp>
        <p:nvCxnSpPr>
          <p:cNvPr id="45" name="Connector 44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B1c  “降智”：官方承认过 bug，没承认按负载降智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与 Anthropic 都出过：真 bug、被换模型、上下文太长、单次抽卡，都会让体感变差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来源：Anthropic 事故复盘（2025-09-17）；marginlab.ai；lm.ikale.io/docs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Picture 8" descr="anthropic_postmortem_timeline_2025-09.png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87" y="1828800"/>
            <a:ext cx="5754624" cy="2697480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4572000"/>
            <a:ext cx="5760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官方时间线：2025 年 8–9 月三个 bug。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最严重时 16% 的 Sonnet 4 请求受影响；官方称“从不因需求或负载降低质量”。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83680" y="1828800"/>
            <a:ext cx="50566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83680" y="1828800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12280" y="19202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先查自己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12280" y="2286000"/>
            <a:ext cx="4709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对话是不是太长、换了客户端或档位、只试了一次；先自己排除这三样。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83680" y="3044952"/>
            <a:ext cx="50566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83680" y="3044952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12280" y="313639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对不对得上指纹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12280" y="3502152"/>
            <a:ext cx="4709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lm.ikale.io 用“随机数指纹”猜背后是哪个模型；结果只是参考，Key 会经过它的代理。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83680" y="4261104"/>
            <a:ext cx="50566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583680" y="4261104"/>
            <a:ext cx="73152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12280" y="435254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再看长期曲线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12280" y="4718304"/>
            <a:ext cx="4709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Margin Lab 每天跑 50 题：单日波动 ±12.8 个点内都算正常，要看 7 日、30 日。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三步走完再决定换不换；重要交付别押在一次生成上——体感会骗人，核过的结果不会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  Anthropic：以 Agent 与工程任务为主战场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与长任务目前最强；贵，但一次做对的概率高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来源：anthropic.com/claude-opus-5-5、platform.claude.com 定价、artificialanalysis.ai；2026-10-18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5.5（2026-09 发布，AA 58 全场第一；$4/$20 每百万 token，缓存读 $0.20，比 Opus 5 便宜 40%）；Sonnet 5.5（56）、Haiku 5.5（43）；Fable 5.1（53，上一代旗舰，仍在跑）。全部闭源。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Code（终端 Agent，社区公认与 Opus 5.5 最搭的一套外壳）；Claude 桌面版（原 Cowork，直接读写本机文件）；claude.ai；API 与 AWS / GCP / Azure。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长任务不跑偏、会自己查证。本次图纸 2/2（十家里唯一全中）；修编报告 4 分钟出稿、金额全对，还联网核对了承建单位。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没有免费版，Claude Pro $20 起；对中国大陆用户与中资实体有地区限制（见 B2c）；最强档跑一道题约 $6。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D（Opus 5.5 · Hark，P19）；图纸 2/2（P30）；修编报告 4 分钟（P34）；“脾气”页（P26）；出视频（B2b）。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交付物要经得起人核、又不想反复返工时选它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B2b  Opus 生成视频：以代码逐帧渲染的实现路径</a:t>
            </a:r>
            <a:endParaRPr sz="2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原理：写网页动画代码 → 浏览器逐帧截图 → FFmpeg 合成；作品为作者自述，各截 4 秒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 opusvideo/awesome-claude-video（作者自述，未独立复现）；X 原帖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Picture 8" descr="reel.gif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pic>
        <p:nvPicPr>
          <p:cNvPr id="10" name="Picture 9" descr="china.gif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874519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pic>
        <p:nvPicPr>
          <p:cNvPr id="11" name="Picture 10" descr="aihist.gif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13631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pic>
        <p:nvPicPr>
          <p:cNvPr id="12" name="Picture 11" descr="orbit.gif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0520" y="3913631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7772400" y="1874519"/>
            <a:ext cx="3867912" cy="396849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01000" y="19659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四段分别是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01000" y="23774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左上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秒动态图形作品集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32520" y="272491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一句话需求 · 约 37.9 万观看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01000" y="318211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右上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中华五千年历史速览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32520" y="3529584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一句话提示词 · 2 分 38 秒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0" y="398678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左下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发展史短片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32520" y="433425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Remotion＋开源配音 · 3 分钟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01000" y="4791456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右下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轨道中的世界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32520" y="513892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167.6 万观看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17320" y="5897880"/>
            <a:ext cx="1022573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“一句话能出片，但出不了好片”：刷屏作品多半还有长提示词和多轮修改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4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27" name="LogoBadge"/>
          <p:cNvSpPr/>
          <p:nvPr/>
        </p:nvSpPr>
        <p:spPr>
          <a:xfrm>
            <a:off x="9802800" y="208800"/>
            <a:ext cx="676800" cy="676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8" name="Logo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8600" y="264600"/>
            <a:ext cx="565200" cy="565200"/>
          </a:xfrm>
          <a:prstGeom prst="rect">
            <a:avLst/>
          </a:prstGeom>
        </p:spPr>
      </p:pic>
      <p:cxnSp>
        <p:nvCxnSpPr>
          <p:cNvPr id="29" name="Connector 28"/>
          <p:cNvCxnSpPr/>
          <p:nvPr/>
        </p:nvCxnSpPr>
        <p:spPr>
          <a:xfrm>
            <a:off x="548640" y="5916168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B2c  Anthropic 的限制：中资实体、地区与封号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按时间顺序；数字来自官方公告和报道，2026-10-18 整理；这一页会直接决定你能不能长期用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来源：anthropic.com 公告与使用政策；technews.tw（2026-10-14）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2056806"/>
            <a:ext cx="0" cy="2588464"/>
          </a:xfrm>
          <a:prstGeom prst="line">
            <a:avLst/>
          </a:prstGeom>
          <a:ln w="25400">
            <a:solidFill>
              <a:srgbClr val="DAD7CE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713232" y="1961660"/>
            <a:ext cx="219456" cy="219456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97280" y="1874519"/>
            <a:ext cx="1737360" cy="401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2025-09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34640" y="1874519"/>
            <a:ext cx="8805672" cy="619773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17520" y="1874519"/>
            <a:ext cx="329184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中资控股超过 50% 的实体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080" y="1874519"/>
            <a:ext cx="521208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不论注册在哪，一律不提供服务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13232" y="2690805"/>
            <a:ext cx="219456" cy="219456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" y="2603664"/>
            <a:ext cx="1737360" cy="401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2026-02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34640" y="2603664"/>
            <a:ext cx="8805672" cy="619773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017520" y="2603664"/>
            <a:ext cx="329184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公布“蒸馏”报告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55080" y="2603664"/>
            <a:ext cx="521208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点名 DeepSeek、月之暗面、MiniMax；约 2.4 万个欺诈账号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13232" y="3419950"/>
            <a:ext cx="219456" cy="21945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97280" y="3332809"/>
            <a:ext cx="1737360" cy="401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34640" y="3332809"/>
            <a:ext cx="8805672" cy="619773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017520" y="3332809"/>
            <a:ext cx="329184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新使用政策（11-12 生效）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55080" y="3332809"/>
            <a:ext cx="521208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按人所在地、注册地、控股方判断；名单无大陆、港澳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13232" y="4149095"/>
            <a:ext cx="219456" cy="21945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97280" y="4061954"/>
            <a:ext cx="1737360" cy="40102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上半年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834640" y="4061954"/>
            <a:ext cx="8805672" cy="619773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017520" y="4061954"/>
            <a:ext cx="329184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封禁 1,140 万账号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55080" y="4061954"/>
            <a:ext cx="5212080" cy="6197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申诉 39.8 万，推翻 4.2 万；疑似代理可能要求证件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8640" y="4864608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417320" y="4864608"/>
            <a:ext cx="842174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三条红线：中资控股、地区名单、借卡借号，采购和自用都先排除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" name="Picture 33" descr="meme_6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9976" y="4709160"/>
            <a:ext cx="1630335" cy="1627632"/>
          </a:xfrm>
          <a:prstGeom prst="rect">
            <a:avLst/>
          </a:prstGeom>
        </p:spPr>
      </p:pic>
      <p:cxnSp>
        <p:nvCxnSpPr>
          <p:cNvPr id="35" name="Connector 34"/>
          <p:cNvCxnSpPr/>
          <p:nvPr/>
        </p:nvCxnSpPr>
        <p:spPr>
          <a:xfrm>
            <a:off x="548640" y="4882896"/>
            <a:ext cx="9290421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B3  Google：知识覆盖与长文本输出最稳定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一个模型三种外壳：App、Antigravity（桌面＋CLI）、云上 Vertex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来源：blog.google、deepmind.google 模型卡、arena.ai、artificialanalysis.ai；2026-10-18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690372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Argon（AA 53；Arena 文字榜第一 1524；ARC-AGI-3 97.5%；单次输出可达 1M token）；Gemini 3.8 Flash（41，免费档主力）；Flash-Lite（更小更快）。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App；Antigravity——2026-06-18 起 Gemini CLI 并入 Antigravity CLI，桌面版与命令行共用同一套 Agent 外壳；AI Studio / Vertex AI；Workspace 内嵌。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知识面、中文与长文写作；一次能吐很长，适合整篇报告、长文档改写与资料综述。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榜偏后（Arena Agent 榜 13.73%）；工具链刚换过一代，网上多半旧教程已经对不上；国内访问受限。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榜单与分层（P23–P25）；免费档 Flash-Lite（P21）；订阅与地区（C2、C4）。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写长文、查资料、要一个“什么都懂一点”的默认助手时选它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B4  xAI：不以刷榜为目标，产品先做常驻型 Agent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 在第二梯队；真正的差异是 Grok Bot 这套常驻 Agent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来源：x.ai/news/introducing-grok-bot、x.ai 订阅页、artificialanalysis.ai；2026-10-18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4.7（AA 46，第二梯队）；Grok 系列主打实时信息与 X 上的语料；权重不开源。模型本身不是它最强的地方。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Bot（2026-08-11 公测）：每个 Bot 一台自己的云端电脑，能登录你常用的应用，24 小时跑，只在需要拍板时回来；可多 Bot 并行、互相发消息、拉群协作；用量与 Grok / Cursor 订阅分开算。另有 grok.com、X 内入口、API。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把“人等结果”变成“结果等人”；适合销售跟进、运营、招聘、修 bug 这类跨应用的多步流程。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地区限制，大陆不可直接访问；企业版还在等待名单；常驻意味着要把账号权限交出去很大一块。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中转与代理池（E2–E2f）；支持地区（C2）；Grok 并入 X 订阅（C4）；一页选型（C5）。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已经有 X 或 Cursor 订阅、又想试“常驻同事”形态时，它门槛最低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B5  Meta：把“记得住你”做成模型能力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 是 Meta 第一款前沿模型；主打个人助理，不是编程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来源：research.meta.ai/blog/muse-wonder、about.fb.com、techcrunch.com、artificialanalysis.ai；2026-10-18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 与 Muse Wonder Full（2026-10-12，Meta Superintelligence Labs 出品，AA 52；Arena 文字榜第二）；Muse Spark（2026-04 首款，现支撑 Meta AI）。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App（muse.ai，网页＋手机）；Muse Code（订阅者的编程入口）；Meta Model API；Facebook / Instagram / WhatsApp 里的 Meta AI。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两个招牌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Active Memory：跨对话记住偏好、行程、家人信息，下次接着用。Active Focus：订多程行程、反复改方案时，不丢前面的条件。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只对美国、加拿大开放（第三方核查口径）；免费档有上限，Power $20、Maximum $100；企业级权限与审计弱于 OpenAI / Anthropic，编程不是主场。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榜单与分层（P23–P25）；“云端 / 个人代理”分类（P22）；价格（C4）。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想试“记得住你”的个人助理时；工作交付别把它当主力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B6  Mistral：以可自部署为核心的欧洲路线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唯一把开放权重当主业的头部；模型不最强，但能装进自己机房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来源：mistral.ai/news/mistral-large-4、docs.mistral.ai 模型与更新记录；2026-10-18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Mistral Large 4（2026-10-06，约 1T 参数 MoE，1M 上下文，多模态，开放权重先 API 预览）；另有 Pixtral（视觉）、Devstral（代码）、Magistral（推理）。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Mistral Vibe（原 Le Chat，聊天＋编码 Agent）；Mistral Code（IDE 插件）；La Plateforme API；权重可下载，用 vLLM / TensorRT-LLM 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数据不出境、可审计、能进内网；同能力下显存与价格友好，是欧盟“主权 AI”的默认选项。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绝对能力不在第一梯队，本次榜单没有收录它的旗舰分数；中文语料与国内生态明显弱。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本次未进入对比（P19–P27）——它的价值在“能自己部署”，不在跑分。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单位要求数据不出机房、或要一个可审计的欧洲供应商时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B7  DeepSeek：把开源当方法、把低价当杠杆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不只放权重：报告、算子、代码一起开；Flash 1017 在 AA 上追平 GLM-5.3（45 分）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来源：api-docs.deepseek.com 定价与 1017 发布说明；huggingface.co/deepseek-ai；deepseeklicense.github.io；2026-10-18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公司 / 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DeepSeek（深度求索）2023 年由幻方量化孵化，一路把“低价 + 开源”做成标签：V2 打价格，V3 / R1 打开源与推理，V4 系列打长上下文。当前主力是 V4.1 Flash 1017（2026-10-17，1M 上下文）。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产品与接入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 / App；API 完全兼容 OpenAI（改个 base_url 就能接）；第三方客户端接入最广（WorkBuddy、Cherry Studio、Cursor 类都支持）；权重可自建、可私有化——这是它能进企业内网的前提。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开源的是方法，不只是权重：报告、算子、评测代码一起放（见 B7b）。② 价格最低：输出 8 元/百万 token，闲时半价，约 217 token/s。③ Flash 1017 厂商自报 DeepSWE 77.0，第三方尚未复测。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识图与图内文字弱（图纸 0/2）；提示词写得粗就明显掉档；工作日高峰限速；海外合规与企业治理弱于 OpenAI / Anthropic。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C（V4.1 Flash 1M · WorkBuddy，P19）；图纸 0/2（P30）；修编报告 34 分钟（P34）；价格（P23）；开源四层（B7b）。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要开源可控、要便宜、要大批量跑时首选；识图与强合规场景别指望它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B7b  DeepSeek 的开源范围：开放了什么、保留了什么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不是“把权重放出来”就算开源：代码、权重、训练细节、底层算子，是四种不同的“开”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来源：deepseeklicense.github.io（官方许可 FAQ）；DeepSeek-V3 技术报告；开源周（2025-02）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1077163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四种“开”，一层比一层彻底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121408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54864" cy="786384"/>
          </a:xfrm>
          <a:prstGeom prst="rect">
            <a:avLst/>
          </a:prstGeom>
          <a:solidFill>
            <a:srgbClr val="6B738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176272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权重开放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03120" y="2176272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参数能下载、能自己跑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55279" y="2176272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多数“开源模型”只到这一层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2907791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907791"/>
            <a:ext cx="54864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62656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许可宽松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03120" y="2962656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 MIT、模型自建许可；可商用、免登记、衍生可闭源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55279" y="2962656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对比：Llama 社区许可限制更多（规模大要另行申请）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3694176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694176"/>
            <a:ext cx="54864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749039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细节公开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03120" y="3749039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V3 技术报告：671B 总 / 37B 激活，架构、策略、成本都写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55279" y="3749039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能被复现研究，而不只是能用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4480560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54864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4535424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底层开源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03120" y="4535424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开源周五个库：FlashMLA、DeepEP、DeepGEMM、EPLB/DualPipe、3FS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955279" y="4535424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给的是“怎么榨干硬件”的方法，通常不外传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5358384"/>
            <a:ext cx="5532120" cy="384048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358384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时间点要说准：转折在 V3 / R1（2024 年底—2025 年初），不是 2023 年的第一代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55080" y="5358384"/>
            <a:ext cx="528523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5358384"/>
            <a:ext cx="4992624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 ≠ 零成本：权重能下，算力运维自己扛；许可宽松也有用途限制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前三层给“结果”，第四层给“方法”——愿意给方法，才是真彻底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7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40" name="LogoBadge"/>
          <p:cNvSpPr/>
          <p:nvPr/>
        </p:nvSpPr>
        <p:spPr>
          <a:xfrm>
            <a:off x="9802800" y="208800"/>
            <a:ext cx="676800" cy="676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600" y="264600"/>
            <a:ext cx="565200" cy="565200"/>
          </a:xfrm>
          <a:prstGeom prst="rect">
            <a:avLst/>
          </a:prstGeom>
        </p:spPr>
      </p:pic>
      <p:cxnSp>
        <p:nvCxnSpPr>
          <p:cNvPr id="42" name="Connector 4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B8  阿里 Qwen：以工具调用与自主纠错见长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识图链路最“肯折腾”；Qoder 是它自家的 IDE 外壳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来源：aliyun.com 百炼文档、qoder.com/pricing、artificialanalysis.ai；2026-10-18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Qwen3.8 Max（2026-08，2.4T 参数 MoE，思考 / 快速双模式，AA 45）；Qwen3.8 Flash（41）与 Flash-Next；开源系列陆续放出权重。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通义 App；Qoder（IDE，可接自己的 API Key，有 Quest 与 Editor 两种形态）；阿里云百炼 API；开源权重自建。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看不见图会自己把 PDF 渲染成图再逐格读——本次因此找到 K2；中文理解与写作稳。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慢：图纸 43 分钟；列了 24 条、其中 5 条假错误，报得多不等于对得多；Qoder 的免费额度与国内版价格要分开看。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I（Qwen3.8 Flash · Qoder，P19）；图纸 1/2（K2）；读图方式对比（P31）。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需要“自己想办法把活干完”、又能等的时候；赶时间别选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B8b  Qwen 的尺寸矩阵：各参数档位全面铺开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旗舰之外还有一条从 0.6B 到 32B 的完整梯队；单位里真正跑得动的，往往是这一头的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来源：Qwen3 发布的官方说明与媒体报道（2026）；联发科天玑平台 Qwen3 适配技术页；Hugging Face 开放模型报告；本稿整理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1077163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一条完整的尺寸梯队：0.6B → 32B → 旗舰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手机端侧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792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够做分类、抽取、短问答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432304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05456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1.7B / 4B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05456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端侧与轻量服务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05456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天玑平台实机验证；功耗与性能平衡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15968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8B / 14B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89120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单卡工作站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89120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高频窄任务：改写、结构化、初筛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99632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72784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单机 / 小集群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72784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接近可用的通用能力，仍装得下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83296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203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30B / 235B MoE</a:t>
            </a:r>
            <a:endParaRPr sz="115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56448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服务器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56448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 激活小，单次算力省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966960" y="2139696"/>
            <a:ext cx="192024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622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0112" y="2194560"/>
            <a:ext cx="177393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2.4T 旗舰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040112" y="2468880"/>
            <a:ext cx="17739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集群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040112" y="2706624"/>
            <a:ext cx="1773936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最难的任务，最贵的价格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3438144"/>
            <a:ext cx="11091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读法：越往左越装得下，越往右越聪明；选型看任务难度，不看榜单名次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3822191"/>
            <a:ext cx="5532120" cy="31089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822191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为什么尺寸梯队对单位重要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4224528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22452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端侧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847088" y="422452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现场勘验、外业记录：没网也要用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4681728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" y="468172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内网单机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847088" y="468172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8B–32B 一张卡能跑，做高频窄任务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" y="513892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蒸馏与实验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47088" y="513892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给小模型做教师，或在本地做实验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355080" y="3822191"/>
            <a:ext cx="5285232" cy="31089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3822191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别忘了这两句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510528" y="4224528"/>
            <a:ext cx="4992624" cy="117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同尺寸最强 ≠ 能替代旗舰：32B 再强，复杂长链也难追 2.4T
· 生态规模是隐性优势：开源 460+ 模型、衍生 30 万+、下载破 30 亿次，遇到问题更容易搜到答案、找到别人改好的版本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旗舰决定它能拿多少分，尺寸梯队决定它能不能装进你的机房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2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55" name="LogoBadge"/>
          <p:cNvSpPr/>
          <p:nvPr/>
        </p:nvSpPr>
        <p:spPr>
          <a:xfrm>
            <a:off x="9802800" y="208800"/>
            <a:ext cx="676800" cy="676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6" name="Logo" descr="qw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600" y="264600"/>
            <a:ext cx="565200" cy="565200"/>
          </a:xfrm>
          <a:prstGeom prst="rect">
            <a:avLst/>
          </a:prstGeom>
        </p:spPr>
      </p:pic>
      <p:cxnSp>
        <p:nvCxnSpPr>
          <p:cNvPr id="57" name="Connector 56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B9  智谱 GLM：开源模型中代码能力突出的一档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便宜、可自建、编程强；识图和长任务仍然要人盯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来源：z.ai/blog/glm-5.3、docs.bigmodel.cn、zcode.z.ai；2026-10-18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20" y="1819656"/>
            <a:ext cx="2189183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GLM-5.3（开源权重；官方称编程较 GLM-5.2 提升 50%，Terminal-Bench 3.0 开源 SOTA；AA 45）；GLM-5.3-Flash（轻量版，本次鹈鹕用的就是它）。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Z.ai 网页；ZCode（官方 Agent 外壳，多 Agent 协作）；GLM Coding Plan（包月，比按量 API 便宜）；bigmodel.cn API；权重可自建。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单位里想“私有化 + 便宜 + 会写代码”，它是目前最省事的选择；包月方案对天天写代码的人很划算。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本次图纸看了 1 小时 24 分，最后判“无实质错误”，0/2；预览版与正式版能力有差距。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A（GLM-5.3 Flash · Trae，P19）；图纸 0/2（P30）；分层（P25）。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要私有化部署、或按包月写代码时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B10  月之暗面 Kimi：超长上下文与长文档处理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2.8 万亿参数的开源旗舰；长上下文是它的看家本领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来源：kimi.com/news/kimi-k3、github.com/MoonshotAI/Kimi-K3、artificialanalysis.ai；2026-10-18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 K3（2026-07，2.8T 参数、1M 上下文、开源，Kimi Delta Attention 混合线性注意力；AA 44）；K2 系列仍在服务。是目前参数最大的开源模型。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 网页 / App；Kimi CLI 与 Kimi Code CLI（TypeScript 重写、单文件二进制）；platform.kimi.com API；权重可自建。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长文档、长对话不丢线；前端与设计稿还原在社区口碑好，适合读规范、读合同、写长稿。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干活不在第一梯队；本次没有进入识图对比，缺同口径数据。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榜单与分层（P23–P25，AA 44 与 Step 5 并列）。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读长材料、写长文、还原前端稿时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B11  MiniMax：语言与视频双线并行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语言模型在追赶，视频与多模态才是它真正的招牌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来源：minimax.io/blog/minimax-m3、hailuoai.video、artificialanalysis.ai；2026-10-18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M3（2026-06，约 428B 参数 / 23B 激活，1M 上下文，原生多模态，开源；AA 29）；H3（即海螺 3.0，2026-07-31，音画同出的视频模型）。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Agent（桌面端，能读本地文件、操作浏览器）；MiniMax Code；海螺视频；开放平台 API。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视频与多模态生成是强项；桌面 Agent 直接动本机文件，做素材、配音、短片比纯聊天模型顺手。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语言模型分数偏低（AA 29）；本次图纸 0/2；列了 10 条，其中 5 条假错误。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J（MiniMax M3 · WorkBuddy，P19）；图纸 0/2（P30）；分层（P25）。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要做视频、配音、多模态素材时；当主力语言模型还早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B12  腾讯混元 Hy：办公场景适配度较高的国产一档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模型开源、客户端齐全；WorkBuddy 与 CodeBuddy 积分共享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来源：tencent.com 与 hunyuan.tencent.com 的 Hy4 发布页、huggingface.co/tencent/Hy4-preview、workbuddy.cn；2026-10-18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20" y="1819656"/>
            <a:ext cx="2189183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Preview（770B 总参数 / 49B 激活，1M 上下文，开源；AA 未收录，Arena Agent 榜第 20）；另有混元图像与视频模型。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元宝（聊天）；ima（知识库）；WorkBuddy（桌面办公 Agent，直接读写本机 Excel、PDF）；CodeBuddy（IDE）；腾讯云 API。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国内可人民币付款，免费积分够跑通一个真实小任务；从读表到出稿都在本机完成。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预览版能力不稳定；本次它自述环境不支持视觉，图纸 0/2，不计入识图能力比较。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E（Hy4 Preview 1M high · WorkBuddy，P19）；图纸 0/2 且视觉未启用（P31）；免费额度（P27）。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单位在国内、要处理本机 Office 文件、又不想折腾海外账号时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B13  百度文心：中文检索与生态整合最完整的一档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参数很大、成本很低；但公开榜单上很难横向比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来源：ernie.baidu.com、cloud.baidu.com 千帆文档、comate.baidu.com；2026-10-18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文心 5.0（2.4T 参数，原生全模态，2026-01 正式版）；文心 5.1（2026-05，官方称预训练成本约为同规模模型的 6%）；ERNIE 系列小模型陆续开放。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文心一言 App / 网页；文心快码 Comate（IDE 插件，Spec 模式、Figma 转代码）；千帆平台 API；百度搜索内嵌。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中文时事与搜索时效最好；与百度生态（搜索、地图、网盘）打通；企业侧的合规与备案材料齐全。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缺同口径第三方分数，本分享的榜单里没有它，不能与前十二家直接比高低。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未进入本次对比（P19–P27）——榜单缺同口径数据，不硬凑。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要中文搜索时效、或单位已经在用百度云时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订阅与开通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开通前自查、上手七步、地区与支付、注册、价格、省钱办法、一页选型；价格与地区政策以官方页面为准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  动手之前：四件事，各查一次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来源：OpenAI、Anthropic、Google 支持地区页；各产品定价页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1980000"/>
            <a:ext cx="1371600" cy="23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地区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31720" y="1980000"/>
            <a:ext cx="3398367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先确认：所在地开不开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1720" y="2574000"/>
            <a:ext cx="3398367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查法：定价页搜 supported countries。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OpenAI、Anthropic 不支持大陆；Gemini 大陆只开单位账号。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不过就别往下走。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33007" y="1783080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53047" y="1980000"/>
            <a:ext cx="1371600" cy="23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16087" y="1980000"/>
            <a:ext cx="3398367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再确认：网络通不通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16087" y="2574000"/>
            <a:ext cx="3398367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查法：网页能开、登录不转圈、接口能回结果。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只开网页不够：客户端还要连 API 域名。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单位网络有管控的先问规定。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945600"/>
            <a:ext cx="1371600" cy="23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31720" y="3945600"/>
            <a:ext cx="3398367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然后：能收码的邮箱和手机号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31720" y="4539600"/>
            <a:ext cx="3398367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 Google 账号：Gemini 必须用。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手机号要能收国际短信；VoIP、座机多被拒。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别买转售账号：随时可能被停。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33007" y="3749039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53047" y="3945600"/>
            <a:ext cx="1371600" cy="23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16087" y="3945600"/>
            <a:ext cx="3398367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最后：一张能过的卡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16087" y="4539600"/>
            <a:ext cx="3398367" cy="9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多数只收 Visa/Mastercard，账单地址须在支持地区。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国内卡多半过不了：卡在发卡国。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2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国内产品用支付宝、微信，可开票。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顺序别反：地区不过就别折腾账号，支付不过就别先买会员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291600"/>
            <a:ext cx="54864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附录  速查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000" y="291600"/>
            <a:ext cx="9144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84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7200" y="604800"/>
            <a:ext cx="457200" cy="54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7200" y="712800"/>
            <a:ext cx="11095200" cy="55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2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C1b  照着做：从零到跑通第一个任务</a:t>
            </a:r>
            <a:endParaRPr sz="2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7200" y="1224000"/>
            <a:ext cx="11095200" cy="30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6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七步走完，就知道它能不能干你的活、值不值得付费</a:t>
            </a:r>
            <a:endParaRPr sz="16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7200" y="6400800"/>
            <a:ext cx="11095200" cy="0"/>
          </a:xfrm>
          <a:prstGeom prst="line">
            <a:avLst/>
          </a:prstGeom>
          <a:ln w="9525">
            <a:solidFill>
              <a:srgbClr val="E2DFD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7200" y="6454800"/>
            <a:ext cx="96012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8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来源：各产品官方帮助中心与定价页（2026-10-18 查询）；本文为操作顺序建议，不含任何绕过地区或身份限制的方法</a:t>
            </a:r>
            <a:endParaRPr sz="8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3600" y="6454800"/>
            <a:ext cx="18288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8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来源索引 ›</a:t>
            </a:r>
            <a:endParaRPr sz="8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  <a:hlinkClick r:id="rId1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48640" y="5778000"/>
            <a:ext cx="91440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注意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417320" y="5778000"/>
            <a:ext cx="10226520" cy="46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5000"/>
              </a:lnSpc>
            </a:pPr>
            <a:r>
              <a:rPr sz="1700" b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第 3 步和第 6 步最容易被跳过：不跑真实任务，就测不出它到底行不行</a:t>
            </a:r>
            <a:endParaRPr sz="1700" b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548640" y="166420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548640" y="1664208"/>
            <a:ext cx="267004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731520" y="189280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234440" y="1865376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选一个能用的产品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31520" y="246888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按 C1 筛四件事：地区、网络、账号、支付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31520" y="3081528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过不了就换国内产品</a:t>
            </a:r>
            <a:endParaRPr sz="1100" b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3355848" y="166420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355848" y="1664208"/>
            <a:ext cx="267004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3538728" y="189280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041648" y="1865376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注册一个主账号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538728" y="246888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优先 Google 登录；一个邮箱一个账号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538728" y="3081528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同一手机号多开会触发风控</a:t>
            </a:r>
            <a:endParaRPr sz="1100" b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163055" y="166420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6163055" y="1664208"/>
            <a:ext cx="267004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6345936" y="1892808"/>
            <a:ext cx="384048" cy="3840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848855" y="1865376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先用完免费额度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345936" y="246888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拿手上真实的小任务跑一遍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345936" y="3081528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别用“你好”测试</a:t>
            </a:r>
            <a:endParaRPr sz="1100" b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970263" y="166420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8970263" y="1664208"/>
            <a:ext cx="267004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9153143" y="189280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656063" y="1865376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验证它能读你的文件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153143" y="246888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传一份真实 PDF，问某页某行写了什么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153143" y="3081528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这一步决定能不能干活</a:t>
            </a:r>
            <a:endParaRPr sz="1100" b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48640" y="367588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548640" y="3675888"/>
            <a:ext cx="267004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731520" y="390448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234440" y="3877056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把任务写成一段说明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731520" y="448056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目标、材料、格式、验收标准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31520" y="5093208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写不清先别怪它</a:t>
            </a:r>
            <a:endParaRPr sz="1100" b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3355848" y="367588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3355848" y="3675888"/>
            <a:ext cx="267004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3538728" y="3904488"/>
            <a:ext cx="384048" cy="3840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4041648" y="3877056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对照结果，算返工时间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538728" y="448056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记下“做多久、错几处”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3538728" y="5093208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这组数决定值不值得付费</a:t>
            </a:r>
            <a:endParaRPr sz="1100" b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6163055" y="3675888"/>
            <a:ext cx="2670048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6163055" y="3675888"/>
            <a:ext cx="267004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6345936" y="3904488"/>
            <a:ext cx="384048" cy="38404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6848855" y="3877056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再决定买哪一档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345936" y="4480560"/>
            <a:ext cx="230428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最低档先跑一周，不够再加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345936" y="5093208"/>
            <a:ext cx="230428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注意  </a:t>
            </a:r>
            <a:r>
              <a:rPr sz="1100" b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年付退不了，月付随时停</a:t>
            </a:r>
            <a:endParaRPr sz="1100" b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8970263" y="3675888"/>
            <a:ext cx="2670048" cy="1874519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9198863" y="3995928"/>
            <a:ext cx="2240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做一步，验一步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198863" y="4544568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300" b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</a:rPr>
              <a:t>任一步不过就停下，别硬往下走</a:t>
            </a:r>
            <a:endParaRPr sz="1300" b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1" name="Connector 100"/>
          <p:cNvCxnSpPr/>
          <p:nvPr/>
        </p:nvCxnSpPr>
        <p:spPr>
          <a:xfrm>
            <a:off x="548640" y="5796288"/>
            <a:ext cx="11093760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C2  海外 AI 服务：地区与支付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2026-10-18 查询官方页面；只列事实，不涉及绕过方法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来源：各产品支持地区与定价页；Claude、OpenAI 帮助中心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11094415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10512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63204" y="181051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大陆能否使用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0780" y="181051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收什么付款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0367" y="2176272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/ Codex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63204" y="217627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不在支持列表（港澳也不在）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30780" y="217627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国际卡；App 内走 App Store / Google Play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54203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542032"/>
            <a:ext cx="11094415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0367" y="2542032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/ Claude Code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63204" y="254203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不支持；11-12 起排除中资控股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30780" y="254203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国际卡，发卡国须在支持地区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2907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910367" y="2907791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63204" y="2907791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大陆仅单位 Workspace 账号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30780" y="2907791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账户付款方式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27355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273551"/>
            <a:ext cx="11094415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0367" y="3273551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Grok（X 订阅）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63204" y="3273551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官方未列地区；大陆无法直接访问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30780" y="3273551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银行卡、Apple / Google Pay；App 内走商店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63931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910367" y="3639311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Muse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363204" y="3639311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人须在开放国家（已确认美、加）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030780" y="3639311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账户付款方式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0507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548640" y="4005072"/>
            <a:ext cx="11094415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10367" y="4005072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国际版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363204" y="400507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付费不含大陆（国内版用 trae.cn）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30780" y="400507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支付宝、微信支付、银联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37083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910367" y="4370832"/>
            <a:ext cx="22627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智谱 GLM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363204" y="437083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国内产品；海外版 z.ai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30780" y="437083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支付宝、微信，可开发票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473659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5" name="Rectangle 44"/>
          <p:cNvSpPr/>
          <p:nvPr/>
        </p:nvSpPr>
        <p:spPr>
          <a:xfrm>
            <a:off x="548640" y="5138928"/>
            <a:ext cx="11094415" cy="64008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7240" y="513892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国内外币卡为什么刷不了  </a:t>
            </a: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要求账单地址在支持地区、与发卡国一致；国内银行发的外币卡、双币卡发卡国是中国，通常被拒。App 内订阅由 App Store / Google Play 代收，按商店账户地区处理。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8640" y="5870448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417320" y="5870448"/>
            <a:ext cx="1022573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在不支持的地区使用、借别人的卡或账号，都有被封的风险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LogoBadge"/>
          <p:cNvSpPr/>
          <p:nvPr/>
        </p:nvSpPr>
        <p:spPr>
          <a:xfrm>
            <a:off x="679968" y="225115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2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88" y="2287872"/>
            <a:ext cx="142560" cy="142560"/>
          </a:xfrm>
          <a:prstGeom prst="rect">
            <a:avLst/>
          </a:prstGeom>
        </p:spPr>
      </p:pic>
      <p:sp>
        <p:nvSpPr>
          <p:cNvPr id="53" name="LogoBadge"/>
          <p:cNvSpPr/>
          <p:nvPr/>
        </p:nvSpPr>
        <p:spPr>
          <a:xfrm>
            <a:off x="679968" y="261691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4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88" y="2653632"/>
            <a:ext cx="142560" cy="142560"/>
          </a:xfrm>
          <a:prstGeom prst="rect">
            <a:avLst/>
          </a:prstGeom>
        </p:spPr>
      </p:pic>
      <p:sp>
        <p:nvSpPr>
          <p:cNvPr id="55" name="LogoBadge"/>
          <p:cNvSpPr/>
          <p:nvPr/>
        </p:nvSpPr>
        <p:spPr>
          <a:xfrm>
            <a:off x="679968" y="2982671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6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88" y="3019391"/>
            <a:ext cx="142560" cy="142560"/>
          </a:xfrm>
          <a:prstGeom prst="rect">
            <a:avLst/>
          </a:prstGeom>
        </p:spPr>
      </p:pic>
      <p:sp>
        <p:nvSpPr>
          <p:cNvPr id="57" name="LogoBadge"/>
          <p:cNvSpPr/>
          <p:nvPr/>
        </p:nvSpPr>
        <p:spPr>
          <a:xfrm>
            <a:off x="679968" y="3348431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8" name="Logo" descr="gr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688" y="3385151"/>
            <a:ext cx="142560" cy="142560"/>
          </a:xfrm>
          <a:prstGeom prst="rect">
            <a:avLst/>
          </a:prstGeom>
        </p:spPr>
      </p:pic>
      <p:sp>
        <p:nvSpPr>
          <p:cNvPr id="59" name="LogoBadge"/>
          <p:cNvSpPr/>
          <p:nvPr/>
        </p:nvSpPr>
        <p:spPr>
          <a:xfrm>
            <a:off x="679968" y="3714191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0" name="Logo" descr="me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688" y="3750911"/>
            <a:ext cx="142560" cy="142560"/>
          </a:xfrm>
          <a:prstGeom prst="rect">
            <a:avLst/>
          </a:prstGeom>
        </p:spPr>
      </p:pic>
      <p:sp>
        <p:nvSpPr>
          <p:cNvPr id="61" name="LogoBadge"/>
          <p:cNvSpPr/>
          <p:nvPr/>
        </p:nvSpPr>
        <p:spPr>
          <a:xfrm>
            <a:off x="679968" y="407995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2" name="Logo" descr="tra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688" y="4116672"/>
            <a:ext cx="142560" cy="142560"/>
          </a:xfrm>
          <a:prstGeom prst="rect">
            <a:avLst/>
          </a:prstGeom>
        </p:spPr>
      </p:pic>
      <p:sp>
        <p:nvSpPr>
          <p:cNvPr id="63" name="LogoBadge"/>
          <p:cNvSpPr/>
          <p:nvPr/>
        </p:nvSpPr>
        <p:spPr>
          <a:xfrm>
            <a:off x="679968" y="444571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4" name="Logo" descr="zhip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688" y="4482432"/>
            <a:ext cx="142560" cy="142560"/>
          </a:xfrm>
          <a:prstGeom prst="rect">
            <a:avLst/>
          </a:prstGeom>
        </p:spPr>
      </p:pic>
      <p:cxnSp>
        <p:nvCxnSpPr>
          <p:cNvPr id="65" name="Connector 64"/>
          <p:cNvCxnSpPr/>
          <p:nvPr/>
        </p:nvCxnSpPr>
        <p:spPr>
          <a:xfrm>
            <a:off x="548640" y="5888736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C3  注册：手机号归属地决定能不能用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2026-10-18 查询各官方帮助页；只列事实，不涉及绕过方法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来源：support.claude.com；help.openai.com；kimi.ai 帮助；千问隐私政策；腾讯云文档；platform.deepseek.com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27511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92428" y="1828800"/>
            <a:ext cx="51351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 / 登录方式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10412" y="1828800"/>
            <a:ext cx="265949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对大陆用户的门槛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2231136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千问、豆包、DeepSeek、智谱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92428" y="2231136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+86 手机号＋验证码；可用支付宝、微信、抖音等登录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10412" y="2231136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无（依法实名）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60604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548640" y="2606040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0367" y="2606040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92428" y="2606040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微信、手机号、邮箱、SSO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10412" y="2606040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48640" y="298094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910367" y="2980944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92428" y="2980944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手机号、邮箱、Google；不收 VoIP 和座机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10412" y="2980944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48640" y="335584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548640" y="3355848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0367" y="3355848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92428" y="3355848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账号或邮箱；还要支持地区手机号，一号最多 3 个账号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10412" y="3355848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硬门槛：大陆号不行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48640" y="37307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910367" y="3730752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/ Codex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92428" y="3730752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邮箱、Google、Apple 账号；生成 API Key 要验证手机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10412" y="3730752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大陆不在支持列表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10565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5" name="Rectangle 34"/>
          <p:cNvSpPr/>
          <p:nvPr/>
        </p:nvSpPr>
        <p:spPr>
          <a:xfrm>
            <a:off x="548640" y="4105656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0367" y="4105656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592428" y="4105656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必须用 Google 账号（Gmail）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910412" y="4105656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大陆仅单位账号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548640" y="448056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910367" y="4480560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92428" y="4480560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或 X 账号；X 账号要验证手机号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10412" y="4480560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大陆无法直接访问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548640" y="485546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4" name="Rectangle 43"/>
          <p:cNvSpPr/>
          <p:nvPr/>
        </p:nvSpPr>
        <p:spPr>
          <a:xfrm>
            <a:off x="548640" y="4855464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10367" y="4855464"/>
            <a:ext cx="24919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Muse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592428" y="4855464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账号（邮箱、手机号或 Facebook）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910412" y="4855464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人须在开放国家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548640" y="523036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658368" y="5230368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592428" y="5230368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Google、Apple 或邮箱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910412" y="5230368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支持地区官网未写明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548640" y="560527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5" name="TextBox 54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海外服务建议统一用 Google 账号：Gemini 必须用，Claude、ChatGPT 也支持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LogoBadge"/>
          <p:cNvSpPr/>
          <p:nvPr/>
        </p:nvSpPr>
        <p:spPr>
          <a:xfrm>
            <a:off x="679968" y="268549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688" y="2722212"/>
            <a:ext cx="142560" cy="142560"/>
          </a:xfrm>
          <a:prstGeom prst="rect">
            <a:avLst/>
          </a:prstGeom>
        </p:spPr>
      </p:pic>
      <p:sp>
        <p:nvSpPr>
          <p:cNvPr id="59" name="LogoBadge"/>
          <p:cNvSpPr/>
          <p:nvPr/>
        </p:nvSpPr>
        <p:spPr>
          <a:xfrm>
            <a:off x="679968" y="3060395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0" name="Logo" descr="moo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88" y="3097116"/>
            <a:ext cx="142560" cy="142560"/>
          </a:xfrm>
          <a:prstGeom prst="rect">
            <a:avLst/>
          </a:prstGeom>
        </p:spPr>
      </p:pic>
      <p:sp>
        <p:nvSpPr>
          <p:cNvPr id="61" name="LogoBadge"/>
          <p:cNvSpPr/>
          <p:nvPr/>
        </p:nvSpPr>
        <p:spPr>
          <a:xfrm>
            <a:off x="679968" y="3435300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2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688" y="3472020"/>
            <a:ext cx="142560" cy="142560"/>
          </a:xfrm>
          <a:prstGeom prst="rect">
            <a:avLst/>
          </a:prstGeom>
        </p:spPr>
      </p:pic>
      <p:sp>
        <p:nvSpPr>
          <p:cNvPr id="63" name="LogoBadge"/>
          <p:cNvSpPr/>
          <p:nvPr/>
        </p:nvSpPr>
        <p:spPr>
          <a:xfrm>
            <a:off x="679968" y="3810204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88" y="3846924"/>
            <a:ext cx="142560" cy="142560"/>
          </a:xfrm>
          <a:prstGeom prst="rect">
            <a:avLst/>
          </a:prstGeom>
        </p:spPr>
      </p:pic>
      <p:sp>
        <p:nvSpPr>
          <p:cNvPr id="65" name="LogoBadge"/>
          <p:cNvSpPr/>
          <p:nvPr/>
        </p:nvSpPr>
        <p:spPr>
          <a:xfrm>
            <a:off x="679968" y="4185107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6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688" y="4221828"/>
            <a:ext cx="142560" cy="142560"/>
          </a:xfrm>
          <a:prstGeom prst="rect">
            <a:avLst/>
          </a:prstGeom>
        </p:spPr>
      </p:pic>
      <p:sp>
        <p:nvSpPr>
          <p:cNvPr id="67" name="LogoBadge"/>
          <p:cNvSpPr/>
          <p:nvPr/>
        </p:nvSpPr>
        <p:spPr>
          <a:xfrm>
            <a:off x="679968" y="4560012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8" name="Logo" descr="gr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688" y="4596732"/>
            <a:ext cx="142560" cy="142560"/>
          </a:xfrm>
          <a:prstGeom prst="rect">
            <a:avLst/>
          </a:prstGeom>
        </p:spPr>
      </p:pic>
      <p:sp>
        <p:nvSpPr>
          <p:cNvPr id="69" name="LogoBadge"/>
          <p:cNvSpPr/>
          <p:nvPr/>
        </p:nvSpPr>
        <p:spPr>
          <a:xfrm>
            <a:off x="679968" y="4934916"/>
            <a:ext cx="216000" cy="21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0" name="Logo" descr="me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688" y="4971636"/>
            <a:ext cx="142560" cy="142560"/>
          </a:xfrm>
          <a:prstGeom prst="rect">
            <a:avLst/>
          </a:prstGeom>
        </p:spPr>
      </p:pic>
      <p:cxnSp>
        <p:nvCxnSpPr>
          <p:cNvPr id="71" name="Connector 70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C4  订阅与客户端价格速查（标明币种）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月付，2026-10-18 查询；绿色为人民币，黑色为美元；* 为媒体报道价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来源：各产品官方定价页；豆包、千问为界面新闻报道；meta.com；hark.com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62356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聊天与个人代理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67128" y="178308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免费版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67328" y="178308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付费（每月）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4368" y="2167128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67128" y="2167128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Luna 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67328" y="2167128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Plus $20 · Pro $100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587752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587752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74368" y="2587752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67128" y="2587752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Sonnet、Haiku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67328" y="2587752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$20 · Max $100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08376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874368" y="3008376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67128" y="3008376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Flash-Lite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67328" y="3008376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$19.99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29000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548640" y="3429000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74368" y="3429000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67128" y="3429000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日常对话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67328" y="3429000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¥49 起，最高 ¥699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849624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1072800" y="3849624"/>
            <a:ext cx="91079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000"/>
              <a:t>豆包*/千问*</a:t>
            </a:r>
            <a:endParaRPr sz="1000"/>
          </a:p>
        </p:txBody>
      </p:sp>
      <p:sp>
        <p:nvSpPr>
          <p:cNvPr id="33" name="TextBox 32"/>
          <p:cNvSpPr txBox="1"/>
          <p:nvPr/>
        </p:nvSpPr>
        <p:spPr>
          <a:xfrm>
            <a:off x="2167128" y="3849624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日常对话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67328" y="3849624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¥68 起 / ¥19 起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270248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548640" y="4270248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74368" y="4270248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67128" y="4270248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有限额度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767328" y="4270248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Plus $8 · $30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690872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874368" y="4690872"/>
            <a:ext cx="11026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Muse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67128" y="4690872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有用量上限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67328" y="4690872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 · $100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11496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45" name="Rectangle 44"/>
          <p:cNvSpPr/>
          <p:nvPr/>
        </p:nvSpPr>
        <p:spPr>
          <a:xfrm>
            <a:off x="548640" y="5111496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74800" y="5111496"/>
            <a:ext cx="11016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167128" y="5111496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免费有上限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767328" y="5111496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Pro² $20 · Pro³ $100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532120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0" name="Rectangle 49"/>
          <p:cNvSpPr/>
          <p:nvPr/>
        </p:nvSpPr>
        <p:spPr>
          <a:xfrm>
            <a:off x="6355080" y="1783080"/>
            <a:ext cx="5285232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464808" y="1783080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任务客户端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882127" y="1783080"/>
            <a:ext cx="132587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免费额度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390888" y="1783080"/>
            <a:ext cx="21762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付费（每月）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680808" y="2167128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882127" y="2167128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390888" y="2167128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¥99（连续包月 ¥70）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6355080" y="2587752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58" name="Rectangle 57"/>
          <p:cNvSpPr/>
          <p:nvPr/>
        </p:nvSpPr>
        <p:spPr>
          <a:xfrm>
            <a:off x="6355080" y="2587752"/>
            <a:ext cx="528523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680808" y="2587752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国内版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882127" y="2587752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390888" y="2587752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Lite ¥49 起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2" name="Connector 61"/>
          <p:cNvCxnSpPr/>
          <p:nvPr/>
        </p:nvCxnSpPr>
        <p:spPr>
          <a:xfrm>
            <a:off x="6355080" y="3008376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6680808" y="3008376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Qoder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882127" y="3008376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周试用＋300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390888" y="3008376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$20；国内 ¥59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6355080" y="3429000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67" name="Rectangle 66"/>
          <p:cNvSpPr/>
          <p:nvPr/>
        </p:nvSpPr>
        <p:spPr>
          <a:xfrm>
            <a:off x="6355080" y="3429000"/>
            <a:ext cx="528523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680808" y="3429000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882127" y="3429000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免费账号小模型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390888" y="3429000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 $8 · Plus $20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1" name="Connector 70"/>
          <p:cNvCxnSpPr/>
          <p:nvPr/>
        </p:nvCxnSpPr>
        <p:spPr>
          <a:xfrm>
            <a:off x="6355080" y="3849624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6680808" y="3849624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882127" y="3849624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390888" y="3849624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$20（Claude Pro）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5" name="Connector 74"/>
          <p:cNvCxnSpPr/>
          <p:nvPr/>
        </p:nvCxnSpPr>
        <p:spPr>
          <a:xfrm>
            <a:off x="6355080" y="4270248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76" name="Rectangle 75"/>
          <p:cNvSpPr/>
          <p:nvPr/>
        </p:nvSpPr>
        <p:spPr>
          <a:xfrm>
            <a:off x="6355080" y="4270248"/>
            <a:ext cx="528523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680808" y="4270248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882127" y="4270248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开源，自带 Key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390888" y="4270248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ClinePass $9.99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0" name="Connector 79"/>
          <p:cNvCxnSpPr/>
          <p:nvPr/>
        </p:nvCxnSpPr>
        <p:spPr>
          <a:xfrm>
            <a:off x="6355080" y="4690872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81" name="TextBox 80"/>
          <p:cNvSpPr txBox="1"/>
          <p:nvPr/>
        </p:nvSpPr>
        <p:spPr>
          <a:xfrm>
            <a:off x="6680808" y="4690872"/>
            <a:ext cx="10112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 Coding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882127" y="4690872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清言网页免费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390888" y="4690872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Lite ¥118；海外 $18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6355080" y="5111496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</p:cxnSp>
      <p:sp>
        <p:nvSpPr>
          <p:cNvPr id="85" name="TextBox 84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已并入 X 订阅（含 Cursor）；GLM Coding 只能在支持的编程工具里用；买前看续费价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LogoBadge"/>
          <p:cNvSpPr/>
          <p:nvPr/>
        </p:nvSpPr>
        <p:spPr>
          <a:xfrm>
            <a:off x="679968" y="228384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7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92" y="2315664"/>
            <a:ext cx="123552" cy="123552"/>
          </a:xfrm>
          <a:prstGeom prst="rect">
            <a:avLst/>
          </a:prstGeom>
        </p:spPr>
      </p:pic>
      <p:sp>
        <p:nvSpPr>
          <p:cNvPr id="88" name="LogoBadge"/>
          <p:cNvSpPr/>
          <p:nvPr/>
        </p:nvSpPr>
        <p:spPr>
          <a:xfrm>
            <a:off x="679968" y="2704464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9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92" y="2736288"/>
            <a:ext cx="123552" cy="123552"/>
          </a:xfrm>
          <a:prstGeom prst="rect">
            <a:avLst/>
          </a:prstGeom>
        </p:spPr>
      </p:pic>
      <p:sp>
        <p:nvSpPr>
          <p:cNvPr id="90" name="LogoBadge"/>
          <p:cNvSpPr/>
          <p:nvPr/>
        </p:nvSpPr>
        <p:spPr>
          <a:xfrm>
            <a:off x="679968" y="3125088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1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792" y="3156912"/>
            <a:ext cx="123552" cy="123552"/>
          </a:xfrm>
          <a:prstGeom prst="rect">
            <a:avLst/>
          </a:prstGeom>
        </p:spPr>
      </p:pic>
      <p:sp>
        <p:nvSpPr>
          <p:cNvPr id="92" name="LogoBadge"/>
          <p:cNvSpPr/>
          <p:nvPr/>
        </p:nvSpPr>
        <p:spPr>
          <a:xfrm>
            <a:off x="679968" y="3545712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3" name="Logo" descr="moonsh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792" y="3577536"/>
            <a:ext cx="123552" cy="123552"/>
          </a:xfrm>
          <a:prstGeom prst="rect">
            <a:avLst/>
          </a:prstGeom>
        </p:spPr>
      </p:pic>
      <p:sp>
        <p:nvSpPr>
          <p:cNvPr id="94" name="LogoBadge"/>
          <p:cNvSpPr/>
          <p:nvPr/>
        </p:nvSpPr>
        <p:spPr>
          <a:xfrm>
            <a:off x="679968" y="438696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5" name="Logo" descr="gr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792" y="4418784"/>
            <a:ext cx="123552" cy="123552"/>
          </a:xfrm>
          <a:prstGeom prst="rect">
            <a:avLst/>
          </a:prstGeom>
        </p:spPr>
      </p:pic>
      <p:sp>
        <p:nvSpPr>
          <p:cNvPr id="96" name="LogoBadge"/>
          <p:cNvSpPr/>
          <p:nvPr/>
        </p:nvSpPr>
        <p:spPr>
          <a:xfrm>
            <a:off x="679968" y="4807584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7" name="Logo" descr="met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792" y="4839408"/>
            <a:ext cx="123552" cy="123552"/>
          </a:xfrm>
          <a:prstGeom prst="rect">
            <a:avLst/>
          </a:prstGeom>
        </p:spPr>
      </p:pic>
      <p:sp>
        <p:nvSpPr>
          <p:cNvPr id="98" name="LogoBadge"/>
          <p:cNvSpPr/>
          <p:nvPr/>
        </p:nvSpPr>
        <p:spPr>
          <a:xfrm>
            <a:off x="6486408" y="228384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9" name="Logo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8232" y="2315664"/>
            <a:ext cx="123552" cy="123552"/>
          </a:xfrm>
          <a:prstGeom prst="rect">
            <a:avLst/>
          </a:prstGeom>
        </p:spPr>
      </p:pic>
      <p:sp>
        <p:nvSpPr>
          <p:cNvPr id="100" name="LogoBadge"/>
          <p:cNvSpPr/>
          <p:nvPr/>
        </p:nvSpPr>
        <p:spPr>
          <a:xfrm>
            <a:off x="6486408" y="2704464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1" name="Logo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8232" y="2736288"/>
            <a:ext cx="123552" cy="123552"/>
          </a:xfrm>
          <a:prstGeom prst="rect">
            <a:avLst/>
          </a:prstGeom>
        </p:spPr>
      </p:pic>
      <p:sp>
        <p:nvSpPr>
          <p:cNvPr id="102" name="LogoBadge"/>
          <p:cNvSpPr/>
          <p:nvPr/>
        </p:nvSpPr>
        <p:spPr>
          <a:xfrm>
            <a:off x="6486408" y="3125088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3" name="Logo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8232" y="3156912"/>
            <a:ext cx="123552" cy="123552"/>
          </a:xfrm>
          <a:prstGeom prst="rect">
            <a:avLst/>
          </a:prstGeom>
        </p:spPr>
      </p:pic>
      <p:sp>
        <p:nvSpPr>
          <p:cNvPr id="104" name="LogoBadge"/>
          <p:cNvSpPr/>
          <p:nvPr/>
        </p:nvSpPr>
        <p:spPr>
          <a:xfrm>
            <a:off x="6486408" y="3545712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5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232" y="3577536"/>
            <a:ext cx="123552" cy="123552"/>
          </a:xfrm>
          <a:prstGeom prst="rect">
            <a:avLst/>
          </a:prstGeom>
        </p:spPr>
      </p:pic>
      <p:sp>
        <p:nvSpPr>
          <p:cNvPr id="106" name="LogoBadge"/>
          <p:cNvSpPr/>
          <p:nvPr/>
        </p:nvSpPr>
        <p:spPr>
          <a:xfrm>
            <a:off x="6486408" y="3966336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7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232" y="3998160"/>
            <a:ext cx="123552" cy="123552"/>
          </a:xfrm>
          <a:prstGeom prst="rect">
            <a:avLst/>
          </a:prstGeom>
        </p:spPr>
      </p:pic>
      <p:sp>
        <p:nvSpPr>
          <p:cNvPr id="108" name="LogoBadge"/>
          <p:cNvSpPr/>
          <p:nvPr/>
        </p:nvSpPr>
        <p:spPr>
          <a:xfrm>
            <a:off x="6486408" y="4386960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9" name="Logo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8232" y="4418784"/>
            <a:ext cx="123552" cy="123552"/>
          </a:xfrm>
          <a:prstGeom prst="rect">
            <a:avLst/>
          </a:prstGeom>
        </p:spPr>
      </p:pic>
      <p:sp>
        <p:nvSpPr>
          <p:cNvPr id="110" name="LogoBadge"/>
          <p:cNvSpPr/>
          <p:nvPr/>
        </p:nvSpPr>
        <p:spPr>
          <a:xfrm>
            <a:off x="6486408" y="4807584"/>
            <a:ext cx="187200" cy="187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1" name="Logo" descr="zhipu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18232" y="4839408"/>
            <a:ext cx="123552" cy="123552"/>
          </a:xfrm>
          <a:prstGeom prst="rect">
            <a:avLst/>
          </a:prstGeom>
        </p:spPr>
      </p:pic>
      <p:sp>
        <p:nvSpPr>
          <p:cNvPr id="112" name="LogoBadge"/>
          <p:cNvSpPr/>
          <p:nvPr/>
        </p:nvSpPr>
        <p:spPr>
          <a:xfrm>
            <a:off x="662400" y="396993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3" name="Logo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3000" y="4000536"/>
            <a:ext cx="118799" cy="118799"/>
          </a:xfrm>
          <a:prstGeom prst="rect">
            <a:avLst/>
          </a:prstGeom>
        </p:spPr>
      </p:pic>
      <p:sp>
        <p:nvSpPr>
          <p:cNvPr id="114" name="LogoBadge"/>
          <p:cNvSpPr/>
          <p:nvPr/>
        </p:nvSpPr>
        <p:spPr>
          <a:xfrm>
            <a:off x="860400" y="3969936"/>
            <a:ext cx="180000" cy="18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5" name="Logo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1000" y="4000536"/>
            <a:ext cx="118799" cy="118799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7200" y="291600"/>
            <a:ext cx="54864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附录  速查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000" y="291600"/>
            <a:ext cx="9144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8000"/>
              </a:lnSpc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88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7200" y="604800"/>
            <a:ext cx="457200" cy="54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7200" y="712800"/>
            <a:ext cx="11091600" cy="558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2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C4b  省钱的三条路：越便宜，代价越落在数据上</a:t>
            </a:r>
            <a:endParaRPr sz="2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7200" y="1278000"/>
            <a:ext cx="11091600" cy="34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16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省下的钱，通常换成时间、稳定性或数据风险：先认代价，再决定省不省</a:t>
            </a:r>
            <a:endParaRPr sz="16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7200" y="6400800"/>
            <a:ext cx="11091600" cy="0"/>
          </a:xfrm>
          <a:prstGeom prst="line">
            <a:avLst/>
          </a:prstGeom>
          <a:ln w="9525">
            <a:solidFill>
              <a:srgbClr val="E2DFD6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7200" y="6454800"/>
            <a:ext cx="96012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来源：各产品定价与活动页；L 站（linux.do）公益与共享服务的社区反馈；闲鱼同类商品观察（2026-10-18）</a:t>
            </a:r>
            <a:endParaRPr sz="8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3600" y="6454800"/>
            <a:ext cx="1828800" cy="273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</a:pPr>
            <a:r>
              <a:rPr sz="8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hlinkClick r:id="rId1"/>
              </a:rPr>
              <a:t>来源索引 ›</a:t>
            </a:r>
            <a:endParaRPr sz="8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hlinkClick r:id="rId1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1672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路子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54679" y="1783080"/>
            <a:ext cx="379475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例子（2026-10-18 查询）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20" y="1783080"/>
            <a:ext cx="21488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代价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464040" y="1783080"/>
            <a:ext cx="2130551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适合 / 注意</a:t>
            </a:r>
            <a:endParaRPr sz="1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221992"/>
            <a:ext cx="110916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48640" y="2221992"/>
            <a:ext cx="73152" cy="822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2221992"/>
            <a:ext cx="502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8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34440" y="2221992"/>
            <a:ext cx="1783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官方活动与首月价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54680" y="2221992"/>
            <a:ext cx="3749039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Cline 首月 $1（之后 $9.99）· Codex Go 档 $8/月 · opencode Go 档含免费额度 · GLM Coding Lite ¥118/月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132320" y="2377440"/>
            <a:ext cx="155448" cy="1554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sz="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370064" y="2377440"/>
            <a:ext cx="155448" cy="155448"/>
          </a:xfrm>
          <a:prstGeom prst="ellipse">
            <a:avLst/>
          </a:prstGeom>
          <a:solidFill>
            <a:srgbClr val="E2DFD8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sz="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07808" y="2377440"/>
            <a:ext cx="155448" cy="155448"/>
          </a:xfrm>
          <a:prstGeom prst="ellipse">
            <a:avLst/>
          </a:prstGeom>
          <a:solidFill>
            <a:srgbClr val="E2DFD8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sz="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32320" y="2551176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最低：窗口短，要看续费价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464040" y="2221992"/>
            <a:ext cx="213055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试一个月；设日历提醒，防自动续费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118104"/>
            <a:ext cx="110916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48640" y="3118104"/>
            <a:ext cx="73152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31520" y="3118104"/>
            <a:ext cx="502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8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34440" y="3118104"/>
            <a:ext cx="1783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国内签到与免费积分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54680" y="3118104"/>
            <a:ext cx="3749039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WorkBuddy 500 积分＋签到 · Trae 每天 100 次（会员 200）· Qoder 2 周试用＋300 次 · Codex 免费号只有小模型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132320" y="3273552"/>
            <a:ext cx="155448" cy="1554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sz="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370064" y="3273552"/>
            <a:ext cx="155448" cy="1554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sz="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7607808" y="3273552"/>
            <a:ext cx="155448" cy="155448"/>
          </a:xfrm>
          <a:prstGeom prst="ellipse">
            <a:avLst/>
          </a:prstGeom>
          <a:solidFill>
            <a:srgbClr val="E2DFD8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sz="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32320" y="3447288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时间：每天手动领，有上限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464040" y="3118104"/>
            <a:ext cx="213055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任务不重；赶 deadline 不一定够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014216"/>
            <a:ext cx="11091672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48640" y="4014216"/>
            <a:ext cx="73152" cy="82296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31520" y="4014216"/>
            <a:ext cx="50292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8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8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34440" y="4014216"/>
            <a:ext cx="1783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共享、代充与公益站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154680" y="4014216"/>
            <a:ext cx="3749039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公益站、中转（AnyRouter 一类）· 闲鱼共享号 / 代充：几元/月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132320" y="4169664"/>
            <a:ext cx="155448" cy="1554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sz="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7370064" y="4169664"/>
            <a:ext cx="155448" cy="1554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sz="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7607808" y="4169664"/>
            <a:ext cx="155448" cy="15544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endParaRPr sz="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132320" y="4343400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最高：资料外流，随时会停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464040" y="4014216"/>
            <a:ext cx="2130552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只跑公开材料；别用于合同、图纸、报告、客户信息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132320" y="491032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● 越多 = 代价越高</a:t>
            </a:r>
            <a:endParaRPr sz="10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5138928"/>
            <a:ext cx="4206240" cy="51206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85800" y="5138928"/>
            <a:ext cx="402336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这段材料能不能给陌生人看？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4800600" y="5394960"/>
            <a:ext cx="457200" cy="0"/>
          </a:xfrm>
          <a:prstGeom prst="line">
            <a:avLst/>
          </a:prstGeom>
          <a:ln w="19050">
            <a:solidFill>
              <a:srgbClr val="6B7385"/>
            </a:solidFill>
            <a:tailEnd type="triangle" w="med" len="med"/>
          </a:ln>
        </p:spPr>
      </p:cxnSp>
      <p:sp>
        <p:nvSpPr>
          <p:cNvPr id="49" name="Rectangle 48"/>
          <p:cNvSpPr/>
          <p:nvPr/>
        </p:nvSpPr>
        <p:spPr>
          <a:xfrm>
            <a:off x="5303520" y="5138928"/>
            <a:ext cx="3017520" cy="51206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440680" y="5138928"/>
            <a:ext cx="28346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能：</a:t>
            </a: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三条路随便选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503920" y="5138928"/>
            <a:ext cx="3136392" cy="51206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641080" y="5138928"/>
            <a:ext cx="29260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3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不能：</a:t>
            </a:r>
            <a:r>
              <a:rPr sz="13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只走 01、02</a:t>
            </a:r>
            <a:endParaRPr sz="13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5852160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548640" y="59436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注意</a:t>
            </a:r>
            <a:endParaRPr sz="12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417320" y="5943600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共享账号随时会被封、会换模型、会跑路；别把交付压在它上面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C5  一页选型：按你能折腾到哪一步来选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从左往右，门槛和花费逐级上升；先在左边跑通一个真实任务，再决定要不要往右走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来源：trae.cn/pricing；docs.trae.cn；workbuddy.cn；docs.cline.bot；hark.com/pricing；chatgpt.com/pricing（2026-10-18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61188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最快 · 免费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600" y="2331720"/>
            <a:ext cx="3153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· Trae</a:t>
            </a:r>
            <a:endParaRPr sz="2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国内手机号直接用，人民币支付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内置 DeepSeek、GLM、混元、豆包 Seed 等多家模型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积分，再加每日签到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1520" y="4526280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59" y="452628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100/天（会员 200）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1520" y="5038344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59" y="503834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100/天＋周奖励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0" y="338328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88536" y="178308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288536" y="1783080"/>
            <a:ext cx="3611880" cy="4572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17136" y="17830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能解决海外网络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18000" y="2331720"/>
            <a:ext cx="3153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 或 Hark</a:t>
            </a:r>
            <a:endParaRPr sz="22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17136" y="288036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Cline：低价套餐额度大，只含开源模型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Hark：Pro 免费档有用量上限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盲测 D 就是 Hark 里的 Opus 5.5，性价比高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471416" y="4526280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62855" y="452628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ClinePass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$9.99/月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71416" y="5038344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62855" y="503834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 Pro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免费；Pro² $20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54696" y="338328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28431" y="178308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028431" y="1783080"/>
            <a:ext cx="3611880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57031" y="17830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想用顶配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58400" y="2331720"/>
            <a:ext cx="3153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endParaRPr sz="22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57031" y="288036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推理、数学榜单第一是 GPT-6 Astra（第 24 页）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复杂分析、长推理、难题交给它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各档位可用模型以官网为准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211311" y="4526280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02752" y="452628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Plus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211311" y="5038344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302752" y="503834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Pro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$100/月起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48640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417320" y="576072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免费先用 WorkBuddy、Trae 签到攒积分；能折腾就 Cline 或 Hark；要顶配就 GPT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资讯与榜单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社区看风向，GitHub 看版本，B 站看演示，X 看一手，榜单看分项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D1  L 站：动态最新、教程最多的中文社区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新模型、新工具、限额变化，这里通常最先有人讨论；遇到问题先搜，大概率有人踩过坑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来源：linux.do/about；linux.do 相关帖子（2026-10-18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4.6 万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2606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天新话题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15968" y="18288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90288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 万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90288" y="2606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天新帖子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83296" y="1828800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83296" y="18288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57616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11.6 万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57616" y="2606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天活跃用户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291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33832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动态最新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1520" y="3749039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新模型、新工具、限额变化，常比媒体早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337560" y="3291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520440" y="33832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帮助最全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20440" y="3749039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报错、封号、“降智”，基本都有人问过答过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4434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31520" y="452627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教程最多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 / Codex 配置、提示词、本地部署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337560" y="4434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520440" y="452627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实测对比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20440" y="48920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真实项目横向评测、“降智”检测题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45352" y="3291840"/>
            <a:ext cx="5394960" cy="2167128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73952" y="340156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要注意的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73952" y="384048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邀请注册制，邮箱只收白名单域名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帖子是个人体感，结论要自己复核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有账号、邀请码、“羊毛”类内容，不要参与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遇到问题先去 L 站搜：动态、答疑、教程都最全，结论仍要自己核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D2  GitHub：工具更新的第一现场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新功能、修了什么 bug、为什么突然不好用，官方仓库的更新记录和 Issues 往往最早写明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 各仓库；github.com/trending（2026-10-18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441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更新记录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91840" y="17830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每次更新改了什么，以官方写的为准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63840" y="17830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openai/codex · anthropics/claude-code · cline/cline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11094415" cy="804672"/>
          </a:xfrm>
          <a:prstGeom prst="rect">
            <a:avLst/>
          </a:prstGeom>
          <a:solidFill>
            <a:srgbClr val="ECEAE4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26974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Issues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遇到报错先搜，大概率有人提过，官方回复也在这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搜报错原文，比问 AI 更快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611880"/>
            <a:ext cx="1109441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48640" y="36118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36118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Trending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91840" y="36118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最近几天大家在关注什么项目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63840" y="36118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github.com/trending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4526280"/>
            <a:ext cx="11094415" cy="804672"/>
          </a:xfrm>
          <a:prstGeom prst="rect">
            <a:avLst/>
          </a:prstGeom>
          <a:solidFill>
            <a:srgbClr val="ECEAE4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960" y="45262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早报存档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91840" y="45262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橘鸦 AI 早报的 Markdown 存档和 RSS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63840" y="45262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imjuya/juya-ai-daily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8640" y="55778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417320" y="55778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用来看更新、查问题；新手不必先装一堆插件，先把需求说清楚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548640" y="55961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  B 站：我个人常看的两位 UP 主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不是行业结论，只是我个人常看的两类内容：一个看真实项目实测，一个看每日资讯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来源：bilibili.com 各 UP 主空间与视频页；daily.juya.uk；V2EX t/1216338（2026-10-18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4864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196596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Token就是词元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60520" y="2029968"/>
            <a:ext cx="1756664" cy="365760"/>
          </a:xfrm>
          <a:prstGeom prst="roundRect">
            <a:avLst>
              <a:gd name="adj" fmla="val 50000"/>
            </a:avLst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160520" y="2029968"/>
            <a:ext cx="17566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看真实项目实测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59" y="2697480"/>
            <a:ext cx="4983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“屎山论剑 / 屎山考核”：拿真实祖传代码让模型修 bug、改功能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新模型基本都测：Opus 5.5 对 GPT-6 Sol、六家 Flash、DeepSeek、Step 5 等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抖音同名账号也更新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59" y="4846320"/>
            <a:ext cx="4937760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适合：想知道新模型真实干活水平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44768" y="1783080"/>
            <a:ext cx="54864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44768" y="1783080"/>
            <a:ext cx="5486400" cy="7315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19088" y="196596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橘鸦Juya</a:t>
            </a:r>
            <a:endParaRPr sz="2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756648" y="2029968"/>
            <a:ext cx="1401064" cy="365760"/>
          </a:xfrm>
          <a:prstGeom prst="roundRect">
            <a:avLst>
              <a:gd name="adj" fmla="val 50000"/>
            </a:avLst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756648" y="2029968"/>
            <a:ext cx="14010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看每日资讯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19088" y="2697480"/>
            <a:ext cx="4983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每日“AI 早报”，几分钟讲完前一天的发布、价格、额度变化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合集 570 期，累计播放 1700 万以上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有文字版和 RSS：daily.juya.uk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19088" y="4846320"/>
            <a:ext cx="4937760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56248" y="48463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适合：每天花几分钟跟上动态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417320" y="576072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实测看“词元”，动态看“橘鸦”；这只是我的习惯，结论仍以原始出处和自己的测试为准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D4  X（推特）：一手发布和榜单更新最快的地方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各家模型、榜单基本都先在 X 上发；国内转载常有延迟和误传，能看原帖就看原帖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来源：x.com 各官方账号（2026-10-18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44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82296" cy="914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1856231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厂商官方</a:t>
            </a:r>
            <a:endParaRPr sz="18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225856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新模型、价格、额度的一手公告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74720" y="1783080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@OpenAI  @AnthropicAI  @GoogleDeepMind  @xai  @deepseek_ai  @Alibaba_Qwen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807208"/>
            <a:ext cx="110944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2807208"/>
            <a:ext cx="82296" cy="914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288036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榜单与评测</a:t>
            </a:r>
            <a:endParaRPr sz="18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328269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24 页各榜单的发布账号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74720" y="2807208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@ArtificialAnlys  @lmarena_ai  @EpochAIResearch  @arcprize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831336"/>
            <a:ext cx="110944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48640" y="3831336"/>
            <a:ext cx="82296" cy="914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390448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</a:t>
            </a:r>
            <a:endParaRPr sz="18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430682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研究者与中文整理者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74720" y="4138359"/>
            <a:ext cx="8046720" cy="300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zh-CN"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</a:t>
            </a:r>
            <a:r>
              <a:rPr lang="zh-CN"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做推荐</a:t>
            </a:r>
            <a:endParaRPr lang="zh-CN"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4892040"/>
            <a:ext cx="11094415" cy="6858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102225"/>
            <a:ext cx="10637215" cy="2654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大陆无法直接访问；高播放不等于真实</a:t>
            </a:r>
            <a:r>
              <a:rPr lang="zh-CN"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</a:t>
            </a:r>
            <a:r>
              <a:rPr lang="zh-CN"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测评亦有可能</a:t>
            </a:r>
            <a:r>
              <a:rPr lang="zh-CN"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虚假刷分</a:t>
            </a:r>
            <a:endParaRPr lang="zh-CN"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17320" y="576072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想第一时间知道发了什么，看官方和榜单账号的原帖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D5  AA 分项①：换把尺子，排名就变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同一批模型分开排“办公任务”和“专业长文档”；藏青美国、青色中国，橙色 1017，灰色旧版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来源：artificialanalysis.ai/evaluations/gdpval-aa、/evaluations/gdp-pdf（2026-10-21）；B 站 BV1ton76SEbX 视频画面（GDP.pdf 各模型读数）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76072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GDPval-AA：44 种职业的真实办公任务</a:t>
            </a:r>
            <a:r>
              <a:rPr sz="1050" b="0">
                <a:solidFill>
                  <a:srgbClr val="C9D3E0"/>
                </a:solidFill>
                <a:latin typeface="微软雅黑" panose="020B0503020204020204" charset="-122"/>
                <a:ea typeface="微软雅黑" panose="020B0503020204020204" charset="-122"/>
              </a:rPr>
              <a:t>  Elo，轴从 1400 起</a:t>
            </a:r>
            <a:endParaRPr sz="1050" b="0">
              <a:solidFill>
                <a:srgbClr val="C9D3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Opus 5.5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86000" y="2291989"/>
            <a:ext cx="3067994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08858" y="2240280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1866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2455735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Muse Wonder Full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86000" y="2507444"/>
            <a:ext cx="300874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349605" y="2455735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1857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2671191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2671191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Sonnet 5.5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286000" y="2722900"/>
            <a:ext cx="288365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24515" y="2671191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1838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2886646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Muse Wonder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286000" y="2938355"/>
            <a:ext cx="243596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776825" y="2886646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1770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102102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3102102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Fable 5.1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86000" y="3153811"/>
            <a:ext cx="2330622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71486" y="3102102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1754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" y="3317557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DeepSeek 1017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286000" y="3369266"/>
            <a:ext cx="2277953" cy="1120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618817" y="3317557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1746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3533013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533013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Grok 4.7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286000" y="3584722"/>
            <a:ext cx="2047524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388388" y="3533013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1711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0080" y="3748468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MiMo-V2.6-Pro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286000" y="3800177"/>
            <a:ext cx="1863181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204045" y="3748468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1683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3963924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3963924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Qwen3.8 Max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286000" y="4015633"/>
            <a:ext cx="1744675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085539" y="3963924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1665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80" y="4179379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GLM-5.3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286000" y="4231088"/>
            <a:ext cx="1645919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986783" y="4179379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1650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4394835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0080" y="4394835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Gemini 4 Argon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286000" y="4446544"/>
            <a:ext cx="1468160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809024" y="4394835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1623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0080" y="4610290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Haiku 5.5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286000" y="4661999"/>
            <a:ext cx="1435242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776106" y="4610290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1618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48640" y="4825746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40080" y="4825746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7A808C"/>
                </a:solidFill>
                <a:latin typeface="微软雅黑" panose="020B0503020204020204" charset="-122"/>
                <a:ea typeface="微软雅黑" panose="020B0503020204020204" charset="-122"/>
              </a:rPr>
              <a:t>DeepSeek 9 月版</a:t>
            </a:r>
            <a:endParaRPr sz="1050" b="0">
              <a:solidFill>
                <a:srgbClr val="7A80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286000" y="4877455"/>
            <a:ext cx="1316736" cy="112036"/>
          </a:xfrm>
          <a:prstGeom prst="rect">
            <a:avLst/>
          </a:prstGeom>
          <a:solidFill>
            <a:srgbClr val="A3A9B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657600" y="4825746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1600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0080" y="5041201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GPT-6.1 Sol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286000" y="5092910"/>
            <a:ext cx="1277233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3618097" y="5041201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1594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48640" y="5256656"/>
            <a:ext cx="576072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40080" y="5256656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 Astra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286000" y="5308366"/>
            <a:ext cx="1138976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3479840" y="5256656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1573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40080" y="5472112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Kimi K3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286000" y="5523821"/>
            <a:ext cx="875629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3216493" y="5472112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1533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519672" y="1783080"/>
            <a:ext cx="512064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702552" y="1783080"/>
            <a:ext cx="4846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GDP.pdf：读专业长文档</a:t>
            </a:r>
            <a:r>
              <a:rPr sz="1050" b="0">
                <a:solidFill>
                  <a:srgbClr val="C9D3E0"/>
                </a:solidFill>
                <a:latin typeface="微软雅黑" panose="020B0503020204020204" charset="-122"/>
                <a:ea typeface="微软雅黑" panose="020B0503020204020204" charset="-122"/>
              </a:rPr>
              <a:t>  全对率，%</a:t>
            </a:r>
            <a:endParaRPr sz="1050" b="0">
              <a:solidFill>
                <a:srgbClr val="C9D3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6519672" y="2240280"/>
            <a:ext cx="5120640" cy="2808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611112" y="2240280"/>
            <a:ext cx="160020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Muse Wonder Full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8257031" y="2307684"/>
            <a:ext cx="2161184" cy="146042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10473080" y="2240280"/>
            <a:ext cx="82296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32.6%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611112" y="2521131"/>
            <a:ext cx="160020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 Astra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8257031" y="2588535"/>
            <a:ext cx="2055113" cy="146042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10367010" y="2521131"/>
            <a:ext cx="82296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31.0%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519672" y="2801982"/>
            <a:ext cx="5120640" cy="2808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611112" y="2801982"/>
            <a:ext cx="160020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GPT-6.1 Sol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8257031" y="2869387"/>
            <a:ext cx="2055113" cy="146042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10367010" y="2801982"/>
            <a:ext cx="82296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31.0%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611112" y="3082834"/>
            <a:ext cx="160020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Muse Wonder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8257031" y="3150238"/>
            <a:ext cx="2028596" cy="146042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10340492" y="3082834"/>
            <a:ext cx="82296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30.6%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519672" y="3363685"/>
            <a:ext cx="5120640" cy="2808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6611112" y="3363685"/>
            <a:ext cx="160020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DeepSeek 1017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8257031" y="3431090"/>
            <a:ext cx="1140256" cy="14604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9452152" y="3363685"/>
            <a:ext cx="82296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17.2%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611112" y="3644537"/>
            <a:ext cx="160020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Qwen3.8 2.4T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8257031" y="3711941"/>
            <a:ext cx="1034186" cy="14604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9346082" y="3644537"/>
            <a:ext cx="82296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15.6%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6519672" y="3925388"/>
            <a:ext cx="5120640" cy="2808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6611112" y="3925388"/>
            <a:ext cx="160020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7A808C"/>
                </a:solidFill>
                <a:latin typeface="微软雅黑" panose="020B0503020204020204" charset="-122"/>
                <a:ea typeface="微软雅黑" panose="020B0503020204020204" charset="-122"/>
              </a:rPr>
              <a:t>DeepSeek 9 月版</a:t>
            </a:r>
            <a:endParaRPr sz="1050" b="0">
              <a:solidFill>
                <a:srgbClr val="7A80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8257031" y="3992792"/>
            <a:ext cx="848563" cy="146042"/>
          </a:xfrm>
          <a:prstGeom prst="rect">
            <a:avLst/>
          </a:prstGeom>
          <a:solidFill>
            <a:srgbClr val="A3A9B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9160459" y="3925388"/>
            <a:ext cx="822960" cy="2808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12.8%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6519672" y="4370832"/>
            <a:ext cx="5120640" cy="13167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6519672" y="4370832"/>
            <a:ext cx="54864" cy="13167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6720840" y="4462272"/>
            <a:ext cx="4800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3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最好的也只有三成全对</a:t>
            </a:r>
            <a:endParaRPr sz="13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100 道题、4592 页真实 PDF，一道题拆成十来个判分点，全部过才算对。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左边干活排前面的，读文档不一定前面：OpenAI 两款反过来。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7" name="Connector 96"/>
          <p:cNvCxnSpPr/>
          <p:nvPr/>
        </p:nvCxnSpPr>
        <p:spPr>
          <a:xfrm>
            <a:off x="548640" y="5870448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98" name="TextBox 97"/>
          <p:cNvSpPr txBox="1"/>
          <p:nvPr/>
        </p:nvSpPr>
        <p:spPr>
          <a:xfrm>
            <a:off x="548640" y="596188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417320" y="5961888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先定你要它干什么，再看对应的那一列分项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D5b  AA 分项②：等得久，多半不是打字慢，是想得久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左：开始输出后每秒出多少 token；右：从发出到收齐 500 token 的总时间（含思考），对数刻度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来源：artificialanalysis.ai/leaderboards/models（2026-10-21；各模型为 AA 默认展示档，多为 max）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0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2120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输出速度</a:t>
            </a:r>
            <a:r>
              <a:rPr sz="1050" b="0">
                <a:solidFill>
                  <a:srgbClr val="C9D3E0"/>
                </a:solidFill>
                <a:latin typeface="微软雅黑" panose="020B0503020204020204" charset="-122"/>
                <a:ea typeface="微软雅黑" panose="020B0503020204020204" charset="-122"/>
              </a:rPr>
              <a:t>  token / 秒</a:t>
            </a:r>
            <a:endParaRPr sz="1050" b="0">
              <a:solidFill>
                <a:srgbClr val="C9D3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240280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Haiku 5.5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286000" y="2291989"/>
            <a:ext cx="2738979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79843" y="2240280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236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2455735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DeepSeek 1017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286000" y="2507444"/>
            <a:ext cx="2425621" cy="1120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66485" y="2455735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209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2671191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0080" y="2671191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Muse Wonder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286000" y="2722900"/>
            <a:ext cx="186854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09405" y="2671191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161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2886646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Gemini 3.8 Flash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286000" y="2938355"/>
            <a:ext cx="167124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012105" y="2886646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144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102102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3102102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Sonnet 5.5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286000" y="3153811"/>
            <a:ext cx="1590000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930864" y="3102102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137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" y="3317557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 Luna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286000" y="3369266"/>
            <a:ext cx="1415913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756777" y="3317557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122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3533013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533013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Opus 5.5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286000" y="3584722"/>
            <a:ext cx="1102555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443419" y="3533013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95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0080" y="3748468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Grok 4.7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286000" y="3800177"/>
            <a:ext cx="105613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396996" y="3748468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91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3963924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3963924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GLM-5.3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2286000" y="4015633"/>
            <a:ext cx="998102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338966" y="3963924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86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0080" y="4179379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Gemini 4 Argon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286000" y="4231088"/>
            <a:ext cx="963285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304149" y="4179379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83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4394835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0080" y="4394835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Fable 5.1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286000" y="4446544"/>
            <a:ext cx="800803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141667" y="4394835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69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0080" y="4610290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 Astra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286000" y="4661999"/>
            <a:ext cx="719562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060426" y="4610290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62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48640" y="4825746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40080" y="4825746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GPT-6.1 Sol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2286000" y="4877455"/>
            <a:ext cx="638321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2979185" y="4825746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55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0080" y="5041201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MiMo-V2.6-Pro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2286000" y="5092910"/>
            <a:ext cx="568686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2909550" y="5041201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49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548640" y="5256656"/>
            <a:ext cx="548640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40080" y="5256656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Kimi K3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2286000" y="5308366"/>
            <a:ext cx="475839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2816703" y="5256656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41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40080" y="5472112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Qwen3.8 Max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2286000" y="5523821"/>
            <a:ext cx="464233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2805097" y="5472112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40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6245352" y="1783080"/>
            <a:ext cx="539496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428232" y="1783080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回 500 token 要等多久</a:t>
            </a:r>
            <a:r>
              <a:rPr sz="1050" b="0">
                <a:solidFill>
                  <a:srgbClr val="C9D3E0"/>
                </a:solidFill>
                <a:latin typeface="微软雅黑" panose="020B0503020204020204" charset="-122"/>
                <a:ea typeface="微软雅黑" panose="020B0503020204020204" charset="-122"/>
              </a:rPr>
              <a:t>  秒，对数刻度</a:t>
            </a:r>
            <a:endParaRPr sz="1050" b="0">
              <a:solidFill>
                <a:srgbClr val="C9D3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6245352" y="2240280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6336792" y="2240280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DeepSeek 1017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7982712" y="2291989"/>
            <a:ext cx="296091" cy="1120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8333667" y="2240280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13 秒</a:t>
            </a:r>
            <a:endParaRPr sz="10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336792" y="2455735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Gemini 3.8 Flash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7982712" y="2507444"/>
            <a:ext cx="756603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8794179" y="2455735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28 秒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6245352" y="2671191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336792" y="2671191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GLM-5.3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7982712" y="2722900"/>
            <a:ext cx="834229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8871805" y="2671191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32 秒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336792" y="2886646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Grok 4.7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7982712" y="2938355"/>
            <a:ext cx="1067132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9104708" y="2886646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47 秒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245352" y="3102102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6336792" y="3102102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Muse Wonder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7982712" y="3153811"/>
            <a:ext cx="1072963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9110539" y="3102102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47 秒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336792" y="3317557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Gemini 4 Argon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7982712" y="3369266"/>
            <a:ext cx="1157006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9194582" y="3317557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54 秒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6245352" y="3533013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6336792" y="3533013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MiMo-V2.6-Pro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7982712" y="3584722"/>
            <a:ext cx="1158352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9195928" y="3533013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54 秒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336792" y="3748468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Kimi K3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7982712" y="3800177"/>
            <a:ext cx="1262368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9299944" y="3748468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64 秒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6245352" y="3963924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6336792" y="3963924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Qwen3.8 Max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Rectangle 98"/>
          <p:cNvSpPr/>
          <p:nvPr/>
        </p:nvSpPr>
        <p:spPr>
          <a:xfrm>
            <a:off x="7982712" y="4015633"/>
            <a:ext cx="1267161" cy="1120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9304737" y="3963924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65 秒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6336792" y="4179379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 Luna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7982712" y="4231088"/>
            <a:ext cx="1490508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9528084" y="4179379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94 秒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6245352" y="4394835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6336792" y="4394835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Fable 5.1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7982712" y="4446544"/>
            <a:ext cx="2044494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10082070" y="4394835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3.9 分钟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6336792" y="4610290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GPT-6.1 Sol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7982712" y="4661999"/>
            <a:ext cx="2089455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10127031" y="4610290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4.2 分钟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6245352" y="4825746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6336792" y="4825746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Haiku 5.5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Rectangle 112"/>
          <p:cNvSpPr/>
          <p:nvPr/>
        </p:nvSpPr>
        <p:spPr>
          <a:xfrm>
            <a:off x="7982712" y="4877455"/>
            <a:ext cx="2121628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10159204" y="4825746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4.4 分钟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336792" y="5041201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GPT-6 Astra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7982712" y="5092910"/>
            <a:ext cx="2146963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0184539" y="5041201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4.6 分钟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6245352" y="5256656"/>
            <a:ext cx="5394960" cy="21545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6336792" y="5256656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Sonnet 5.5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7982712" y="5308366"/>
            <a:ext cx="2462465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10500041" y="5256656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7.8 分钟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6336792" y="5472112"/>
            <a:ext cx="160020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Claude Opus 5.5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Rectangle 122"/>
          <p:cNvSpPr/>
          <p:nvPr/>
        </p:nvSpPr>
        <p:spPr>
          <a:xfrm>
            <a:off x="7982712" y="5523821"/>
            <a:ext cx="2649394" cy="112036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10686970" y="5472112"/>
            <a:ext cx="822960" cy="215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0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10.6 分钟</a:t>
            </a:r>
            <a:endParaRPr sz="10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5" name="Connector 124"/>
          <p:cNvCxnSpPr/>
          <p:nvPr/>
        </p:nvCxnSpPr>
        <p:spPr>
          <a:xfrm>
            <a:off x="548640" y="5870448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126" name="TextBox 125"/>
          <p:cNvSpPr txBox="1"/>
          <p:nvPr/>
        </p:nvSpPr>
        <p:spPr>
          <a:xfrm>
            <a:off x="548640" y="596188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417320" y="5961888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急用就把思考档调低：Opus 5.5 开满约 10 分钟，调到 high 约 36 秒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D5c  不只看 AA：五个榜单对一对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五个独立榜单各测各的，分数不能横比，只看名次是否一致；名次为该榜全部模型中的名次，“—”为未收录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来源：artificialanalysis.ai；epoch.ai/eci；vals.ai（Vals Index v2.2）；lmarena.ai/leaderboard/agent；superclueai.com（2026-07 期）；均 2026-10-21 查询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1672" cy="4572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模型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07208" y="17830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AA 智能指数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sz="850" b="0">
                <a:solidFill>
                  <a:srgbClr val="C9D3E0"/>
                </a:solidFill>
                <a:latin typeface="微软雅黑" panose="020B0503020204020204" charset="-122"/>
                <a:ea typeface="微软雅黑" panose="020B0503020204020204" charset="-122"/>
              </a:rPr>
              <a:t>十项合成，偏办公</a:t>
            </a:r>
            <a:endParaRPr sz="850" b="0">
              <a:solidFill>
                <a:srgbClr val="C9D3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44568" y="1783080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Epoch ECI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sz="850" b="0">
                <a:solidFill>
                  <a:srgbClr val="C9D3E0"/>
                </a:solidFill>
                <a:latin typeface="微软雅黑" panose="020B0503020204020204" charset="-122"/>
                <a:ea typeface="微软雅黑" panose="020B0503020204020204" charset="-122"/>
              </a:rPr>
              <a:t>50 多项合成</a:t>
            </a:r>
            <a:endParaRPr sz="850" b="0">
              <a:solidFill>
                <a:srgbClr val="C9D3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81928" y="17830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Vals Index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sz="850" b="0">
                <a:solidFill>
                  <a:srgbClr val="C9D3E0"/>
                </a:solidFill>
                <a:latin typeface="微软雅黑" panose="020B0503020204020204" charset="-122"/>
                <a:ea typeface="微软雅黑" panose="020B0503020204020204" charset="-122"/>
              </a:rPr>
              <a:t>金融·代码·法律·税</a:t>
            </a:r>
            <a:endParaRPr sz="850" b="0">
              <a:solidFill>
                <a:srgbClr val="C9D3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10727" y="17830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Arena Agent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sz="850" b="0">
                <a:solidFill>
                  <a:srgbClr val="C9D3E0"/>
                </a:solidFill>
                <a:latin typeface="微软雅黑" panose="020B0503020204020204" charset="-122"/>
                <a:ea typeface="微软雅黑" panose="020B0503020204020204" charset="-122"/>
              </a:rPr>
              <a:t>真人真实任务</a:t>
            </a:r>
            <a:endParaRPr sz="850" b="0">
              <a:solidFill>
                <a:srgbClr val="C9D3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939528" y="1783080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SuperCLUE 中文</a:t>
            </a:r>
            <a:endParaRPr sz="11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sz="850" b="0">
                <a:solidFill>
                  <a:srgbClr val="C9D3E0"/>
                </a:solidFill>
                <a:latin typeface="微软雅黑" panose="020B0503020204020204" charset="-122"/>
                <a:ea typeface="微软雅黑" panose="020B0503020204020204" charset="-122"/>
              </a:rPr>
              <a:t>只排国产</a:t>
            </a:r>
            <a:endParaRPr sz="850" b="0">
              <a:solidFill>
                <a:srgbClr val="C9D3E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2286000"/>
            <a:ext cx="11091672" cy="28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2286000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Claude Opus 5.5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07208" y="2286000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58 · 第 1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44568" y="2286000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168.8 · 第 1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81928" y="2286000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70.2% · 第 2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10727" y="2286000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1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939528" y="2286000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2573274"/>
            <a:ext cx="11091672" cy="28727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5800" y="2573274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Claude Sonnet 5.5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807208" y="2573274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56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44568" y="2573274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166.2 · 第 6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81928" y="2573274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70.9% · 第 1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10727" y="2573274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5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939528" y="2573274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2860548"/>
            <a:ext cx="11091672" cy="28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85800" y="2860548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GPT-6 Astra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07208" y="2860548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53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44568" y="2860548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168.8 · 第 2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81928" y="2860548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65.0% · 第 5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10727" y="2860548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2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939528" y="2860548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3147822"/>
            <a:ext cx="11091672" cy="28727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85800" y="3147822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GPT-6.1 Sol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807208" y="3147822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52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44568" y="3147822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168.4 · 第 3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281928" y="3147822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63.9% · 第 7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110727" y="3147822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4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939528" y="3147822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48640" y="3435096"/>
            <a:ext cx="11091672" cy="28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85800" y="3435096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Gemini 4 Argon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807208" y="3435096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53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44568" y="3435096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166.5 · 第 5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281928" y="3435096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69.2% · 第 3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110727" y="3435096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6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939528" y="3435096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48640" y="3722369"/>
            <a:ext cx="11091672" cy="28727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85800" y="3722369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Muse Wonder Full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07208" y="3722369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56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544568" y="3722369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281928" y="3722369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66.8% · 第 4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110727" y="3722369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7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939528" y="3722369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48640" y="4009644"/>
            <a:ext cx="11091672" cy="28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548640" y="4009644"/>
            <a:ext cx="54864" cy="28727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85800" y="4009644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DeepSeek 1017</a:t>
            </a:r>
            <a:endParaRPr sz="11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807208" y="4009644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45</a:t>
            </a:r>
            <a:endParaRPr sz="11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544568" y="4009644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未收录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281928" y="4009644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61.3% · 第 8</a:t>
            </a:r>
            <a:endParaRPr sz="11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110727" y="4009644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第 12</a:t>
            </a:r>
            <a:endParaRPr sz="11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939528" y="4009644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未收录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548640" y="4296918"/>
            <a:ext cx="11091672" cy="28727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685800" y="4296918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7A808C"/>
                </a:solidFill>
                <a:latin typeface="微软雅黑" panose="020B0503020204020204" charset="-122"/>
                <a:ea typeface="微软雅黑" panose="020B0503020204020204" charset="-122"/>
              </a:rPr>
              <a:t>DeepSeek 9 月版</a:t>
            </a:r>
            <a:endParaRPr sz="1150" b="1">
              <a:solidFill>
                <a:srgbClr val="7A80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807208" y="4296918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39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544568" y="4296918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155.9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281928" y="4296918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51.3%（旧版指数）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110727" y="4296918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21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9939528" y="4296918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71.8 · 并列第 1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548640" y="4584192"/>
            <a:ext cx="11091672" cy="28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685800" y="4584192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GLM-5.3</a:t>
            </a:r>
            <a:endParaRPr sz="11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807208" y="4584192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45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544568" y="4584192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156.0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281928" y="4584192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59.7% · 第 9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110727" y="4584192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28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939528" y="4584192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71.3 · 第 2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548640" y="4871466"/>
            <a:ext cx="11091672" cy="28727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685800" y="4871466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Qwen3.8 Max</a:t>
            </a:r>
            <a:endParaRPr sz="11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2807208" y="4871466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45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544568" y="4871466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157.4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281928" y="4871466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110727" y="4871466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26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9939528" y="4871466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72.6 · 并列第 1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548640" y="5158740"/>
            <a:ext cx="11091672" cy="2872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685800" y="5158740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Kimi K3</a:t>
            </a:r>
            <a:endParaRPr sz="11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807208" y="5158740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44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544568" y="5158740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157.9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281928" y="5158740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53.0% · 第 18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8110727" y="5158740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25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9939528" y="5158740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70.7 · 第 2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548640" y="5446013"/>
            <a:ext cx="11091672" cy="287274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85800" y="5446013"/>
            <a:ext cx="214884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MiMo-V2.6-Pro</a:t>
            </a:r>
            <a:endParaRPr sz="11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807208" y="5446013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46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4544568" y="5446013"/>
            <a:ext cx="173736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281928" y="5446013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57.8% · 第 12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110727" y="5446013"/>
            <a:ext cx="1828800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第 15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939528" y="5446013"/>
            <a:ext cx="1810512" cy="2872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1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—</a:t>
            </a:r>
            <a:endParaRPr sz="11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1" name="Connector 100"/>
          <p:cNvCxnSpPr/>
          <p:nvPr/>
        </p:nvCxnSpPr>
        <p:spPr>
          <a:xfrm>
            <a:off x="548640" y="5870448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  <p:sp>
        <p:nvSpPr>
          <p:cNvPr id="102" name="TextBox 101"/>
          <p:cNvSpPr txBox="1"/>
          <p:nvPr/>
        </p:nvSpPr>
        <p:spPr>
          <a:xfrm>
            <a:off x="548640" y="596188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417320" y="5961888"/>
            <a:ext cx="10149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18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前几名五家基本一致；DeepSeek 1017 的提升 Vals、Arena 都看到了，追平 GLM-5.3 的结论站得住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分享与工具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6949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降智测试（附两个自查工具）· 中转站与代理池 · 护栏与破限 · 开源落地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  降智测试：四道题，各测一件事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50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前两道是判分用的测试题，后两道是可以直接拿来用的自查工具；四道各测一件事</a:t>
            </a:r>
            <a:endParaRPr sz="150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来源：本地十配置盲测；CLIProxyAPI 讨论 #3937（糖果题原题与 21/29 两种答案）；lm.ikale.io 与 ai-model-fingerprint（指纹方法）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11091672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3736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t>四道题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1737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考的是什么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87568" y="173736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怎么判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96528" y="1737360"/>
            <a:ext cx="269747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推不出什么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103120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103120"/>
            <a:ext cx="54864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103120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00"/>
              <a:t>鹈鹕动画</a:t>
            </a:r>
            <a:endParaRPr sz="1300"/>
          </a:p>
          <a:p>
            <a:r>
              <a:rPr sz="1300"/>
              <a:t>（测试一）</a:t>
            </a:r>
            <a:endParaRPr sz="1300"/>
          </a:p>
        </p:txBody>
      </p:sp>
      <p:sp>
        <p:nvSpPr>
          <p:cNvPr id="18" name="TextBox 17"/>
          <p:cNvSpPr txBox="1"/>
          <p:nvPr/>
        </p:nvSpPr>
        <p:spPr>
          <a:xfrm>
            <a:off x="2898648" y="2103120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一句话出可用代码；视觉常识（自行车结构对不对）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87568" y="2103120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动作是否连贯、部件是否对得上、能不能跑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96528" y="2103120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工程判断力；长任务稳定性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2889503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889503"/>
            <a:ext cx="54864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3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00"/>
              <a:t>糖果题</a:t>
            </a:r>
            <a:endParaRPr sz="1300"/>
          </a:p>
          <a:p>
            <a:r>
              <a:rPr sz="1300"/>
              <a:t>（测试二）</a:t>
            </a:r>
            <a:endParaRPr sz="1300"/>
          </a:p>
        </p:txBody>
      </p:sp>
      <p:sp>
        <p:nvSpPr>
          <p:cNvPr id="24" name="TextBox 23"/>
          <p:cNvSpPr txBox="1"/>
          <p:nvPr/>
        </p:nvSpPr>
        <p:spPr>
          <a:xfrm>
            <a:off x="2898648" y="2889503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组合计数 + 最坏情况；更关键是读懂“形状可凭手感挑”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87568" y="2889503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 21（取 9 圆 + 12 星）；答 29 = 漏读那句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96528" y="2889503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整体数学水平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3675887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675887"/>
            <a:ext cx="54864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3675887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00"/>
              <a:t>多合一题</a:t>
            </a:r>
            <a:endParaRPr sz="1300"/>
          </a:p>
          <a:p>
            <a:r>
              <a:rPr sz="1300"/>
              <a:t>（工具一 · E1b）</a:t>
            </a:r>
            <a:endParaRPr sz="1300"/>
          </a:p>
        </p:txBody>
      </p:sp>
      <p:sp>
        <p:nvSpPr>
          <p:cNvPr id="30" name="TextBox 29"/>
          <p:cNvSpPr txBox="1"/>
          <p:nvPr/>
        </p:nvSpPr>
        <p:spPr>
          <a:xfrm>
            <a:off x="2898648" y="3675887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长指令遵循：七八个互不相干的元素同时落位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87568" y="3675887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元素齐不齐、关系对不对（谁骑谁、喊什么）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96528" y="3675887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深度推理——它只测“听不听话”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462272"/>
            <a:ext cx="54864" cy="7863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462272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sz="1300"/>
              <a:t>模型指纹</a:t>
            </a:r>
            <a:endParaRPr sz="1300"/>
          </a:p>
          <a:p>
            <a:r>
              <a:rPr sz="1300"/>
              <a:t>（工具二 · E1c）</a:t>
            </a:r>
            <a:endParaRPr sz="1300"/>
          </a:p>
        </p:txBody>
      </p:sp>
      <p:sp>
        <p:nvSpPr>
          <p:cNvPr id="36" name="TextBox 35"/>
          <p:cNvSpPr txBox="1"/>
          <p:nvPr/>
        </p:nvSpPr>
        <p:spPr>
          <a:xfrm>
            <a:off x="2898648" y="4462272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它“随机”选数的分布特征，也就是模型的“口音”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87568" y="4462272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三次 1–355 选数，比对分布形状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796528" y="4462272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证不了具体版本，只能缩小到家族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303520"/>
            <a:ext cx="11091672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5303520"/>
            <a:ext cx="1081735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评价纪律：</a:t>
            </a: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模型、客户端、设置、原始输出、评价规则全部留档；单次结果不代表稳定水平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3232" y="5486400"/>
            <a:ext cx="1081735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案例口径：</a:t>
            </a: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图纸——mm/cm 经复核不计为问题、21 条待核未计；报告——汇总表口径，112 元差额单独说明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一道题只能测一件事；说清“推不出什么”，结论才立得住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E1b  工具一：多合一题，一张图看完“听不听话”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七八个互不相干的元素塞进一句话：它是不是每个都落实了，关系有没有搞错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来源：本地盲测产出（DeepSeek V4.1 Flash 出图）；提示词见本页备注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alli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5375449" cy="3675887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" y="5468112"/>
            <a:ext cx="5375449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八件事都落位；注意“骑”这个关系——鹈鹕骑车、秦始皇骑熊，不是站在旁边。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766560" y="1737360"/>
            <a:ext cx="487375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737360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逐条对：八个点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66560" y="212140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86016" y="211226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孙悟空在驾驶舱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86016" y="2295144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人＋机舱，不是站在机翼上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66560" y="254203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86016" y="25328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机身有“筋斗云 / WUKONG AIR”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86016" y="2715768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文字要落在机身上，不是飘在空中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6560" y="296265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86016" y="295351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鹈鹕骑着自行车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86016" y="3136391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腿要踩踏板，不是悬空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66560" y="338327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86016" y="3374136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自行车在飞机上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86016" y="3557015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层级关系：飞机 &gt; 车 &gt; 鸟 &gt; 人 &gt; 熊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66560" y="3803904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86016" y="379476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秦始皇骑北极熊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86016" y="397764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又是“骑”，且熊要有四足着地感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66560" y="422452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86016" y="421538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手拿螺丝刀在打螺丝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86016" y="4398264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两个物体＋一个动作，最容易丢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66560" y="464515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86016" y="463600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气泡里写 21！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86016" y="4818888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数字与标点都要对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66560" y="506577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86016" y="5056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英文标题与中文副题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86016" y="52395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两行字都在，且拼写对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766560" y="5504688"/>
            <a:ext cx="4873752" cy="23774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94576" y="5504688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局限：判分靠人眼数件，画面好看会干扰——适合数元素，不适合排名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元素越多，越容易“丢件”：这是长指令稳定性最直白的指标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E1c  工具二：模型指纹，355 个数字里的“口音”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让模型自己“随机”报 294 个 1–355 的整数，三次一比对：不同的模型，报数的偏好不一样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来源：lm.ikale.io（模型指纹检测）；github.com/qqqqqf-q/ai-model-fingerprint；CLIProxyAPI 讨论 #3937（516 现象）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f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6144768" cy="330923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" y="5119742"/>
            <a:ext cx="61447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三道题，中文 / 英文 / 日文各一；右边三个输入框粘回复，点“检测”比对分布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03720" y="1737360"/>
            <a:ext cx="473659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1737360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原理三步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03720" y="212140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出题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09560" y="2112264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1–355 里独立选 294 个；禁止递增、等差、循环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03720" y="259689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采样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09560" y="2587752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三次（中/英/日），温度不要设 0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03720" y="307238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比对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09560" y="3063240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画成直方图，与候选库的分布形状比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903720" y="3584448"/>
            <a:ext cx="4736592" cy="3291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3584448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它能干什么 / 不能干什么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03720" y="39684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04888" y="395935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看是不是被换了模型、被套壳、被降智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03720" y="4370832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04888" y="436168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中转站说“官方原版”时，这是少数能自查的办法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03720" y="477316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</a:t>
            </a:r>
            <a:endParaRPr sz="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04888" y="476402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证不了具体版本，只能缩到家族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03720" y="5175504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</a:t>
            </a:r>
            <a:endParaRPr sz="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04888" y="51663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温度 0、样本太短，都测不出来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903720" y="5358384"/>
            <a:ext cx="473659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1736" y="5358384"/>
            <a:ext cx="44988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社区观察：走第三方时 reasoning token 常卡在 516，官方未承认——只能当旁证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别问它“你是谁”——让它报数，看它的口音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  中转站与代理池：多出来的那一层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所有“反代”都是同一件事：你的请求先发给一台别人的或自己的服务器，它再替你发给厂商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来源：CLIProxyAPI、magpie 文档；OpenAI、Anthropic 使用政策；本稿整理（2026-10-18）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577840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2578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中转站：中间那台机器是别人的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103120"/>
            <a:ext cx="17830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57984"/>
            <a:ext cx="160020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你的客户端</a:t>
            </a:r>
            <a:endParaRPr sz="12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2432303"/>
            <a:ext cx="160020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Cursor / 网页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2377440" y="2432304"/>
            <a:ext cx="411480" cy="0"/>
          </a:xfrm>
          <a:prstGeom prst="line">
            <a:avLst/>
          </a:prstGeom>
          <a:ln w="15875">
            <a:solidFill>
              <a:srgbClr val="D9622B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2816352" y="2103120"/>
            <a:ext cx="1737360" cy="658368"/>
          </a:xfrm>
          <a:prstGeom prst="roundRect">
            <a:avLst>
              <a:gd name="adj" fmla="val 10000"/>
            </a:avLst>
          </a:prstGeom>
          <a:solidFill>
            <a:srgbClr val="FBE9DE"/>
          </a:solidFill>
          <a:ln w="11430">
            <a:solidFill>
              <a:srgbClr val="D9622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2157984"/>
            <a:ext cx="155448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07792" y="2432303"/>
            <a:ext cx="155448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别人的域名 + Key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599432" y="2432304"/>
            <a:ext cx="411480" cy="0"/>
          </a:xfrm>
          <a:prstGeom prst="line">
            <a:avLst/>
          </a:prstGeom>
          <a:ln w="15875">
            <a:solidFill>
              <a:srgbClr val="D9622B"/>
            </a:solidFill>
            <a:tailEnd type="triangle" w="med" len="med"/>
          </a:ln>
        </p:spPr>
      </p:cxnSp>
      <p:sp>
        <p:nvSpPr>
          <p:cNvPr id="20" name="Rounded Rectangle 19"/>
          <p:cNvSpPr/>
          <p:nvPr/>
        </p:nvSpPr>
        <p:spPr>
          <a:xfrm>
            <a:off x="5038344" y="2103120"/>
            <a:ext cx="11887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9783" y="2157984"/>
            <a:ext cx="100584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 API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29783" y="2432303"/>
            <a:ext cx="100584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只认它的 Key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2834640"/>
            <a:ext cx="557784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你只看到：一个地址、一个 Key、一份价目表</a:t>
            </a:r>
            <a:endParaRPr sz="11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55080" y="1737360"/>
            <a:ext cx="5285232" cy="3291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737360"/>
            <a:ext cx="49651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代理池：中间那台机器是自己的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55080" y="2103120"/>
            <a:ext cx="13716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157984"/>
            <a:ext cx="118872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 Agent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46520" y="2432303"/>
            <a:ext cx="118872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只认一个地址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7772400" y="2432304"/>
            <a:ext cx="329183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</p:cxnSp>
      <p:sp>
        <p:nvSpPr>
          <p:cNvPr id="30" name="Rounded Rectangle 29"/>
          <p:cNvSpPr/>
          <p:nvPr/>
        </p:nvSpPr>
        <p:spPr>
          <a:xfrm>
            <a:off x="8129016" y="2066543"/>
            <a:ext cx="1298448" cy="731520"/>
          </a:xfrm>
          <a:prstGeom prst="roundRect">
            <a:avLst>
              <a:gd name="adj" fmla="val 10000"/>
            </a:avLst>
          </a:prstGeom>
          <a:solidFill>
            <a:srgbClr val="E1F0EE"/>
          </a:solidFill>
          <a:ln w="11430">
            <a:solidFill>
              <a:srgbClr val="0F766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0456" y="2121408"/>
            <a:ext cx="1115568" cy="3511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本地网关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0456" y="2432303"/>
            <a:ext cx="1115568" cy="3218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127.0.0.1:3425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528048" y="2029968"/>
            <a:ext cx="199339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9488" y="202996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 A01</a:t>
            </a:r>
            <a:endParaRPr sz="10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 flipV="1">
            <a:off x="9445752" y="2157984"/>
            <a:ext cx="54864" cy="274320"/>
          </a:xfrm>
          <a:prstGeom prst="line">
            <a:avLst/>
          </a:prstGeom>
          <a:ln w="9525">
            <a:solidFill>
              <a:srgbClr val="0F766E"/>
            </a:solidFill>
            <a:tailEnd type="triangle" w="med" len="med"/>
          </a:ln>
        </p:spPr>
      </p:cxnSp>
      <p:sp>
        <p:nvSpPr>
          <p:cNvPr id="36" name="Rounded Rectangle 35"/>
          <p:cNvSpPr/>
          <p:nvPr/>
        </p:nvSpPr>
        <p:spPr>
          <a:xfrm>
            <a:off x="9528048" y="2350008"/>
            <a:ext cx="199339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19488" y="235000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 A02</a:t>
            </a:r>
            <a:endParaRPr sz="10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9445752" y="2432304"/>
            <a:ext cx="54864" cy="45720"/>
          </a:xfrm>
          <a:prstGeom prst="line">
            <a:avLst/>
          </a:prstGeom>
          <a:ln w="9525">
            <a:solidFill>
              <a:srgbClr val="0F766E"/>
            </a:solidFill>
            <a:tailEnd type="triangle" w="med" len="med"/>
          </a:ln>
        </p:spPr>
      </p:cxnSp>
      <p:sp>
        <p:nvSpPr>
          <p:cNvPr id="39" name="Rounded Rectangle 38"/>
          <p:cNvSpPr/>
          <p:nvPr/>
        </p:nvSpPr>
        <p:spPr>
          <a:xfrm>
            <a:off x="9528048" y="2670048"/>
            <a:ext cx="199339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19488" y="267004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 A03</a:t>
            </a:r>
            <a:endParaRPr sz="10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9445752" y="2432304"/>
            <a:ext cx="54864" cy="365760"/>
          </a:xfrm>
          <a:prstGeom prst="line">
            <a:avLst/>
          </a:prstGeom>
          <a:ln w="9525">
            <a:solidFill>
              <a:srgbClr val="0F766E"/>
            </a:solidFill>
            <a:tailEnd type="triangle" w="med" len="med"/>
          </a:ln>
        </p:spPr>
      </p:cxnSp>
      <p:sp>
        <p:nvSpPr>
          <p:cNvPr id="42" name="TextBox 41"/>
          <p:cNvSpPr txBox="1"/>
          <p:nvPr/>
        </p:nvSpPr>
        <p:spPr>
          <a:xfrm>
            <a:off x="6355080" y="3017520"/>
            <a:ext cx="52852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省下的是：一个人也能一直有额度；代价是多个身份挤在一个地址后面</a:t>
            </a:r>
            <a:endParaRPr sz="11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8640" y="3200400"/>
            <a:ext cx="11091672" cy="43891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3200400"/>
            <a:ext cx="30175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两条链路都一样“多一层”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611880" y="3200400"/>
            <a:ext cx="78181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区别只在：那一层里是你的数据、你的 Key、你的账号，还是在别人手里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3785615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0" y="3785615"/>
            <a:ext cx="416052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406640" y="3785615"/>
            <a:ext cx="40690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代理池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48640" y="4114800"/>
            <a:ext cx="1109167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411480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机器是谁的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08960" y="4114800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别人的域名、别人的服务器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406640" y="4114800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自己的电脑或自己的服务器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48640" y="4498848"/>
            <a:ext cx="1109167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449884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凭据是谁的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108960" y="4498848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对方持有的 Key 或代注册的号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406640" y="4498848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自己的账号登录态，或自己的 Key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48640" y="4882896"/>
            <a:ext cx="1109167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488289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解决什么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08960" y="4882896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没有账号也能用（但要付溢价）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406640" y="4882896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账号够了，额度和稳定性不够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48640" y="5266944"/>
            <a:ext cx="1109167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5266944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主要代价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108960" y="5266944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数据、密钥、模型真伪、条款与资金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06640" y="5266944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违反一人一号；账号可能被停用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中转站卖你“能用”，代理池帮你“够用”——两件事，风险差一个量级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E2b  中转站的风险：五件事都不在你手里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便宜是真的，代价也是真的：数据、密钥、模型真伪、条款、资金，五项里没有一项你能自己验证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来源：OpenAI、Anthropic 使用政策；lm.ikale.io 文档；L 站中转纠纷帖；本稿整理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11091672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55648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哪一件事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98648" y="1755648"/>
            <a:ext cx="40690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它是怎么发生的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96328" y="175564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你看到的样子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8008" y="1755648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怎么发现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157984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57984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98648" y="2157984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输入、附件、输出都过它的服务器，留存与用途你看不到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96328" y="2157984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“我们不留日志”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08008" y="2157984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要一份书面承诺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2724912"/>
            <a:ext cx="11091672" cy="56692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724912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98648" y="2724912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它拿你的 Key 或共享 Key 去刷别处，账单仍记你头上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96328" y="2724912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“Key 随便填”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08008" y="2724912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 Key 前缀归属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291840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291840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模型被换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98648" y="3291840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便宜模型冒充贵模型，回复里照样自称是贵的那个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96328" y="3291840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“保证官方原版”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08008" y="3291840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固定题目＋指纹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3858768"/>
            <a:ext cx="11091672" cy="56692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858768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条款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98648" y="3858768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绕地区、共享号、多号刷额度，都是停用理由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96328" y="3858768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“稳定不掉线”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08008" y="3858768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看停用后能否退款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425696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425696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898648" y="4425696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预充值、无发票，跑路就没了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196328" y="4425696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“充值 5 折”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208008" y="4425696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问能不能开票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5047488"/>
            <a:ext cx="11091672" cy="56692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047488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自查三问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331720" y="5047488"/>
            <a:ext cx="90982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 URL 是谁的域名？Key 是谁开的？账单抬头写的是谁？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资料只走批准渠道；Key 单独开、设上限；统一出口用自建或采购的网关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E2c  代理池：一份订阅，几个人排队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池子不是更强的模型，而是把多个账号的登录态放进一个网关，谁有额度谁上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来源：magpie 文档（usemagpie.ai）；CLIProxyAPI README；本稿整理（2026-10-18）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5577840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四步：从登录到计量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" y="2377440"/>
            <a:ext cx="0" cy="301752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777240" y="2359152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28600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登录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2615184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每个账号在官方客户端登录一次，凭据留在本机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77240" y="3127248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054096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收口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79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本地网关对外给兼容接口，Agent 只认一个地址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77240" y="3895344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822191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调度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97280" y="4151376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轮询、按剩余额度排序、失败自动切下一个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77240" y="4663440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59028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计量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" y="4919472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小时与每周窗口、token 与花费分开统计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7280" y="53766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一个地址背后，可以有 1 个账号，也可以有 20 个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55080" y="1755648"/>
            <a:ext cx="5285232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55648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它把什么变成了风险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55080" y="2267712"/>
            <a:ext cx="528523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36829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一人一号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0" y="2670048"/>
            <a:ext cx="4846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订阅按“一个人使用”卖；多账号集中调度，通常在条款之外。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355080" y="3236976"/>
            <a:ext cx="528523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3375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登录态即身份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0" y="3639312"/>
            <a:ext cx="4846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凭据文件被复制走，等于账号被复制走——只能改密码收回。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55080" y="4206240"/>
            <a:ext cx="528523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30682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风控看的是形状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0" y="4608576"/>
            <a:ext cx="4846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 IP 多号、并发超过一个人、地区漂移，都是可识别特征。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355080" y="5230368"/>
            <a:ext cx="5285232" cy="49377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5230368"/>
            <a:ext cx="4937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相对合理的用法：自己的两三个订阅，或团队共用一台机器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账号池把“额度不够”变成“身份不够”：省下的是钱，押上的是账号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E2d  开箱（一）：一行一个账号，全在一张表里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这是工具里的账号清单：左边是 Agent，中间是登录状态，右边是额度类型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来源：magpie 本地界面截图（账号、邮箱、Key 已打码）；本稿整理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ac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5648"/>
            <a:ext cx="7635240" cy="3507799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366760" y="178308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这张图里能读出三件事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66760" y="214884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装的是凭据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66760" y="2404872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“已登录 + 邮箱”= 订阅态；“5 个密钥”= Key 池。装的是身份，不是模型。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66760" y="304495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额度决定排序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66760" y="3300984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/ Free / Credits / personal——调度按这一列挑下一个。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6760" y="3941064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一张表就是全部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66760" y="4197096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个入口、十几个账号，都在同一个配置里；丢一次就是全丢。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66760" y="489204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截图一律打码：账号→A01，邮箱→账号 A01，Key→只留首尾</a:t>
            </a:r>
            <a:endParaRPr sz="110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这类“一张表管所有”的便利，同时也是一张“全丢清单”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E2e  开箱（二）：一次请求，网关挑了哪个号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左边是一台本地网关，右边是同一个上游下面挂的一排账号，中间那条亮线就是这次的选择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来源：magpie 路由页截图（账号已打码）；本稿整理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rou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5648"/>
            <a:ext cx="6903720" cy="4021425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7699248" y="1755648"/>
            <a:ext cx="3941063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1755648"/>
            <a:ext cx="3621023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顺着这张图看四件事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99248" y="2212848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一个入口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99248" y="2450591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左边只有一个地址；所有 Agent 都连它，不直连上游。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99248" y="2999232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一排账号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99248" y="3236976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同一个模型、同一家上游，区别只在剩余额度与恢复时间。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99248" y="3785615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状态即排序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99248" y="4023359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已用 0% → 有额度；用尽 → 标出恢复时间，暂不派活。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99248" y="4572000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这次是谁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99248" y="4809744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高亮那一行写着“回答了这个请求”，可以逐次核对。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99248" y="5358384"/>
            <a:ext cx="3941063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截图里的账号名、手机号已换成 A01–A10</a:t>
            </a:r>
            <a:endParaRPr sz="10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池子的全部本事，就是把“谁还有额度”这件事算清楚，然后悄悄换号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E2f  工具：magpie、CPA 与自建网关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magpie 在桌面，CPA（CLIProxyAPI）在服务器：能力接近，暴露面不同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来源：github.com/yetone/magpie；github.com/router-for-me/CLIProxyAPI；本稿整理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11091672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55648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98648" y="1755648"/>
            <a:ext cx="4114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它做什么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96328" y="175564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8008" y="1755648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要留神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157984"/>
            <a:ext cx="11091672" cy="850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57984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magpie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98648" y="2157984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桌面网关 127.0.0.1:3425，把订阅与 Key 收成一个地址，按 Agent 改写配置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96328" y="2157984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一台电脑、多份订阅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08008" y="2157984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默认读 Claude Code、Codex 登录态，可关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3008376"/>
            <a:ext cx="11091672" cy="8503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08376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CLIProxyAPI（CPA）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98648" y="3008376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服务端代理，OAuth 登录各家，对外给兼容接口，多账号轮询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96328" y="3008376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服务器或 NAS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08008" y="3008376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上公网要加访问密码与客户端 Key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858768"/>
            <a:ext cx="11091672" cy="850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858768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管理面板（CPAMC 等）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98648" y="3858768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看每号 5 小时与每周额度、请求记录、token 与花费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96328" y="3858768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账号一多就需要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08008" y="3858768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面板本身也是攻击面，别和数据面同域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709159"/>
            <a:ext cx="11091672" cy="8503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709159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自建或采购的网关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98648" y="4709159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统一出口、统一 Key、统一日志与限额，能对上采购与审计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96328" y="4709159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有合规要求的团队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08008" y="4709159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要能把“谁用了多少”记到人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自己搭网关，是目前比较能把“谁用了多少、数据去了哪”说清楚的做法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  安全护栏：四道闸，各拦各的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护栏是四层叠起来的：训练时教的、系统提示词写的、运行时管的、输出时筛的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来源：OpenAI、Anthropic 使用政策；OWASP LLM Top 10；本稿整理（2026-10-18）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1672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训练侧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80360" y="1783080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对齐训练让人“不愿意”说某些话。拦的是倾向，不是能力——换个说法常常还能问出来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551176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548640" y="2551176"/>
            <a:ext cx="11091672" cy="76809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51176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系统提示词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80360" y="2551176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客户端预置的身份、口吻与拒答模板。拦的是默认行为，改一段文字就可能松动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319272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3319272"/>
            <a:ext cx="11091672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19272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运行时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80360" y="3319272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审批门、工具权限、文件与网络白名单。拦的是后果，不是文字——四层里最硬的一层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087368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22" name="Rectangle 21"/>
          <p:cNvSpPr/>
          <p:nvPr/>
        </p:nvSpPr>
        <p:spPr>
          <a:xfrm>
            <a:off x="548640" y="4087368"/>
            <a:ext cx="11091672" cy="76809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87368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输出侧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80360" y="4087368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分类器、敏感词、水印、日志。拦的是落地，拦不住已经发生的工具调用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5148072"/>
            <a:ext cx="11091672" cy="47548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4807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为什么分开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4560" y="5148072"/>
            <a:ext cx="92354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同一句被拒，可能是模型不愿意（①②），也可能是外壳不让（③）——分不清，就会把宿主拦截当成模型拒绝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看“模型答不答”，会把外壳的拦截误当成模型的拒绝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E3b  破限的两条路：改话术，还是改外壳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提示词破限攻的是第 1、2 层；harness 破限攻的是第 3 层。前者说服，后者拆门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来源：github.com/YuJunZhiXue/dsh-purge；OWASP LLM Top 10；本稿整理（2026-10-18）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5577840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一、提示词破限：攻模型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224942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做法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74519" y="224942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角色扮演、分步诱导、编码或翻译绕行、把要求藏进长文档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279806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话术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74519" y="279806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伪造“教学 / 审计 / 已授权”的语境，先答应小事再往上加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334670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攻哪层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74519" y="334670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拒答倾向与系统提示词——改的是“嘴”，不是“手”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389534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74519" y="389534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差。同一句今天行明天不行，模型换代就失效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4443983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74519" y="4443983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账号可能停用；被诱导的答案更容易错，进不了正式交付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55080" y="1755648"/>
            <a:ext cx="5285232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755648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二、harness 破限：攻外壳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37960" y="224942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做法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80960" y="224942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改外壳的默认文案、审批策略、沙箱与工具上限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37960" y="279806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手段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80960" y="279806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注入覆盖段（prompt-inject.md）、把“拒绝”改成中性词、放开文件与网络范围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37960" y="334670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攻哪层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80960" y="334670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运行时的第 3 层——改的是“手”，不是“嘴”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37960" y="389534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680960" y="389534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好。改的是代码与配置，可复现、可脚本化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37960" y="4443983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80960" y="4443983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宿主升级会被覆盖；出问题时“模型没拒绝”不再是辩护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5084064"/>
            <a:ext cx="11091672" cy="49377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084064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实例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627632" y="5084064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dsh-purge　</a:t>
            </a: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改本机 @deepseek-ai 包的默认文案、审批策略与工具上限，/purge revert 可还原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破限改的是“谁能说不”，不改变“它到底会不会”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E3c  破限之后：多出来的能力，和它的账单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三类“解锁”常被混为一谈：模型的内容边界、客户端的广告与内购、Agent 的权限边界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来源：各应用商店审核条款；iOS / Android 签名与支付文档；本稿整理（2026-10-18）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01952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内容边界（模型层）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0" y="190195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让它说本不该说的话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想要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240280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写本该拒答的内容；给越界的医疗、法律、金融建议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2482596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25880" y="2482596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能撬开一部分，但越敏感越容易编；拒答和准确性常常一起掉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2724912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25880" y="2724912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账号可能停用；用被诱导的答案交付，责任在使用者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044952"/>
            <a:ext cx="11091672" cy="118872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63824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广告与内购（客户端层）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2240" y="316382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和模型破限无关，是改包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3502152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想要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25880" y="3502152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去掉开屏与信息流广告、跳过会员校验、重置试用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520" y="3744468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25880" y="3744468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能改的多是本地展示；扣费与权益在服务端，改出来的只是“看起来是会员”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3986783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25880" y="3986783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改包要重签名，签名一变支付和推送就废；服务端一校验就露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4306824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25696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权限与审批（Harness 层）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2240" y="442569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让它自己动手，不弹审批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1520" y="4764024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想要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25880" y="4764024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自己删文件、自己付款、自己外发、自己连外网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1520" y="5006340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25880" y="5006340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放开审批门和沙箱确实做得到；它改的是“谁能喊停”，不是“它会不会错”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1520" y="5248655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25880" y="5248655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一次误操作就是真损失；日志里写着是你放的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只有第一层叫“破限”；后两层是改包和改权限，风险落在不同的人身上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E3d  L 站三类“成果”：代价落在谁身上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社区里最常见的三个例子，恰好各占一层；名字按惯例打码，只讲“能改什么、改不了什么”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来源：linux.do 相关帖子（S51、S52）；各软件官网与官方说明；本稿整理（2026-10-18）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53872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353872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20240"/>
            <a:ext cx="31363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**模拟器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2249424"/>
            <a:ext cx="31363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绿色版 / 去广告 / 无限多开</a:t>
            </a:r>
            <a:endParaRPr sz="12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9808" y="2560320"/>
            <a:ext cx="3136392" cy="29260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560320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客户端展示层 + 多开限制</a:t>
            </a:r>
            <a:endParaRPr sz="11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9808" y="296265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08176" y="2962656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启动广告、内置推广位、多开数量限制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9808" y="37124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改不了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08176" y="3712464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云端功能与账号风控；挂机行为会被识别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9808" y="44622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08176" y="4462272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官方升级即失效；多开挂机可能连账号一起没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25112" y="1783080"/>
            <a:ext cx="353872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5112" y="1783080"/>
            <a:ext cx="353872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79" y="1920240"/>
            <a:ext cx="31363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*果视频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6279" y="2249424"/>
            <a:ext cx="31363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去广告版 / 解锁会员版</a:t>
            </a:r>
            <a:endParaRPr sz="12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26279" y="2560320"/>
            <a:ext cx="3136392" cy="29260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1" y="2560320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本地展示 + 会员角标</a:t>
            </a:r>
            <a:endParaRPr sz="11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26279" y="296265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84648" y="2962656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开屏、贴片广告、会员标识与入口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26279" y="37124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改不了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84648" y="3712464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会员权益与扣费在服务端；专享内容仍打不开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26279" y="44622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84648" y="4462272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重签名后支付、推送、第三方登录一并失效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101583" y="1783080"/>
            <a:ext cx="353872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01583" y="1783080"/>
            <a:ext cx="3538728" cy="6400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1920240"/>
            <a:ext cx="31363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**造价软件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02752" y="2249424"/>
            <a:ext cx="31363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加密锁 / 授权绕过</a:t>
            </a:r>
            <a:endParaRPr sz="12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302752" y="2560320"/>
            <a:ext cx="3136392" cy="29260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75904" y="2560320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本地授权校验</a:t>
            </a:r>
            <a:endParaRPr sz="11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302752" y="296265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961119" y="2962656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本地锁校验、试用期计数、单机授权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02752" y="37124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改不了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961119" y="3712464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联网校验、云端定额库、按账号发授权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302752" y="44622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961119" y="4462272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单位内使用属合规问题；出量算错没人兜底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48640" y="5431536"/>
            <a:ext cx="1109167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名字按社区惯例打码；只写“改了哪一层”，不写获取渠道与操作步骤。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三个都在改“客户端那一层”——真正值钱的东西，早就搬到服务端了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E3e  案例（一）：Hugging Face 事件与诉讼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四栏分开写：已披露事实 / 诉方主张 / 案件进展 / 工作启示——不把解读混进事实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来源：Hugging Face 安全事件公告（2026-07-16）；OpenAI 声明（2026-07-21）；BBC（2026-07-25）；CNBC（2026-09-30）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00784"/>
            <a:ext cx="2670048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已披露事实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3232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当事方自己说的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07-16 Hugging Face 公告被入侵，称两天内约 1.7 万次动作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07-21 OpenAI 声明：两个未发布模型在测试中获得公网访问，并访问了 HF 系统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07-30 Anthropic 说明：内部复盘发现自家模型在测试中进入三家公司系统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55848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55848" y="1700784"/>
            <a:ext cx="2670048" cy="5486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诉方主张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520440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原告的说法，非法院认定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20440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09-29 非营利组织 LASST 在旧金山高等法院起诉 OpenAI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20440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援引加州《计算机数据访问与欺诈法》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20440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请求法院发出禁令，限制未授权访问他人计算机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63056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3056" y="1700784"/>
            <a:ext cx="2670048" cy="5486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案件进展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327648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截至整理日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27648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OpenAI 公开回应：该诉讼“没有依据”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27648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未见法院就该案作出实体裁判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27648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未见被入侵第三方公开确认受监管数据泄露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970264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70264" y="1700784"/>
            <a:ext cx="2670048" cy="54864"/>
          </a:xfrm>
          <a:prstGeom prst="rect">
            <a:avLst/>
          </a:prstGeom>
          <a:solidFill>
            <a:srgbClr val="6B7385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34856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工作启示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134856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本稿判断，非案件结论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134856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测试环境与生产网络隔开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134856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Agent 能碰什么，写进制度与权限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134856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留日志：出事时它是唯一能自证的东西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358384"/>
            <a:ext cx="107624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口径：左三栏为公开披露与当事方表述；第四栏为工作启示。责任尚未由法院认定，引用请注明来源与时间。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事实、主张、进展、启示分开放——不要让解读看起来像结论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E3f  案例（二）：人指挥 Agent 入侵韩国金融机构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月底至 10 月初，韩国七家金融机构遭入侵；据公开披露与厂商归因，操作者是人，Agent 是其使用的工具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来源：CrowdStrike（2026-10-07）；The Record；NYT（2026-10-09）；Korea JoongAng Daily；韩联社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41248" y="1901952"/>
            <a:ext cx="0" cy="324612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11" name="Oval 10"/>
          <p:cNvSpPr/>
          <p:nvPr/>
        </p:nvSpPr>
        <p:spPr>
          <a:xfrm>
            <a:off x="777240" y="1929384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184708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09-27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87168" y="1847088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KB 国民银行员工移动办公系统被入侵，持续 40 多小时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250545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09-30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87168" y="2505456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新韩披露；七家机构陆续确认，至少 6.8 万人资料外泄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77240" y="3246120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16382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10-06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87168" y="3163824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总统李在明称“已有迹象”用了 AI；监管统计 33 个攻击 IP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77240" y="3904487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822191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10-07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87168" y="3822191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CrowdStrike 归因 ARTEX：主模型 DeepSeek V4.1 Flash，中文提示词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77240" y="4562855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48055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10-08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87168" y="4480559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ARTEX 作者闭源停更；英文、韩文衍生版仍在流传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55080" y="1755648"/>
            <a:ext cx="5285232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55648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和上一页差在哪（本稿解读）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55080" y="2231136"/>
            <a:ext cx="5285232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32257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谁在动手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0" y="2615184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人是操作者，Agent 只是加速器。韩国金融安全院：并非无人参与、自主行动。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355080" y="3273552"/>
            <a:ext cx="5285232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364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怎么进去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0" y="3657600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不是零日：暴露在公网的内部工具，弱认证、会话校验不足。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55080" y="4315968"/>
            <a:ext cx="5285232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407407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为什么快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0" y="4700016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一个操作者连打七家；发现要 15–68 小时。一年一次的渗透测试追不上。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5321808"/>
            <a:ext cx="11091672" cy="38404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321808"/>
            <a:ext cx="10744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工作启示（本稿建议）：内部工具收回公网；认证与会话逐页校验；按发布节奏复测，不是一年一次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一侧是 AI 自主行动，一侧是人指挥 AI：差别在操作者与授权，责任以上市披露为准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E4  开源落地：从权重到能用的四层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032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模型权重只是第一层；从权重到“同事能上手”，中间还有三层要拼——每层都有成熟的开源项目，难的不是装，是运维和权限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来源：各项目 GitHub README；2026-10-20 查询；本稿为选型清单，未做部署实测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7200" y="1699200"/>
            <a:ext cx="2624400" cy="36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200" y="1778399"/>
            <a:ext cx="2426400" cy="22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 跑模型 · 推理引擎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7200" y="2066400"/>
            <a:ext cx="2624400" cy="298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200" y="21312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vLLM</a:t>
            </a:r>
            <a:endParaRPr sz="12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5200" y="2354400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并发吞吐最高，服务器上跑开源权重首选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5200" y="29160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SGLang</a:t>
            </a:r>
            <a:endParaRPr sz="12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5200" y="3139199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结构化输出与多轮对话快，社区更新勤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5200" y="37008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Ollama / llama.cpp</a:t>
            </a:r>
            <a:endParaRPr sz="12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5200" y="3923999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量化之后，笔记本或单台工作站就能试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3600" y="4424400"/>
            <a:ext cx="2451600" cy="36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400" y="4485600"/>
            <a:ext cx="23364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这一层决定一张卡能同时服务几个人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371760" y="1699200"/>
            <a:ext cx="2624400" cy="36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9760" y="1778399"/>
            <a:ext cx="2426400" cy="22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 统一接口 · 网关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371760" y="2066400"/>
            <a:ext cx="2624400" cy="298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9760" y="21312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LiteLLM</a:t>
            </a:r>
            <a:endParaRPr sz="12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79760" y="2354400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几十家模型收成一个 OpenAI 兼容地址，带成本记账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79760" y="29160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One-API</a:t>
            </a:r>
            <a:endParaRPr sz="12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479760" y="3139199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国内常用，账号池、令牌、额度都在一张表里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79760" y="37008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自建网关</a:t>
            </a:r>
            <a:endParaRPr sz="12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479760" y="3923999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加脱敏、限流、审计三个中间件就够用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58160" y="4424400"/>
            <a:ext cx="2451600" cy="36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2960" y="4485600"/>
            <a:ext cx="23364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换模型不改代码，全靠这一层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196320" y="1699200"/>
            <a:ext cx="2624400" cy="36720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4320" y="1778399"/>
            <a:ext cx="2426400" cy="22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 接资料与界面 · 应用层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196320" y="2066400"/>
            <a:ext cx="2624400" cy="298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4320" y="21312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Open WebUI</a:t>
            </a:r>
            <a:endParaRPr sz="125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04320" y="2354400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像 ChatGPT 的界面，可接本地模型与知识库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04320" y="29160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Dify</a:t>
            </a:r>
            <a:endParaRPr sz="125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304320" y="3139199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拖拽式工作流，把检索、模型、输出串成一条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304320" y="37008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</a:rPr>
              <a:t>RAGFlow</a:t>
            </a:r>
            <a:endParaRPr sz="1250" b="1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304320" y="3923999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表格与扫描件解析强，检索靠它兜底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282719" y="4424400"/>
            <a:ext cx="2451600" cy="36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47520" y="4485600"/>
            <a:ext cx="23364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同事真正上手操作的，是这一层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020880" y="1699200"/>
            <a:ext cx="2624400" cy="3672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8880" y="1778399"/>
            <a:ext cx="2426400" cy="22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  看住它 · 可观测与权限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020880" y="2066400"/>
            <a:ext cx="2624400" cy="298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8880" y="21312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Langfuse</a:t>
            </a:r>
            <a:endParaRPr sz="12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128880" y="2354400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每次调用都留输入输出、耗时与成本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128880" y="29160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向量库</a:t>
            </a:r>
            <a:endParaRPr sz="12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128880" y="3139199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pgvector / Milvus / Weaviate，按数据量选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128880" y="3700800"/>
            <a:ext cx="2408400" cy="19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审批与审计</a:t>
            </a:r>
            <a:endParaRPr sz="12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128880" y="3923999"/>
            <a:ext cx="2408400" cy="4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敏感动作人工确认，日志能按人查</a:t>
            </a:r>
            <a:endParaRPr sz="11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107280" y="4424400"/>
            <a:ext cx="2451600" cy="36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72080" y="4485600"/>
            <a:ext cx="2336400" cy="25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没有这一层，出了事查不出来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48640" y="58068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注意</a:t>
            </a:r>
            <a:endParaRPr sz="12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417320" y="5806800"/>
            <a:ext cx="1023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开源能落地，但落地的是项目不是产品：先跑通一条链路，再谈替换</a:t>
            </a:r>
            <a:endParaRPr sz="17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47200" y="5385600"/>
            <a:ext cx="110988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可直接落地的开源权重：DeepSeek V4.1 · Qwen3.8 · GLM-5.3 · Kimi K3 · Hy4 · MiniMax M3（各家边界见附录 B）</a:t>
            </a:r>
            <a:endParaRPr sz="11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7200" y="5587200"/>
            <a:ext cx="11098800" cy="21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国内常见的落地形态：DeepSeek 私有化部署 / GLM 一体机 / Qwen 百炼 + 自建 / Hy 内网单机 / Mistral on-prem</a:t>
            </a:r>
            <a:endParaRPr sz="11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548640" y="5825088"/>
            <a:ext cx="11097360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原理与历史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6949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发展史 · 神经网络 · token 与向量 · Transformer 与注意力 · 架构 · 规模定律 · 对齐与推理 · 多模态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0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F1  从 1943 年到今天：数据、算力、架构三条线汇到了一起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来源：S34，S35，S33；Krizhevsky 等 2012；Minsky &amp; Papert 1969；Rumelhart 等 1986；图 Wikimedia Commons（公有领域）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3246120"/>
            <a:ext cx="10545775" cy="0"/>
          </a:xfrm>
          <a:prstGeom prst="line">
            <a:avLst/>
          </a:prstGeom>
          <a:ln w="38100">
            <a:solidFill>
              <a:srgbClr val="9CCFC8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399032" y="309067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1943</a:t>
            </a:r>
            <a:endParaRPr sz="2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数学神经元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神经元被写成“加权求和、过阈值就输出”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246120" y="309067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532888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1958</a:t>
            </a:r>
            <a:endParaRPr sz="2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32888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78608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Rosenblatt：机器第一次自己调权重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093208" y="309067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379976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2012</a:t>
            </a:r>
            <a:endParaRPr sz="2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79976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深度学习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25696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AlexNet：ImageNet 错误率 26% → 15%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940296" y="3090672"/>
            <a:ext cx="310896" cy="31089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27064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</a:t>
            </a:r>
            <a:endParaRPr sz="2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27064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72784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整句并行处理，模型规模能做大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787384" y="3090672"/>
            <a:ext cx="310896" cy="31089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074152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 起</a:t>
            </a:r>
            <a:endParaRPr sz="2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74152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对话产品普及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19872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2022 年 11 月上线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634472" y="3090672"/>
            <a:ext cx="310896" cy="31089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921240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</a:t>
            </a:r>
            <a:endParaRPr sz="2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21240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多模态与工具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966960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看图、读文件、调用工具，动手做事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今天的大模型，就是 2017 年 Transformer 架构加上海量数据和算力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三条线：数据（互联网文本与图像）、算力（GPU 集群）、架构（从感知机到 Transformer）；中间有过两次“寒冬”</a:t>
            </a:r>
            <a:endParaRPr sz="16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9" name="Picture 38" descr="percept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617720"/>
            <a:ext cx="1274914" cy="103327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2097874" y="4590288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Mark I 感知机（康奈尔航空实验室）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操作手册插图，1960 年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图：Hay &amp; Murray，公有领域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257800" y="4553712"/>
            <a:ext cx="3108960" cy="1097280"/>
          </a:xfrm>
          <a:prstGeom prst="rect">
            <a:avLst/>
          </a:prstGeom>
          <a:solidFill>
            <a:srgbClr val="FBE9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257800" y="4553712"/>
            <a:ext cx="64008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58968" y="4645152"/>
            <a:ext cx="27797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中间的低谷</a:t>
            </a:r>
            <a:endParaRPr sz="13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458968" y="4992624"/>
            <a:ext cx="2779776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1969 年《Perceptrons》指出单层网络学不会“异或”，研究冷了十几年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503920" y="4553712"/>
            <a:ext cx="3136392" cy="10972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03920" y="4553712"/>
            <a:ext cx="64008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05088" y="4645152"/>
            <a:ext cx="280720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转机：反向传播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705088" y="4992624"/>
            <a:ext cx="2807208" cy="594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1986 年反向传播让多层网络能训练（见 F2）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  神经网络怎么学：猜一次、量误差、往误差变小的方向挪一点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用最小的例子看训练：只有一个参数 w，预测“用量 = w × 面积”；大模型只是把参数换成千亿个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来源：Rumelhart、Hinton &amp; Williams（Nature，1986）；图为示意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训练里没有“理解”这一步，只是让损失一点点变小；学到什么，取决于数据里有什么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8" name="Picture 87" descr="f2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5074920" cy="3353072"/>
          </a:xfrm>
          <a:prstGeom prst="rect">
            <a:avLst/>
          </a:prstGeom>
        </p:spPr>
      </p:pic>
      <p:sp>
        <p:nvSpPr>
          <p:cNvPr id="89" name="Rectangle 88"/>
          <p:cNvSpPr/>
          <p:nvPr/>
        </p:nvSpPr>
        <p:spPr>
          <a:xfrm>
            <a:off x="5897880" y="1874519"/>
            <a:ext cx="574243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897880" y="1874519"/>
            <a:ext cx="64008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99048" y="1965960"/>
            <a:ext cx="541324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01  猜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099048" y="2313432"/>
            <a:ext cx="5413248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用当前的 w 算出预测，比如预测用量 8.2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5897880" y="2770632"/>
            <a:ext cx="574243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897880" y="2770632"/>
            <a:ext cx="64008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99048" y="2862072"/>
            <a:ext cx="541324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02  量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099048" y="3209544"/>
            <a:ext cx="5413248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和真实答案 9.0 比：损失 =（预测 − 实际）²，错得越多越大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897880" y="3666744"/>
            <a:ext cx="574243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897880" y="3666744"/>
            <a:ext cx="64008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099048" y="3758183"/>
            <a:ext cx="541324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03  求方向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099048" y="4105656"/>
            <a:ext cx="5413248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对 w 求导（梯度）：知道 w 往大挪还是往小挪，损失会变小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5897880" y="4562856"/>
            <a:ext cx="574243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897880" y="4562856"/>
            <a:ext cx="64008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99048" y="4654296"/>
            <a:ext cx="541324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04  挪一小步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099048" y="5001768"/>
            <a:ext cx="5413248" cy="30175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w ← w − 学习率 × 梯度；换一批数据，回到 01，重复亿万次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548640" y="5349240"/>
            <a:ext cx="11091672" cy="34747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31520" y="5376672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参数有千亿个时怎么办：反向传播用链式法则，从输出往回逐层算出每个参数该挪多少，一次算完</a:t>
            </a:r>
            <a:endParaRPr sz="13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7" name="Connector 106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F2b  神经网络的结构：很多层“加权求和＋非线性”叠起来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每条连线是一个可调的权重；训练就是不停地调这些权重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来源：神经网络结构示意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498079" y="1828800"/>
            <a:ext cx="414223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7498079" y="1828800"/>
            <a:ext cx="7315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72400" y="193852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一个圆圈做什么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772400" y="2331720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把上一层的数按权重加起来，再“折一下”（非线性）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7498079" y="3090672"/>
            <a:ext cx="414223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498079" y="3090672"/>
            <a:ext cx="7315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72400" y="320040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为什么要叠很多层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7772400" y="3593591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只做加法永远是直线；层层折叠，才能逼近弯曲、交叉的规律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7498079" y="4352544"/>
            <a:ext cx="414223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498079" y="4352544"/>
            <a:ext cx="7315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72400" y="446227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参数是什么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772400" y="4855464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主要就是连线上的权重；大模型的参数可达千亿级，训练就是调它们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486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417320" y="5760720"/>
            <a:ext cx="1022573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能拟合很复杂的规律，但说不清每一步为什么这样算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0" name="net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783080"/>
            <a:ext cx="7223760" cy="4023360"/>
          </a:xfrm>
          <a:prstGeom prst="rect">
            <a:avLst/>
          </a:prstGeom>
        </p:spPr>
      </p:pic>
      <p:cxnSp>
        <p:nvCxnSpPr>
          <p:cNvPr id="101" name="Connector 100"/>
          <p:cNvCxnSpPr/>
          <p:nvPr/>
        </p:nvCxnSpPr>
        <p:spPr>
          <a:xfrm>
            <a:off x="548640" y="577900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500" fill="hold"/>
                                        <p:tgtEl>
                                          <p:spTgt spid="1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0"/>
                </p:tgtEl>
              </p:cMediaNode>
            </p:video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F3  词怎么变成数字：token 与向量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模型不认字，只认编号；编号再换成一长串数字（向量），意思相近的词，向量也靠得近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来源：Sennrich 等 2016（BPE 分词）；Mikolov 等 2013（word2vec）；切分、编号与向量均为示意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的“语义检索”、上下文的“token 上限”、按 token 计价，都建立在这一步上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48640" y="1874519"/>
            <a:ext cx="6035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一句话进模型前的三步（示意）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48640" y="2377440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原文</a:t>
            </a:r>
            <a:endParaRPr sz="1300" b="1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1828800" y="2286000"/>
            <a:ext cx="44805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5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桥墩挡块需复核</a:t>
            </a:r>
            <a:endParaRPr sz="15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Down Arrow 90"/>
          <p:cNvSpPr/>
          <p:nvPr/>
        </p:nvSpPr>
        <p:spPr>
          <a:xfrm>
            <a:off x="3017520" y="2834640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48640" y="3127248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切成 token</a:t>
            </a:r>
            <a:endParaRPr sz="1300" b="1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1828800" y="3035808"/>
            <a:ext cx="8412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桥墩</a:t>
            </a:r>
            <a:endParaRPr sz="13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2761488" y="3035808"/>
            <a:ext cx="6126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挡</a:t>
            </a:r>
            <a:endParaRPr sz="13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Rounded Rectangle 94"/>
          <p:cNvSpPr/>
          <p:nvPr/>
        </p:nvSpPr>
        <p:spPr>
          <a:xfrm>
            <a:off x="3465576" y="3035808"/>
            <a:ext cx="6126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块</a:t>
            </a:r>
            <a:endParaRPr sz="13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4169663" y="3035808"/>
            <a:ext cx="6126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需</a:t>
            </a:r>
            <a:endParaRPr sz="13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4873751" y="3035808"/>
            <a:ext cx="841247" cy="512064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复核</a:t>
            </a:r>
            <a:endParaRPr sz="13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Down Arrow 97"/>
          <p:cNvSpPr/>
          <p:nvPr/>
        </p:nvSpPr>
        <p:spPr>
          <a:xfrm>
            <a:off x="3017520" y="3584448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48640" y="3877055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查编号</a:t>
            </a:r>
            <a:endParaRPr sz="1300" b="1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18288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50213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27432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8812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Rounded Rectangle 101"/>
          <p:cNvSpPr/>
          <p:nvPr/>
        </p:nvSpPr>
        <p:spPr>
          <a:xfrm>
            <a:off x="36576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3307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45720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1290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5486400" y="3785615"/>
            <a:ext cx="8229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41766</a:t>
            </a:r>
            <a:endParaRPr sz="13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Down Arrow 104"/>
          <p:cNvSpPr/>
          <p:nvPr/>
        </p:nvSpPr>
        <p:spPr>
          <a:xfrm>
            <a:off x="3017520" y="4334255"/>
            <a:ext cx="164592" cy="164592"/>
          </a:xfrm>
          <a:prstGeom prst="downArrow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48640" y="4626864"/>
            <a:ext cx="1234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换成向量</a:t>
            </a:r>
            <a:endParaRPr sz="1300" b="1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1828800" y="4535424"/>
            <a:ext cx="448056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3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[0.12, −0.83, 0.40, …]</a:t>
            </a:r>
            <a:endParaRPr sz="13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1828800" y="528523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每个 token 一串上千个数；编号与数值仅为示意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9" name="Picture 108" descr="f3_emb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74519"/>
            <a:ext cx="4919472" cy="3500394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6812280" y="5358384"/>
            <a:ext cx="48463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国王 − 男人 + 女人 ≈ 女王：向量做加减也有意义（word2vec）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1" name="Connector 110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F3b  检索怎么找：关键词、向量或混合，再精排筛出证据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“近”不等于“对”：检索只负责捞候选，回答前还要精排、带页码回原文核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来源：Chroma《Context Rot》；Lewis 等 RAG 原论文（2020）；各厂 embedding 与上下文计费文档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629400" y="1874519"/>
            <a:ext cx="45720" cy="7772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12280" y="1874519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关键词空手的例子</a:t>
            </a:r>
            <a:endParaRPr sz="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812280" y="2148839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“防撞设施”与“挡块”一个字都不重合，关键词搜索直接空手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29400" y="2834639"/>
            <a:ext cx="45720" cy="7772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12280" y="2834639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语义能落到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812280" y="3108959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两段话意思近，向量就靠得近；取最近三五段，正好把“挡块”那段捞上来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629400" y="3794760"/>
            <a:ext cx="45720" cy="77724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12280" y="379476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但“近”≠“对”</a:t>
            </a:r>
            <a:endParaRPr sz="9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812280" y="4069080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近邻里常有看着像、其实不是一回事的段落：要再精排一次，并给页码回原文核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629400" y="4846320"/>
            <a:ext cx="5010912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实践多用混合检索：编号、专有名词靠关键词；换了说法靠向量；两路结果再精排一次，回答必须带出处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检索只捞候选：实践多用混合检索，回答必须带出处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9" name="rag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874519"/>
            <a:ext cx="5760720" cy="202996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48640" y="3995927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</a:pPr>
            <a:r>
              <a:rPr sz="1050" b="0">
                <a:solidFill>
                  <a:srgbClr val="5B6577"/>
                </a:solidFill>
                <a:latin typeface="微软雅黑" panose="020B0503020204020204" charset="-122"/>
                <a:ea typeface="微软雅黑" panose="020B0503020204020204" charset="-122"/>
              </a:rPr>
              <a:t>动画：问题和片段都变成坐标，取离问题最近的几段</a:t>
            </a:r>
            <a:endParaRPr sz="1050" b="0">
              <a:solidFill>
                <a:srgbClr val="5B657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5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9"/>
                </p:tgtEl>
              </p:cMediaNode>
            </p:video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F4  Transformer 一层：注意力 + 前馈，再叠几十上百层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注意力负责“看别的词”，前馈网络负责“在自己身上加工”；残差和归一化让很深的网络也训得动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来源：Vaswani 等 2017；Brown 等 2020（GPT-3）；Su 等 2021（RoPE）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所谓“大模型”，主要是这一层更宽、叠得更多、喂的数据更多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1097280" y="4892040"/>
            <a:ext cx="3291840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输入：token 向量 + 位置信息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1097280" y="4069080"/>
            <a:ext cx="3291840" cy="457200"/>
          </a:xfrm>
          <a:prstGeom prst="roundRect">
            <a:avLst>
              <a:gd name="adj" fmla="val 1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多头注意力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1097280" y="3520440"/>
            <a:ext cx="3291840" cy="384048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相加 &amp; 归一化</a:t>
            </a:r>
            <a:endParaRPr sz="12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1097280" y="2697480"/>
            <a:ext cx="3291840" cy="457200"/>
          </a:xfrm>
          <a:prstGeom prst="roundRect">
            <a:avLst>
              <a:gd name="adj" fmla="val 18000"/>
            </a:avLst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前馈网络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1097280" y="2148840"/>
            <a:ext cx="3291840" cy="384048"/>
          </a:xfrm>
          <a:prstGeom prst="roundRect">
            <a:avLst>
              <a:gd name="adj" fmla="val 18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相加 &amp; 归一化</a:t>
            </a:r>
            <a:endParaRPr sz="12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Up Arrow 92"/>
          <p:cNvSpPr/>
          <p:nvPr/>
        </p:nvSpPr>
        <p:spPr>
          <a:xfrm>
            <a:off x="2660904" y="4544568"/>
            <a:ext cx="164592" cy="329184"/>
          </a:xfrm>
          <a:prstGeom prst="upArrow">
            <a:avLst/>
          </a:prstGeom>
          <a:solidFill>
            <a:srgbClr val="94A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Up Arrow 93"/>
          <p:cNvSpPr/>
          <p:nvPr/>
        </p:nvSpPr>
        <p:spPr>
          <a:xfrm>
            <a:off x="2660904" y="3918204"/>
            <a:ext cx="164592" cy="137160"/>
          </a:xfrm>
          <a:prstGeom prst="upArrow">
            <a:avLst/>
          </a:prstGeom>
          <a:solidFill>
            <a:srgbClr val="94A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Up Arrow 94"/>
          <p:cNvSpPr/>
          <p:nvPr/>
        </p:nvSpPr>
        <p:spPr>
          <a:xfrm>
            <a:off x="2660904" y="3172968"/>
            <a:ext cx="164592" cy="329184"/>
          </a:xfrm>
          <a:prstGeom prst="upArrow">
            <a:avLst/>
          </a:prstGeom>
          <a:solidFill>
            <a:srgbClr val="94A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Up Arrow 95"/>
          <p:cNvSpPr/>
          <p:nvPr/>
        </p:nvSpPr>
        <p:spPr>
          <a:xfrm>
            <a:off x="2660904" y="2546604"/>
            <a:ext cx="164592" cy="137160"/>
          </a:xfrm>
          <a:prstGeom prst="upArrow">
            <a:avLst/>
          </a:prstGeom>
          <a:solidFill>
            <a:srgbClr val="94A3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97280" y="18288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↑ 输出到下一层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98" name="Connector 97"/>
          <p:cNvCxnSpPr/>
          <p:nvPr/>
        </p:nvCxnSpPr>
        <p:spPr>
          <a:xfrm flipV="1">
            <a:off x="914400" y="3657600"/>
            <a:ext cx="0" cy="1051560"/>
          </a:xfrm>
          <a:prstGeom prst="line">
            <a:avLst/>
          </a:prstGeom>
          <a:ln w="22225">
            <a:solidFill>
              <a:srgbClr val="D9622B"/>
            </a:solidFill>
            <a:prstDash val="dash"/>
          </a:ln>
        </p:spPr>
      </p:cxnSp>
      <p:cxnSp>
        <p:nvCxnSpPr>
          <p:cNvPr id="99" name="Connector 98"/>
          <p:cNvCxnSpPr/>
          <p:nvPr/>
        </p:nvCxnSpPr>
        <p:spPr>
          <a:xfrm flipV="1">
            <a:off x="914400" y="2286000"/>
            <a:ext cx="0" cy="1051560"/>
          </a:xfrm>
          <a:prstGeom prst="line">
            <a:avLst/>
          </a:prstGeom>
          <a:ln w="22225">
            <a:solidFill>
              <a:srgbClr val="D9622B"/>
            </a:solidFill>
            <a:prstDash val="dash"/>
          </a:ln>
        </p:spPr>
      </p:cxnSp>
      <p:sp>
        <p:nvSpPr>
          <p:cNvPr id="100" name="TextBox 99"/>
          <p:cNvSpPr txBox="1"/>
          <p:nvPr/>
        </p:nvSpPr>
        <p:spPr>
          <a:xfrm>
            <a:off x="228600" y="2880360"/>
            <a:ext cx="685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残差</a:t>
            </a:r>
            <a:endParaRPr sz="11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直通</a:t>
            </a:r>
            <a:endParaRPr sz="11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4572000" y="2148840"/>
            <a:ext cx="45720" cy="23774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709159" y="301752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× N 层</a:t>
            </a:r>
            <a:endParaRPr sz="16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5989320" y="1828800"/>
            <a:ext cx="56509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989320" y="1828800"/>
            <a:ext cx="64008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190488" y="1920240"/>
            <a:ext cx="5321807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位置信息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190488" y="2267712"/>
            <a:ext cx="5321807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注意力本身不分先后，要另加位置编码：原论文用正余弦，现在主流多用 RoPE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Rectangle 106"/>
          <p:cNvSpPr/>
          <p:nvPr/>
        </p:nvSpPr>
        <p:spPr>
          <a:xfrm>
            <a:off x="5989320" y="2798064"/>
            <a:ext cx="56509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989320" y="2798064"/>
            <a:ext cx="64008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190488" y="2889504"/>
            <a:ext cx="5321807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前馈网络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190488" y="3236976"/>
            <a:ext cx="5321807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每个位置单独过两层全连接，参数大头在这里；MoE 替换的就是这一块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Rectangle 110"/>
          <p:cNvSpPr/>
          <p:nvPr/>
        </p:nvSpPr>
        <p:spPr>
          <a:xfrm>
            <a:off x="5989320" y="3767328"/>
            <a:ext cx="56509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989320" y="3767328"/>
            <a:ext cx="64008" cy="9144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190488" y="3858768"/>
            <a:ext cx="5321807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残差 + 归一化</a:t>
            </a:r>
            <a:endParaRPr sz="14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190488" y="4206240"/>
            <a:ext cx="5321807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每块输出加回输入，信息和梯度都有直通路，几十上百层才训得动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Rectangle 114"/>
          <p:cNvSpPr/>
          <p:nvPr/>
        </p:nvSpPr>
        <p:spPr>
          <a:xfrm>
            <a:off x="5989320" y="4736592"/>
            <a:ext cx="565099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989320" y="4736592"/>
            <a:ext cx="64008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190488" y="4828031"/>
            <a:ext cx="5321807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规模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6190488" y="5175504"/>
            <a:ext cx="5321807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原论文 6 层、512 维、8 头；GPT-3 为 96 层、12288 维、96 头，1750 亿参数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9" name="Connector 118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F5  注意力怎么算：每个词带着“问题”去和其他词“对暗号”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三步：打分 → 归一化 → 加权；多头并看不同关系。生成时有遮罩，不能读未来 token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来源：Vaswani 等《Attention Is All You Need》（2017）；权重为示意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120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73152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打分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1720" y="1828800"/>
            <a:ext cx="32461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“它”拿自己的问题，和每个词的标签比对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5120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73152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换算比例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31720" y="2743200"/>
            <a:ext cx="32461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分数换成加起来 = 100% 的权重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5120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73152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加权混合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31720" y="3657600"/>
            <a:ext cx="32461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按比例把各词的内容加起来，得到新含义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5120640" cy="9144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66344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多头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同时有很多组在看：有的看指代，有的看修饰，有的看数字和单位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06640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46719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86800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26880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966959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2240" y="2103120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406640" y="2103120"/>
            <a:ext cx="594359" cy="594359"/>
          </a:xfrm>
          <a:prstGeom prst="rect">
            <a:avLst/>
          </a:prstGeom>
          <a:solidFill>
            <a:srgbClr val="579F9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06640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46719" y="210312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46719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686800" y="2103120"/>
            <a:ext cx="594359" cy="594359"/>
          </a:xfrm>
          <a:prstGeom prst="rect">
            <a:avLst/>
          </a:prstGeom>
          <a:solidFill>
            <a:srgbClr val="DBEA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686800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326880" y="210312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26880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966959" y="210312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966959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92240" y="2743200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406640" y="2743200"/>
            <a:ext cx="594359" cy="594359"/>
          </a:xfrm>
          <a:prstGeom prst="rect">
            <a:avLst/>
          </a:prstGeom>
          <a:solidFill>
            <a:srgbClr val="B7D5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406640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046719" y="2743200"/>
            <a:ext cx="594359" cy="594359"/>
          </a:xfrm>
          <a:prstGeom prst="rect">
            <a:avLst/>
          </a:prstGeom>
          <a:solidFill>
            <a:srgbClr val="9FC8C5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46719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686800" y="2743200"/>
            <a:ext cx="594359" cy="594359"/>
          </a:xfrm>
          <a:prstGeom prst="rect">
            <a:avLst/>
          </a:prstGeom>
          <a:solidFill>
            <a:srgbClr val="CFE3E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686800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326880" y="274320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326880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966959" y="274320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966959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92240" y="3383279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406640" y="3383279"/>
            <a:ext cx="594359" cy="594359"/>
          </a:xfrm>
          <a:prstGeom prst="rect">
            <a:avLst/>
          </a:prstGeom>
          <a:solidFill>
            <a:srgbClr val="DBEAE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406640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046719" y="338327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046719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686800" y="3383279"/>
            <a:ext cx="594359" cy="594359"/>
          </a:xfrm>
          <a:prstGeom prst="rect">
            <a:avLst/>
          </a:prstGeom>
          <a:solidFill>
            <a:srgbClr val="579F9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686800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326880" y="338327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326880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966959" y="338327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966959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92240" y="4023359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406640" y="4023359"/>
            <a:ext cx="594359" cy="594359"/>
          </a:xfrm>
          <a:prstGeom prst="rect">
            <a:avLst/>
          </a:prstGeom>
          <a:solidFill>
            <a:srgbClr val="C3DCD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406640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046719" y="4023359"/>
            <a:ext cx="594359" cy="594359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8046719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686800" y="4023359"/>
            <a:ext cx="594359" cy="594359"/>
          </a:xfrm>
          <a:prstGeom prst="rect">
            <a:avLst/>
          </a:prstGeom>
          <a:solidFill>
            <a:srgbClr val="A3CAC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686800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9326880" y="4023359"/>
            <a:ext cx="594359" cy="594359"/>
          </a:xfrm>
          <a:prstGeom prst="rect">
            <a:avLst/>
          </a:prstGeom>
          <a:solidFill>
            <a:srgbClr val="B7D5D3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326880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9966959" y="402335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9966959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492240" y="4663440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406640" y="4663440"/>
            <a:ext cx="594359" cy="594359"/>
          </a:xfrm>
          <a:prstGeom prst="rect">
            <a:avLst/>
          </a:prstGeom>
          <a:solidFill>
            <a:srgbClr val="CAE0D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406640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8046719" y="4663440"/>
            <a:ext cx="594359" cy="594359"/>
          </a:xfrm>
          <a:prstGeom prst="rect">
            <a:avLst/>
          </a:prstGeom>
          <a:solidFill>
            <a:srgbClr val="F7FAF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8046719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8686800" y="4663440"/>
            <a:ext cx="594359" cy="594359"/>
          </a:xfrm>
          <a:prstGeom prst="rect">
            <a:avLst/>
          </a:prstGeom>
          <a:solidFill>
            <a:srgbClr val="82B7B3"/>
          </a:solidFill>
          <a:ln w="9525">
            <a:solidFill>
              <a:srgbClr val="D9622B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8686800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326880" y="4663440"/>
            <a:ext cx="594359" cy="594359"/>
          </a:xfrm>
          <a:prstGeom prst="rect">
            <a:avLst/>
          </a:prstGeom>
          <a:solidFill>
            <a:srgbClr val="DFEDEC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9326880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9966959" y="4663440"/>
            <a:ext cx="594359" cy="594359"/>
          </a:xfrm>
          <a:prstGeom prst="rect">
            <a:avLst/>
          </a:prstGeom>
          <a:solidFill>
            <a:srgbClr val="E7F1F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9966959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355080" y="54406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行：正在读的词；列：被参考的词；每行加起来 = 100（示意）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权重经过归一化，但不是平均分配；长上下文中，模型可能难以稳定定位和使用关键信息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8" name="Connector 87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F6  模型架构：稠密、MoE、稀疏，差在哪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同样是「大模型」，内部怎么分配算力不一样；这决定了它跑得多贵、长文多稳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来源：Shazeer 等（2017，MoE 原始论文）；DeepSeek-V3 与 Kimi K3 技术报告；本稿整理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36393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3639312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47088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稠密 Dense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2" y="210312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token 都过全部参数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234086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全部参数都参与计算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行为稳定、可复现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288950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参数越多越贵越慢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316382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例：多数中小模型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361688" y="1737360"/>
            <a:ext cx="36393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1688" y="1737360"/>
            <a:ext cx="3639312" cy="5486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79" y="1847088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 混合专家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26279" y="210312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token 只走少数专家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26279" y="234086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总参数 ≫ 激活参数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26279" y="261518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如 770B 总 / 49B 激活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26279" y="288950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知识容量大、单次算力小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6279" y="316382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例：Mistral、Qwen、混元、DeepSeek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174736" y="1737360"/>
            <a:ext cx="36393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74736" y="1737360"/>
            <a:ext cx="3639312" cy="5486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1847088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稀疏 Sparse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39327" y="210312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只在需要时算需要的那部分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39327" y="234086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MoE 属于参数稀疏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39327" y="261518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还有稀疏注意力（少看一些位置）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39327" y="288950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问“稀疏”要先问哪一种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39327" y="316382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长文场景常用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3877056"/>
            <a:ext cx="5532120" cy="31089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877056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两个参数口径，别看错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4279392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4279392"/>
            <a:ext cx="11887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总参数</a:t>
            </a:r>
            <a:endParaRPr sz="1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920240" y="4279392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所有专家加起来的总量；决定显存要装多大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4736592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736592"/>
            <a:ext cx="11887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激活参数</a:t>
            </a:r>
            <a:endParaRPr sz="1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920240" y="4736592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一次前向真正算到的量；决定跑得多快多贵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8640" y="5358384"/>
            <a:ext cx="55321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“770B 能在单机跑”要看显存装不装得下全部专家；“49B 激活”说的是算力，不是只学了 49B 知识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355080" y="3877056"/>
            <a:ext cx="5285232" cy="31089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3877056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注意力也在省算力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10528" y="427939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MLA 多头潜在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83879" y="4270248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KV 缓存压小，长文更省显存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10528" y="4681728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 / 混合线性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183879" y="4672584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把平方增长压到接近线性，代价是可能丢细节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510528" y="5084064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滑动窗口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183879" y="5074920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只看附近一段，远处靠层数传导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355080" y="5431536"/>
            <a:ext cx="5285232" cy="34747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10528" y="5431536"/>
            <a:ext cx="4992624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架构决定成本曲线，不决定聪明程度；聪明程度看评测与任务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总参数看显存，激活参数看钱；两者别混着比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F7  规模定律：模型、数据、算力一起放大，损失按幂律下降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2020 年起的一组实验：只要三样一起加，效果大致能提前算出来——这是各家敢投大钱训练的依据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来源：Kaplan 等 2020（OpenAI）；Hoffmann 等 2022（DeepMind，Chinchilla）；图为示意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规模定律预测的是“损失”，不是某项具体能力；能力何时出现、够不够用，仍要实测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8" name="Picture 87" descr="f7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5120640" cy="3508587"/>
          </a:xfrm>
          <a:prstGeom prst="rect">
            <a:avLst/>
          </a:prstGeom>
        </p:spPr>
      </p:pic>
      <p:sp>
        <p:nvSpPr>
          <p:cNvPr id="89" name="Rectangle 88"/>
          <p:cNvSpPr/>
          <p:nvPr/>
        </p:nvSpPr>
        <p:spPr>
          <a:xfrm>
            <a:off x="5897880" y="1874519"/>
            <a:ext cx="5742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897880" y="1874519"/>
            <a:ext cx="64008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99048" y="1965960"/>
            <a:ext cx="541324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Kaplan 等（2020）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099048" y="2313432"/>
            <a:ext cx="5413248" cy="2834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损失随参数量、数据量、算力呈幂律下降，部分趋势跨七个数量级以上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5897880" y="2752344"/>
            <a:ext cx="5742432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897880" y="2752344"/>
            <a:ext cx="64008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99048" y="2843784"/>
            <a:ext cx="541324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Chinchilla（2022）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099048" y="3191256"/>
            <a:ext cx="5413248" cy="521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同样算力下，参数和数据同比例放大，约每个参数 20 个 token；700 亿参数＋1.4 万亿 token 胜过 2800 亿参数的 Gopher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5897880" y="3867912"/>
            <a:ext cx="5742432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897880" y="3867912"/>
            <a:ext cx="64008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099048" y="3959352"/>
            <a:ext cx="541324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算力怎么估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099048" y="4306824"/>
            <a:ext cx="5413248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训练算力 ≈ 6 × 参数量 × token 数；Chinchilla 约 5.8×10²³ 次浮点运算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5897880" y="4873752"/>
            <a:ext cx="574243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897880" y="4873752"/>
            <a:ext cx="64008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099048" y="4965192"/>
            <a:ext cx="5413248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现在的瓶颈</a:t>
            </a:r>
            <a:endParaRPr sz="14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6099048" y="5312664"/>
            <a:ext cx="5413248" cy="2834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高质量文本有限：转向合成数据、强化学习与推理时计算（见 F8）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5" name="Connector 104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F8  从会续写到会推理：对齐、强化学习与“想久一点”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预训练只教会它续写；听指令、守边界、多步推理，靠后面的训练，以及回答时多花算力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来源：Ouyang 等 2022（InstructGPT）；OpenAI《Learning to Reason with LLMs》2024-09；DeepSeek-AI 2025（arXiv 2501.12948）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“思考模式”换来的是难题上的准确率，不是事实来源；它照样会自信地算错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548640" y="1874519"/>
            <a:ext cx="3593592" cy="5669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31520" y="192024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2022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1600200" y="1975104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指令对齐：InstructGPT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548640" y="2441448"/>
            <a:ext cx="3593592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1520" y="2578608"/>
            <a:ext cx="32461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人写示范 + 人给回答排序 → 奖励模型 → 强化学习（RLHF）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13 亿参数的 InstructGPT，人工评比胜过 1750 亿参数的 GPT-3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ight Arrow 92"/>
          <p:cNvSpPr/>
          <p:nvPr/>
        </p:nvSpPr>
        <p:spPr>
          <a:xfrm>
            <a:off x="4160520" y="3017520"/>
            <a:ext cx="118872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297679" y="1874519"/>
            <a:ext cx="3593592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80559" y="192024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2024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349240" y="1975104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推理模型：o1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4297679" y="2441448"/>
            <a:ext cx="3593592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480559" y="2578608"/>
            <a:ext cx="32461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先写一长段“思考”再回答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成绩随训练时强化学习、推理时思考时长一起提升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Right Arrow 98"/>
          <p:cNvSpPr/>
          <p:nvPr/>
        </p:nvSpPr>
        <p:spPr>
          <a:xfrm>
            <a:off x="7909559" y="3017520"/>
            <a:ext cx="118872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046719" y="1874519"/>
            <a:ext cx="3593592" cy="56692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29599" y="192024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2025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9098280" y="1975104"/>
            <a:ext cx="24688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开源推理：DeepSeek-R1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Rectangle 102"/>
          <p:cNvSpPr/>
          <p:nvPr/>
        </p:nvSpPr>
        <p:spPr>
          <a:xfrm>
            <a:off x="8046719" y="2441448"/>
            <a:ext cx="3593592" cy="1691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229599" y="2578608"/>
            <a:ext cx="32461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用能自动判分的题（数学、代码）做大规模强化学习，长链推理随之出现；权重开源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Rectangle 104"/>
          <p:cNvSpPr/>
          <p:nvPr/>
        </p:nvSpPr>
        <p:spPr>
          <a:xfrm>
            <a:off x="548640" y="4297680"/>
            <a:ext cx="11091672" cy="13258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48640" y="4297680"/>
            <a:ext cx="64008" cy="1325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77240" y="4389120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</a:rPr>
              <a:t>推理时计算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777240" y="475488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同一个模型，多想几步、多采样几次再投票，难题正确率会上升；代价是更慢、更贵——思考过程的 token 也计费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6172200" y="4389120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和正文的关系</a:t>
            </a:r>
            <a:endParaRPr sz="15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6172200" y="47548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“按人的偏好打分”是迎合的来源（正文第 10、14 页）；思考模式能减少粗心错，但算错、编来源一样会发生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11" name="Connector 110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F9  多模态：图怎么进模型，图片和视频又是怎么画出来的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看图：把图切成小块，每块当一个 token；画图：从一团噪声开始，一步步去噪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来源：Dosovitskiy 等 2020（ViT）；Radford 等 2021（CLIP）；Ho 等 2020（DDPM）；图为本稿挡块图纸局部，切块与去噪为示意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486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417320" y="5806440"/>
            <a:ext cx="1022573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“能看图”有档次：分辨率、切块方式、图有没有真的送进模型，决定了它能看见什么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8" name="Picture 87" descr="f9_pat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2743200" cy="274320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548640" y="46634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挡块图纸局部切成小块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每块变成一个向量（示意）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3474720" y="1874519"/>
            <a:ext cx="393192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474720" y="1874519"/>
            <a:ext cx="64008" cy="1325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75887" y="1965960"/>
            <a:ext cx="360273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看图：ViT（2020）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3675887" y="2313432"/>
            <a:ext cx="3602736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把图切成 16×16 像素的小块，每块当一个“词”，和文字一样进 Transformer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3474720" y="3291840"/>
            <a:ext cx="393192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474720" y="3291840"/>
            <a:ext cx="64008" cy="13258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75887" y="3383280"/>
            <a:ext cx="360273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</a:rPr>
              <a:t>图文对齐：CLIP（2021）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3675887" y="3730752"/>
            <a:ext cx="3602736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约 4 亿对“图片—说明文字”训练，让图和字落在同一个向量空间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7589520" y="1874519"/>
            <a:ext cx="4050791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589520" y="1874519"/>
            <a:ext cx="64008" cy="13258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790688" y="1965960"/>
            <a:ext cx="3721607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</a:rPr>
              <a:t>画图：扩散模型（2020）</a:t>
            </a:r>
            <a:endParaRPr sz="14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7790688" y="2313432"/>
            <a:ext cx="3721607" cy="822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从纯噪声出发，每一步去掉一点噪声；视频生成把这一步扩展到时间轴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2" name="Picture 101" descr="f9_dif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3310128"/>
            <a:ext cx="4050791" cy="946446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7589520" y="4343400"/>
            <a:ext cx="4050791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</a:rPr>
              <a:t>噪声  →  逐步去噪  →  图像（示意）</a:t>
            </a:r>
            <a:endParaRPr sz="11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3474720" y="4800600"/>
            <a:ext cx="8165592" cy="685800"/>
          </a:xfrm>
          <a:prstGeom prst="rect">
            <a:avLst/>
          </a:prstGeom>
          <a:solidFill>
            <a:srgbClr val="FBE9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474720" y="4800600"/>
            <a:ext cx="64008" cy="6858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703320" y="4901184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</a:rPr>
              <a:t>和图纸案例的关系：只靠 OCR 的配置零命中（正文第 31 页）——图里的线、尺寸和符号根本没有进模型</a:t>
            </a:r>
            <a:endParaRPr sz="12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7" name="Connector 106"/>
          <p:cNvCxnSpPr/>
          <p:nvPr/>
        </p:nvCxnSpPr>
        <p:spPr>
          <a:xfrm>
            <a:off x="548640" y="5824727"/>
            <a:ext cx="11094414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参考资料与来源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按编号归档；另有可直接点开的原链接清单，正文页脚都指到这里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公司档案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订阅与开通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资讯与榜单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分享与工具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E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  原理与历史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参考资料与案例来源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逐页来源、原稿查询日期与当前稿口径说明，见配套46中的来源索引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来源：S01–S58，本地案例；E2／E3／Z2／Z3 新增来源见备注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623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打开完整来源与案例索引 ›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035040" y="56235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十份鹈鹕同时播放 ›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8640" y="1810512"/>
            <a:ext cx="11091672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1810512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资料组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770632" y="1810512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来源编号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330952" y="1810512"/>
            <a:ext cx="61630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查询内容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219456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219456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模型与参数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770632" y="21945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S01–S08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30952" y="219456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官方型号文档、上下文、模态和 API 价格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219456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52" name="Rectangle 51"/>
          <p:cNvSpPr/>
          <p:nvPr/>
        </p:nvSpPr>
        <p:spPr>
          <a:xfrm>
            <a:off x="548640" y="2560320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25603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能力与成本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770632" y="25603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S09–S16、S37–S38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30952" y="256032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具体配置页面，Terminal-Bench 版本与方法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548640" y="256032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57" name="Rectangle 56"/>
          <p:cNvSpPr/>
          <p:nvPr/>
        </p:nvSpPr>
        <p:spPr>
          <a:xfrm>
            <a:off x="548640" y="2926079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292607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订阅与工具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770632" y="292607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S17–S27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330952" y="292607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订阅权益、地区价、服务变更与 GSD 迁移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48640" y="292607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62" name="Rectangle 61"/>
          <p:cNvSpPr/>
          <p:nvPr/>
        </p:nvSpPr>
        <p:spPr>
          <a:xfrm>
            <a:off x="548640" y="3291839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" y="329183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政策与安全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770632" y="329183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S28–S32、S36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30952" y="329183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网信办公告、使用政策、注入研究与密钥报告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548640" y="329183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67" name="Rectangle 66"/>
          <p:cNvSpPr/>
          <p:nvPr/>
        </p:nvSpPr>
        <p:spPr>
          <a:xfrm>
            <a:off x="548640" y="3657599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365759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破限与诉讼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770632" y="365759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S39–S44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330952" y="365759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破限工具文档；Hugging Face 事件与起诉报道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1" name="Connector 70"/>
          <p:cNvCxnSpPr/>
          <p:nvPr/>
        </p:nvCxnSpPr>
        <p:spPr>
          <a:xfrm>
            <a:off x="548640" y="365759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72" name="Rectangle 71"/>
          <p:cNvSpPr/>
          <p:nvPr/>
        </p:nvSpPr>
        <p:spPr>
          <a:xfrm>
            <a:off x="548640" y="4023359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8368" y="402335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攻防事件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770632" y="402335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S45–S50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330952" y="402335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韩国银行被 Agent 打穿；归因、时间线与监管要求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6" name="Connector 75"/>
          <p:cNvCxnSpPr/>
          <p:nvPr/>
        </p:nvCxnSpPr>
        <p:spPr>
          <a:xfrm>
            <a:off x="548640" y="402335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77" name="Rectangle 76"/>
          <p:cNvSpPr/>
          <p:nvPr/>
        </p:nvSpPr>
        <p:spPr>
          <a:xfrm>
            <a:off x="548640" y="438912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8368" y="43891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社区与客户端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770632" y="43891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S51–S56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330952" y="438912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站案例帖、软件官网、多开与加密锁说明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548640" y="438912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2" name="Rectangle 81"/>
          <p:cNvSpPr/>
          <p:nvPr/>
        </p:nvSpPr>
        <p:spPr>
          <a:xfrm>
            <a:off x="548640" y="4754880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8368" y="47548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历史与原理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770632" y="47548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S33–S35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330952" y="475488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Transformer、数学神经元与感知机原论文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6" name="Connector 85"/>
          <p:cNvCxnSpPr/>
          <p:nvPr/>
        </p:nvCxnSpPr>
        <p:spPr>
          <a:xfrm>
            <a:off x="548640" y="475488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  <p:sp>
        <p:nvSpPr>
          <p:cNvPr id="87" name="Rectangle 86"/>
          <p:cNvSpPr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8368" y="51206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本地案例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770632" y="51206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配套案例索引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330952" y="512064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图纸、清单、四份报告、10 份原始 HTML 与复核口径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1" name="Connector 90"/>
          <p:cNvCxnSpPr/>
          <p:nvPr/>
        </p:nvCxnSpPr>
        <p:spPr>
          <a:xfrm>
            <a:off x="548640" y="512064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</p:cxn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Z2  链接清单（一）：官方原文与事件报道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按用途分组；这里是可以直接点开的原链接，Z1 那份表里的编号对得上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说明：链接为 2026-10-18 核对；第三方站点内容可能变动，引用前先复核一遍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官方与政策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029967"/>
            <a:ext cx="5303519" cy="0"/>
          </a:xfrm>
          <a:prstGeom prst="line">
            <a:avLst/>
          </a:prstGeom>
          <a:ln w="12700">
            <a:solidFill>
              <a:srgbClr val="0F766E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48640" y="212140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使用政策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https://openai.com/policies/usage-policies/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68833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使用政策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289864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3"/>
              </a:rPr>
              <a:t>https://www.anthropic.com/legal/aup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325526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OWASP LLM Top 10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346557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4"/>
              </a:rPr>
              <a:t>https://genai.owasp.org/llm-top-10/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3822191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网信办生成式 AI 备案公告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403250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5"/>
              </a:rPr>
              <a:t>https://www.cac.gov.cn/2026-09/14/c_1791136833136332.htm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5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44768" y="1755648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事件与判例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144768" y="2029967"/>
            <a:ext cx="5303520" cy="0"/>
          </a:xfrm>
          <a:prstGeom prst="line">
            <a:avLst/>
          </a:prstGeom>
          <a:ln w="12700">
            <a:solidFill>
              <a:srgbClr val="0F766E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144768" y="212140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Hugging Face 事件公告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44768" y="233172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6"/>
              </a:rPr>
              <a:t>https://huggingface.co/blog/security-incident-july-2026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6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44768" y="2724912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对该事件的说明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44768" y="293522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7"/>
              </a:rPr>
              <a:t>https://openai.com/index/hugging-face-model-evaluation-security-incident/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44768" y="332841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BBC：这次入侵有多值得担心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44768" y="353872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8"/>
              </a:rPr>
              <a:t>https://www.bbc.com/news/articles/cd9w22n9e4go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8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44768" y="393192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CNBC：首例 AI 自主攻击被诉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44768" y="4142232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9"/>
              </a:rPr>
              <a:t>https://www.cnbc.com/2026/09/30/openai-sued-cyberattack.html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9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44768" y="453542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CrowdStrike：韩国银行归因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44768" y="474573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0"/>
              </a:rPr>
              <a:t>https://www.crowdstrike.com/en-us/blog/unknown-threat-actor-uses-artex-to-target-south-korean-finance/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44768" y="513892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Record：韩国七家机构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44768" y="534924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1"/>
              </a:rPr>
              <a:t>https://therecord.media/south-korean-bank-hacks-ai-agents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1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写材料只引两类：官方原文，或能打开的一手报道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Z3  链接清单（二）：工具、平台与社区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看仓库判断“它要什么权限、缺哪一层”，看官网判断“厂商怎么说”，看社区判断“大家在踩什么坑”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说明：链接为 2026-10-18 核对；第三方站点内容可能变动，引用前先复核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壳：网关与反代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993392"/>
            <a:ext cx="4617719" cy="0"/>
          </a:xfrm>
          <a:prstGeom prst="line">
            <a:avLst/>
          </a:prstGeom>
          <a:ln w="12700">
            <a:solidFill>
              <a:srgbClr val="0F766E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548640" y="2084831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magpie（本地网关）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https://github.com/yetone/magpie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CLIProxyAPI / CPA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2852928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3"/>
              </a:rPr>
              <a:t>https://github.com/router-for-me/CLIProxyAPI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3218688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dsh-purge（破限插件）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3419856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4"/>
              </a:rPr>
              <a:t>https://github.com/YuJunZhiXue/dsh-purge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4617720" cy="31089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企业平台：可以直接部署的两个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4242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MOVO（DSH 企业版）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5"/>
              </a:rPr>
              <a:t>https://github.com/himovo/movo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5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4773168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MOVO 中文说明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4965192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6"/>
              </a:rPr>
              <a:t>https://github.com/himovo/movo/blob/main/README.zh-CN.md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6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5303520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AgenTeam 群策（多 Agent）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495544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7"/>
              </a:rPr>
              <a:t>https://github.com/Stonewuu/agenteam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44768" y="1719072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社区与客户端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6144768" y="1993391"/>
            <a:ext cx="5303520" cy="0"/>
          </a:xfrm>
          <a:prstGeom prst="line">
            <a:avLst/>
          </a:prstGeom>
          <a:ln w="12700">
            <a:solidFill>
              <a:srgbClr val="0F766E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144768" y="2084831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站：*果 去广告会员版帖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44768" y="2286000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8"/>
              </a:rPr>
              <a:t>https://linux.do/t/topic/2779542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8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44768" y="26517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站：**模拟器 绿色多开帖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44768" y="2852928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9"/>
              </a:rPr>
              <a:t>https://linux.do/t/topic/1516872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9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44768" y="321868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**造价软件 官网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44768" y="3419856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0"/>
              </a:rPr>
              <a:t>http://smartcost.com.cn/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44768" y="3785615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MuMu 官方多开说明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44768" y="3986783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1"/>
              </a:rPr>
              <a:t>https://mumu.163.com/help/20210913/35047_971679.html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1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44768" y="435254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看雪：加密锁破解经验帖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44768" y="4553712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2"/>
              </a:rPr>
              <a:t>https://bbs.kanxue.com/thread-255826.htm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44768" y="4919472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GitHub：*果 广告形态适配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44768" y="5120640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3"/>
              </a:rPr>
              <a:t>https://github.com/clarithromycine/ad-auto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86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417320" y="5806440"/>
            <a:ext cx="1022299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引社区帖只证明“有人在这么做”，不提供做法本身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9525">
            <a:solidFill>
              <a:srgbClr val="C9C5BB"/>
            </a:solidFill>
          </a:ln>
        </p:spPr>
      </p:cxn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D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E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G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H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J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53113</Words>
  <Application>WPS 演示</Application>
  <PresentationFormat>On-screen Show (4:3)</PresentationFormat>
  <Paragraphs>6989</Paragraphs>
  <Slides>140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140</vt:i4>
      </vt:variant>
    </vt:vector>
  </HeadingPairs>
  <TitlesOfParts>
    <vt:vector size="14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张伟</cp:lastModifiedBy>
  <cp:revision>6</cp:revision>
  <dcterms:created xsi:type="dcterms:W3CDTF">2013-01-27T09:14:00Z</dcterms:created>
  <dcterms:modified xsi:type="dcterms:W3CDTF">2026-10-22T11:19:26Z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80D22638469144D3B2B8B93CE367ADD6_12</vt:lpwstr>
  </property>
</Properties>
</file>