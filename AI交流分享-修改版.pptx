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0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310" r:id="rId62"/>
    <p:sldId id="311" r:id="rId63"/>
    <p:sldId id="312" r:id="rId64"/>
    <p:sldId id="313" r:id="rId65"/>
    <p:sldId id="267" r:id="rId19"/>
    <p:sldId id="268" r:id="rId20"/>
    <p:sldId id="265" r:id="rId17"/>
    <p:sldId id="269" r:id="rId21"/>
    <p:sldId id="270" r:id="rId22"/>
    <p:sldId id="271" r:id="rId23"/>
    <p:sldId id="314" r:id="rId66"/>
    <p:sldId id="315" r:id="rId67"/>
    <p:sldId id="316" r:id="rId68"/>
    <p:sldId id="280" r:id="rId32"/>
    <p:sldId id="281" r:id="rId33"/>
    <p:sldId id="282" r:id="rId34"/>
    <p:sldId id="283" r:id="rId35"/>
    <p:sldId id="284" r:id="rId36"/>
    <p:sldId id="317" r:id="rId69"/>
    <p:sldId id="287" r:id="rId39"/>
    <p:sldId id="288" r:id="rId40"/>
    <p:sldId id="289" r:id="rId41"/>
    <p:sldId id="318" r:id="rId70"/>
    <p:sldId id="290" r:id="rId42"/>
    <p:sldId id="291" r:id="rId43"/>
    <p:sldId id="319" r:id="rId71"/>
    <p:sldId id="292" r:id="rId44"/>
    <p:sldId id="293" r:id="rId45"/>
    <p:sldId id="294" r:id="rId46"/>
    <p:sldId id="295" r:id="rId47"/>
    <p:sldId id="320" r:id="rId72"/>
    <p:sldId id="321" r:id="rId73"/>
    <p:sldId id="296" r:id="rId48"/>
    <p:sldId id="322" r:id="rId74"/>
    <p:sldId id="297" r:id="rId49"/>
    <p:sldId id="298" r:id="rId50"/>
    <p:sldId id="323" r:id="rId75"/>
    <p:sldId id="324" r:id="rId76"/>
    <p:sldId id="325" r:id="rId77"/>
    <p:sldId id="300" r:id="rId52"/>
    <p:sldId id="301" r:id="rId53"/>
    <p:sldId id="326" r:id="rId78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7" Type="http://schemas.openxmlformats.org/officeDocument/2006/relationships/slide" Target="slides/slide10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学到的规律（函数）</c:v>
                </c:pt>
              </c:strCache>
            </c:strRef>
          </c:tx>
          <c:spPr>
            <a:ln w="38100">
              <a:solidFill>
                <a:srgbClr val="F28C38"/>
              </a:solidFill>
            </a:ln>
          </c:spPr>
          <c:marker>
            <c:symbol val="none"/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0.3</c:v>
                </c:pt>
                <c:pt idx="1">
                  <c:v>0.53</c:v>
                </c:pt>
                <c:pt idx="2">
                  <c:v>0.76</c:v>
                </c:pt>
                <c:pt idx="3">
                  <c:v>0.99</c:v>
                </c:pt>
                <c:pt idx="4">
                  <c:v>1.22</c:v>
                </c:pt>
                <c:pt idx="5">
                  <c:v>1.4500000000000002</c:v>
                </c:pt>
                <c:pt idx="6">
                  <c:v>1.6800000000000002</c:v>
                </c:pt>
                <c:pt idx="7">
                  <c:v>1.9100000000000001</c:v>
                </c:pt>
                <c:pt idx="8">
                  <c:v>2.14</c:v>
                </c:pt>
                <c:pt idx="9">
                  <c:v>2.37</c:v>
                </c:pt>
                <c:pt idx="10">
                  <c:v>2.6</c:v>
                </c:pt>
                <c:pt idx="11">
                  <c:v>2.83</c:v>
                </c:pt>
                <c:pt idx="12">
                  <c:v>3.06</c:v>
                </c:pt>
                <c:pt idx="13">
                  <c:v>3.29</c:v>
                </c:pt>
                <c:pt idx="14">
                  <c:v>3.52</c:v>
                </c:pt>
                <c:pt idx="15">
                  <c:v>3.75</c:v>
                </c:pt>
                <c:pt idx="16">
                  <c:v>3.98</c:v>
                </c:pt>
                <c:pt idx="17">
                  <c:v>4.21</c:v>
                </c:pt>
                <c:pt idx="18">
                  <c:v>4.44</c:v>
                </c:pt>
                <c:pt idx="19">
                  <c:v>4.67</c:v>
                </c:pt>
                <c:pt idx="20">
                  <c:v>4.9</c:v>
                </c:pt>
                <c:pt idx="21">
                  <c:v>5.13</c:v>
                </c:pt>
                <c:pt idx="22">
                  <c:v>5.36</c:v>
                </c:pt>
                <c:pt idx="23">
                  <c:v>5.59</c:v>
                </c:pt>
                <c:pt idx="24">
                  <c:v>5.82</c:v>
                </c:pt>
                <c:pt idx="25">
                  <c:v>6.05</c:v>
                </c:pt>
                <c:pt idx="26">
                  <c:v>6.28</c:v>
                </c:pt>
                <c:pt idx="27">
                  <c:v>6.51</c:v>
                </c:pt>
                <c:pt idx="28">
                  <c:v>6.74</c:v>
                </c:pt>
                <c:pt idx="29">
                  <c:v>6.97</c:v>
                </c:pt>
                <c:pt idx="30">
                  <c:v>7.2</c:v>
                </c:pt>
                <c:pt idx="31">
                  <c:v>7.43</c:v>
                </c:pt>
                <c:pt idx="32">
                  <c:v>7.66</c:v>
                </c:pt>
                <c:pt idx="33">
                  <c:v>7.890000000000001</c:v>
                </c:pt>
                <c:pt idx="34">
                  <c:v>8.120000000000001</c:v>
                </c:pt>
                <c:pt idx="35">
                  <c:v>8.350000000000001</c:v>
                </c:pt>
                <c:pt idx="36">
                  <c:v>8.580000000000002</c:v>
                </c:pt>
                <c:pt idx="37">
                  <c:v>8.81</c:v>
                </c:pt>
                <c:pt idx="38">
                  <c:v>9.040000000000001</c:v>
                </c:pt>
                <c:pt idx="39">
                  <c:v>9.270000000000001</c:v>
                </c:pt>
                <c:pt idx="40">
                  <c:v>9.500000000000002</c:v>
                </c:pt>
              </c:numCache>
            </c:numRef>
          </c:xVal>
          <c:yVal>
            <c:numRef>
              <c:f>Sheet1!$B$2:$B$42</c:f>
              <c:numCache>
                <c:formatCode>General</c:formatCode>
                <c:ptCount val="41"/>
                <c:pt idx="0">
                  <c:v>1.259130272385896</c:v>
                </c:pt>
                <c:pt idx="1">
                  <c:v>1.6732670356360766</c:v>
                </c:pt>
                <c:pt idx="2">
                  <c:v>2.0241564213475156</c:v>
                </c:pt>
                <c:pt idx="3">
                  <c:v>2.319489318051612</c:v>
                </c:pt>
                <c:pt idx="4">
                  <c:v>2.5646115777477076</c:v>
                </c:pt>
                <c:pt idx="5">
                  <c:v>2.76434995094133</c:v>
                </c:pt>
                <c:pt idx="6">
                  <c:v>2.923958241878633</c:v>
                </c:pt>
                <c:pt idx="7">
                  <c:v>3.049530237652438</c:v>
                </c:pt>
                <c:pt idx="8">
                  <c:v>3.148052262290238</c:v>
                </c:pt>
                <c:pt idx="9">
                  <c:v>3.2272012961450094</c:v>
                </c:pt>
                <c:pt idx="10">
                  <c:v>3.2949689375692137</c:v>
                </c:pt>
                <c:pt idx="11">
                  <c:v>3.3591816956938834</c:v>
                </c:pt>
                <c:pt idx="12">
                  <c:v>3.4269833040685</c:v>
                </c:pt>
                <c:pt idx="13">
                  <c:v>3.5043399624918115</c:v>
                </c:pt>
                <c:pt idx="14">
                  <c:v>3.595622428738281</c:v>
                </c:pt>
                <c:pt idx="15">
                  <c:v>3.703308944871472</c:v>
                </c:pt>
                <c:pt idx="16">
                  <c:v>3.827840234247007</c:v>
                </c:pt>
                <c:pt idx="17">
                  <c:v>3.9676429571593936</c:v>
                </c:pt>
                <c:pt idx="18">
                  <c:v>4.119322137356254</c:v>
                </c:pt>
                <c:pt idx="19">
                  <c:v>4.278007428548318</c:v>
                </c:pt>
                <c:pt idx="20">
                  <c:v>4.437823975262599</c:v>
                </c:pt>
                <c:pt idx="21">
                  <c:v>4.592447229403251</c:v>
                </c:pt>
                <c:pt idx="22">
                  <c:v>4.735693385118159</c:v>
                </c:pt>
                <c:pt idx="23">
                  <c:v>4.862093747457544</c:v>
                </c:pt>
                <c:pt idx="24">
                  <c:v>4.96740263437153</c:v>
                </c:pt>
                <c:pt idx="25">
                  <c:v>5.048994200776777</c:v>
                </c:pt>
                <c:pt idx="26">
                  <c:v>5.106113345501077</c:v>
                </c:pt>
                <c:pt idx="27">
                  <c:v>5.139958743670578</c:v>
                </c:pt>
                <c:pt idx="28">
                  <c:v>5.1535908910555035</c:v>
                </c:pt>
                <c:pt idx="29">
                  <c:v>5.151673532611621</c:v>
                </c:pt>
                <c:pt idx="30">
                  <c:v>5.140071598405337</c:v>
                </c:pt>
                <c:pt idx="31">
                  <c:v>5.125341475548952</c:v>
                </c:pt>
                <c:pt idx="32">
                  <c:v>5.114158975904795</c:v>
                </c:pt>
                <c:pt idx="33">
                  <c:v>5.112735869345836</c:v>
                </c:pt>
                <c:pt idx="34">
                  <c:v>5.126276851546147</c:v>
                </c:pt>
                <c:pt idx="35">
                  <c:v>5.158525214333297</c:v>
                </c:pt>
                <c:pt idx="36">
                  <c:v>5.211437604617735</c:v>
                </c:pt>
                <c:pt idx="37">
                  <c:v>5.285016793864785</c:v>
                </c:pt>
                <c:pt idx="38">
                  <c:v>5.377317350973179</c:v>
                </c:pt>
                <c:pt idx="39">
                  <c:v>5.484623761926446</c:v>
                </c:pt>
                <c:pt idx="40">
                  <c:v>5.601785231561346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Sheet1!$B$44</c:f>
              <c:strCache>
                <c:ptCount val="1"/>
                <c:pt idx="0">
                  <c:v>例子（数据点）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1FA7B8"/>
              </a:solidFill>
              <a:ln>
                <a:noFill/>
              </a:ln>
            </c:spPr>
          </c:marker>
          <c:xVal>
            <c:numRef>
              <c:f>Sheet1!$A$45:$A$59</c:f>
              <c:numCache>
                <c:formatCode>General</c:formatCode>
                <c:ptCount val="15"/>
                <c:pt idx="0">
                  <c:v>0.5</c:v>
                </c:pt>
                <c:pt idx="1">
                  <c:v>1.1</c:v>
                </c:pt>
                <c:pt idx="2">
                  <c:v>1.6</c:v>
                </c:pt>
                <c:pt idx="3">
                  <c:v>2.2</c:v>
                </c:pt>
                <c:pt idx="4">
                  <c:v>2.9</c:v>
                </c:pt>
                <c:pt idx="5">
                  <c:v>3.4</c:v>
                </c:pt>
                <c:pt idx="6">
                  <c:v>4.1</c:v>
                </c:pt>
                <c:pt idx="7">
                  <c:v>4.6</c:v>
                </c:pt>
                <c:pt idx="8">
                  <c:v>5.3</c:v>
                </c:pt>
                <c:pt idx="9">
                  <c:v>5.9</c:v>
                </c:pt>
                <c:pt idx="10">
                  <c:v>6.5</c:v>
                </c:pt>
                <c:pt idx="11">
                  <c:v>7.2</c:v>
                </c:pt>
                <c:pt idx="12">
                  <c:v>7.8</c:v>
                </c:pt>
                <c:pt idx="13">
                  <c:v>8.5</c:v>
                </c:pt>
                <c:pt idx="14">
                  <c:v>9.2</c:v>
                </c:pt>
              </c:numCache>
            </c:numRef>
          </c:xVal>
          <c:yVal>
            <c:numRef>
              <c:f>Sheet1!$B$45:$B$59</c:f>
              <c:numCache>
                <c:formatCode>General</c:formatCode>
                <c:ptCount val="15"/>
                <c:pt idx="0">
                  <c:v>1.2</c:v>
                </c:pt>
                <c:pt idx="1">
                  <c:v>2.1</c:v>
                </c:pt>
                <c:pt idx="2">
                  <c:v>2.2</c:v>
                </c:pt>
                <c:pt idx="3">
                  <c:v>3.4</c:v>
                </c:pt>
                <c:pt idx="4">
                  <c:v>3.3</c:v>
                </c:pt>
                <c:pt idx="5">
                  <c:v>4.3</c:v>
                </c:pt>
                <c:pt idx="6">
                  <c:v>4.0</c:v>
                </c:pt>
                <c:pt idx="7">
                  <c:v>4.9</c:v>
                </c:pt>
                <c:pt idx="8">
                  <c:v>4.4</c:v>
                </c:pt>
                <c:pt idx="9">
                  <c:v>5.3</c:v>
                </c:pt>
                <c:pt idx="10">
                  <c:v>4.9</c:v>
                </c:pt>
                <c:pt idx="11">
                  <c:v>5.6</c:v>
                </c:pt>
                <c:pt idx="12">
                  <c:v>5.1</c:v>
                </c:pt>
                <c:pt idx="13">
                  <c:v>5.9</c:v>
                </c:pt>
                <c:pt idx="14">
                  <c:v>5.5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E6EAF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7.0"/>
          <c:min val="0.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E6EAF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6B7685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真实规律</c:v>
                </c:pt>
              </c:strCache>
            </c:strRef>
          </c:tx>
          <c:spPr>
            <a:ln w="57150">
              <a:solidFill>
                <a:srgbClr val="6B7685"/>
              </a:solidFill>
            </a:ln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0.0</c:v>
                </c:pt>
                <c:pt idx="1">
                  <c:v>0.10466666666666667</c:v>
                </c:pt>
                <c:pt idx="2">
                  <c:v>0.20933333333333334</c:v>
                </c:pt>
                <c:pt idx="3">
                  <c:v>0.31400000000000006</c:v>
                </c:pt>
                <c:pt idx="4">
                  <c:v>0.4186666666666667</c:v>
                </c:pt>
                <c:pt idx="5">
                  <c:v>0.5233333333333333</c:v>
                </c:pt>
                <c:pt idx="6">
                  <c:v>0.6280000000000001</c:v>
                </c:pt>
                <c:pt idx="7">
                  <c:v>0.7326666666666667</c:v>
                </c:pt>
                <c:pt idx="8">
                  <c:v>0.8373333333333334</c:v>
                </c:pt>
                <c:pt idx="9">
                  <c:v>0.942</c:v>
                </c:pt>
                <c:pt idx="10">
                  <c:v>1.0466666666666666</c:v>
                </c:pt>
                <c:pt idx="11">
                  <c:v>1.1513333333333333</c:v>
                </c:pt>
                <c:pt idx="12">
                  <c:v>1.2560000000000002</c:v>
                </c:pt>
                <c:pt idx="13">
                  <c:v>1.3606666666666667</c:v>
                </c:pt>
                <c:pt idx="14">
                  <c:v>1.4653333333333334</c:v>
                </c:pt>
                <c:pt idx="15">
                  <c:v>1.57</c:v>
                </c:pt>
                <c:pt idx="16">
                  <c:v>1.6746666666666667</c:v>
                </c:pt>
                <c:pt idx="17">
                  <c:v>1.7793333333333334</c:v>
                </c:pt>
                <c:pt idx="18">
                  <c:v>1.884</c:v>
                </c:pt>
                <c:pt idx="19">
                  <c:v>1.9886666666666666</c:v>
                </c:pt>
                <c:pt idx="20">
                  <c:v>2.0933333333333333</c:v>
                </c:pt>
                <c:pt idx="21">
                  <c:v>2.198</c:v>
                </c:pt>
                <c:pt idx="22">
                  <c:v>2.3026666666666666</c:v>
                </c:pt>
                <c:pt idx="23">
                  <c:v>2.4073333333333338</c:v>
                </c:pt>
                <c:pt idx="24">
                  <c:v>2.5120000000000005</c:v>
                </c:pt>
                <c:pt idx="25">
                  <c:v>2.6166666666666667</c:v>
                </c:pt>
                <c:pt idx="26">
                  <c:v>2.7213333333333334</c:v>
                </c:pt>
                <c:pt idx="27">
                  <c:v>2.826</c:v>
                </c:pt>
                <c:pt idx="28">
                  <c:v>2.9306666666666668</c:v>
                </c:pt>
                <c:pt idx="29">
                  <c:v>3.0353333333333334</c:v>
                </c:pt>
                <c:pt idx="30">
                  <c:v>3.14</c:v>
                </c:pt>
                <c:pt idx="31">
                  <c:v>3.2446666666666673</c:v>
                </c:pt>
                <c:pt idx="32">
                  <c:v>3.3493333333333335</c:v>
                </c:pt>
                <c:pt idx="33">
                  <c:v>3.4540000000000006</c:v>
                </c:pt>
                <c:pt idx="34">
                  <c:v>3.558666666666667</c:v>
                </c:pt>
                <c:pt idx="35">
                  <c:v>3.6633333333333336</c:v>
                </c:pt>
                <c:pt idx="36">
                  <c:v>3.768</c:v>
                </c:pt>
                <c:pt idx="37">
                  <c:v>3.872666666666667</c:v>
                </c:pt>
                <c:pt idx="38">
                  <c:v>3.977333333333333</c:v>
                </c:pt>
                <c:pt idx="39">
                  <c:v>4.082000000000001</c:v>
                </c:pt>
                <c:pt idx="40">
                  <c:v>4.1866666666666665</c:v>
                </c:pt>
                <c:pt idx="41">
                  <c:v>4.291333333333333</c:v>
                </c:pt>
                <c:pt idx="42">
                  <c:v>4.396</c:v>
                </c:pt>
                <c:pt idx="43">
                  <c:v>4.500666666666667</c:v>
                </c:pt>
                <c:pt idx="44">
                  <c:v>4.605333333333333</c:v>
                </c:pt>
                <c:pt idx="45">
                  <c:v>4.71</c:v>
                </c:pt>
                <c:pt idx="46">
                  <c:v>4.8146666666666675</c:v>
                </c:pt>
                <c:pt idx="47">
                  <c:v>4.919333333333333</c:v>
                </c:pt>
                <c:pt idx="48">
                  <c:v>5.024000000000001</c:v>
                </c:pt>
                <c:pt idx="49">
                  <c:v>5.128666666666667</c:v>
                </c:pt>
                <c:pt idx="50">
                  <c:v>5.233333333333333</c:v>
                </c:pt>
                <c:pt idx="51">
                  <c:v>5.338</c:v>
                </c:pt>
                <c:pt idx="52">
                  <c:v>5.442666666666667</c:v>
                </c:pt>
                <c:pt idx="53">
                  <c:v>5.5473333333333334</c:v>
                </c:pt>
                <c:pt idx="54">
                  <c:v>5.652</c:v>
                </c:pt>
                <c:pt idx="55">
                  <c:v>5.756666666666667</c:v>
                </c:pt>
                <c:pt idx="56">
                  <c:v>5.8613333333333335</c:v>
                </c:pt>
                <c:pt idx="57">
                  <c:v>5.966</c:v>
                </c:pt>
                <c:pt idx="58">
                  <c:v>6.070666666666667</c:v>
                </c:pt>
                <c:pt idx="59">
                  <c:v>6.175333333333334</c:v>
                </c:pt>
                <c:pt idx="60">
                  <c:v>6.28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0.0</c:v>
                </c:pt>
                <c:pt idx="1">
                  <c:v>0.19713532152116436</c:v>
                </c:pt>
                <c:pt idx="2">
                  <c:v>0.3840660906743284</c:v>
                </c:pt>
                <c:pt idx="3">
                  <c:v>0.5514863382648713</c:v>
                </c:pt>
                <c:pt idx="4">
                  <c:v>0.691800477198139</c:v>
                </c:pt>
                <c:pt idx="5">
                  <c:v>0.7997700075226528</c:v>
                </c:pt>
                <c:pt idx="6">
                  <c:v>0.8729329385840405</c:v>
                </c:pt>
                <c:pt idx="7">
                  <c:v>0.9117559297806848</c:v>
                </c:pt>
                <c:pt idx="8">
                  <c:v>0.919505242183386</c:v>
                </c:pt>
                <c:pt idx="9">
                  <c:v>0.9018500334547428</c:v>
                </c:pt>
                <c:pt idx="10">
                  <c:v>0.8662376353672906</c:v>
                </c:pt>
                <c:pt idx="11">
                  <c:v>0.8211026745523509</c:v>
                </c:pt>
                <c:pt idx="12">
                  <c:v>0.7749880607554616</c:v>
                </c:pt>
                <c:pt idx="13">
                  <c:v>0.7356643931355493</c:v>
                </c:pt>
                <c:pt idx="14">
                  <c:v>0.7093343912607499</c:v>
                </c:pt>
                <c:pt idx="15">
                  <c:v>0.7000005390155193</c:v>
                </c:pt>
                <c:pt idx="16">
                  <c:v>0.709058061006562</c:v>
                </c:pt>
                <c:pt idx="17">
                  <c:v>0.7351532047521447</c:v>
                </c:pt>
                <c:pt idx="18">
                  <c:v>0.7743207448344558</c:v>
                </c:pt>
                <c:pt idx="19">
                  <c:v>0.8203872066139962</c:v>
                </c:pt>
                <c:pt idx="20">
                  <c:v>0.8656002095183241</c:v>
                </c:pt>
                <c:pt idx="21">
                  <c:v>0.9014221066098297</c:v>
                </c:pt>
                <c:pt idx="22">
                  <c:v>0.9194099225131386</c:v>
                </c:pt>
                <c:pt idx="23">
                  <c:v>0.9120950487210632</c:v>
                </c:pt>
                <c:pt idx="24">
                  <c:v>0.8737760803515245</c:v>
                </c:pt>
                <c:pt idx="25">
                  <c:v>0.8011465800054138</c:v>
                </c:pt>
                <c:pt idx="26">
                  <c:v>0.6936956119078752</c:v>
                </c:pt>
                <c:pt idx="27">
                  <c:v>0.5538410336871437</c:v>
                </c:pt>
                <c:pt idx="28">
                  <c:v>0.3867815993442313</c:v>
                </c:pt>
                <c:pt idx="29">
                  <c:v>0.20008136695120501</c:v>
                </c:pt>
                <c:pt idx="30">
                  <c:v>0.003026035693525382</c:v>
                </c:pt>
                <c:pt idx="31">
                  <c:v>-0.19418689576906428</c:v>
                </c:pt>
                <c:pt idx="32">
                  <c:v>-0.3813460311144314</c:v>
                </c:pt>
                <c:pt idx="33">
                  <c:v>-0.5491253206332634</c:v>
                </c:pt>
                <c:pt idx="34">
                  <c:v>-0.6898977991618641</c:v>
                </c:pt>
                <c:pt idx="35">
                  <c:v>-0.7983853186930427</c:v>
                </c:pt>
                <c:pt idx="36">
                  <c:v>-0.8720817910447589</c:v>
                </c:pt>
                <c:pt idx="37">
                  <c:v>-0.9114095690945413</c:v>
                </c:pt>
                <c:pt idx="38">
                  <c:v>-0.9195946449570056</c:v>
                </c:pt>
                <c:pt idx="39">
                  <c:v>-0.902273783217928</c:v>
                </c:pt>
                <c:pt idx="40">
                  <c:v>-0.8668728542699956</c:v>
                </c:pt>
                <c:pt idx="41">
                  <c:v>-0.8218179307824358</c:v>
                </c:pt>
                <c:pt idx="42">
                  <c:v>-0.7756569797232955</c:v>
                </c:pt>
                <c:pt idx="43">
                  <c:v>-0.7361786331037256</c:v>
                </c:pt>
                <c:pt idx="44">
                  <c:v>-0.7096147077906261</c:v>
                </c:pt>
                <c:pt idx="45">
                  <c:v>-0.7000048511115644</c:v>
                </c:pt>
                <c:pt idx="46">
                  <c:v>-0.7087857267128795</c:v>
                </c:pt>
                <c:pt idx="47">
                  <c:v>-0.7346450863394282</c:v>
                </c:pt>
                <c:pt idx="48">
                  <c:v>-0.7736550571764551</c:v>
                </c:pt>
                <c:pt idx="49">
                  <c:v>-0.8196715564395962</c:v>
                </c:pt>
                <c:pt idx="50">
                  <c:v>-0.8649606074266925</c:v>
                </c:pt>
                <c:pt idx="51">
                  <c:v>-0.9009900314403609</c:v>
                </c:pt>
                <c:pt idx="52">
                  <c:v>-0.9193087097387637</c:v>
                </c:pt>
                <c:pt idx="53">
                  <c:v>-0.912426942182215</c:v>
                </c:pt>
                <c:pt idx="54">
                  <c:v>-0.8746112232364864</c:v>
                </c:pt>
                <c:pt idx="55">
                  <c:v>-0.802515032695913</c:v>
                </c:pt>
                <c:pt idx="56">
                  <c:v>-0.6955831895441569</c:v>
                </c:pt>
                <c:pt idx="57">
                  <c:v>-0.5561893838755332</c:v>
                </c:pt>
                <c:pt idx="58">
                  <c:v>-0.38949252673990664</c:v>
                </c:pt>
                <c:pt idx="59">
                  <c:v>-0.20302499694337925</c:v>
                </c:pt>
                <c:pt idx="60">
                  <c:v>-0.006052034624712207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Sheet1!$B$64</c:f>
              <c:strCache>
                <c:ptCount val="1"/>
                <c:pt idx="0">
                  <c:v>4 个神经元：粗糙</c:v>
                </c:pt>
              </c:strCache>
            </c:strRef>
          </c:tx>
          <c:spPr>
            <a:ln w="28575">
              <a:solidFill>
                <a:srgbClr val="1FA7B8"/>
              </a:solidFill>
            </a:ln>
          </c:spPr>
          <c:marker>
            <c:symbol val="none"/>
          </c:marker>
          <c:xVal>
            <c:numRef>
              <c:f>Sheet1!$A$65:$A$69</c:f>
              <c:numCache>
                <c:formatCode>General</c:formatCode>
                <c:ptCount val="5"/>
                <c:pt idx="0">
                  <c:v>0.0</c:v>
                </c:pt>
                <c:pt idx="1">
                  <c:v>1.57</c:v>
                </c:pt>
                <c:pt idx="2">
                  <c:v>3.14</c:v>
                </c:pt>
                <c:pt idx="3">
                  <c:v>4.71</c:v>
                </c:pt>
                <c:pt idx="4">
                  <c:v>6.28</c:v>
                </c:pt>
              </c:numCache>
            </c:numRef>
          </c:xVal>
          <c:yVal>
            <c:numRef>
              <c:f>Sheet1!$B$65:$B$69</c:f>
              <c:numCache>
                <c:formatCode>General</c:formatCode>
                <c:ptCount val="5"/>
                <c:pt idx="0">
                  <c:v>0.0</c:v>
                </c:pt>
                <c:pt idx="1">
                  <c:v>0.7000005390155193</c:v>
                </c:pt>
                <c:pt idx="2">
                  <c:v>0.003026035693525382</c:v>
                </c:pt>
                <c:pt idx="3">
                  <c:v>-0.7000048511115644</c:v>
                </c:pt>
                <c:pt idx="4">
                  <c:v>-0.006052034624712207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Sheet1!$B$71</c:f>
              <c:strCache>
                <c:ptCount val="1"/>
                <c:pt idx="0">
                  <c:v>16 个神经元：几乎重合</c:v>
                </c:pt>
              </c:strCache>
            </c:strRef>
          </c:tx>
          <c:spPr>
            <a:ln w="28575">
              <a:solidFill>
                <a:srgbClr val="F28C38"/>
              </a:solidFill>
            </a:ln>
          </c:spPr>
          <c:marker>
            <c:symbol val="none"/>
          </c:marker>
          <c:xVal>
            <c:numRef>
              <c:f>Sheet1!$A$72:$A$88</c:f>
              <c:numCache>
                <c:formatCode>General</c:formatCode>
                <c:ptCount val="17"/>
                <c:pt idx="0">
                  <c:v>0.0</c:v>
                </c:pt>
                <c:pt idx="1">
                  <c:v>0.3925</c:v>
                </c:pt>
                <c:pt idx="2">
                  <c:v>0.785</c:v>
                </c:pt>
                <c:pt idx="3">
                  <c:v>1.1775</c:v>
                </c:pt>
                <c:pt idx="4">
                  <c:v>1.57</c:v>
                </c:pt>
                <c:pt idx="5">
                  <c:v>1.9625000000000001</c:v>
                </c:pt>
                <c:pt idx="6">
                  <c:v>2.355</c:v>
                </c:pt>
                <c:pt idx="7">
                  <c:v>2.7475</c:v>
                </c:pt>
                <c:pt idx="8">
                  <c:v>3.14</c:v>
                </c:pt>
                <c:pt idx="9">
                  <c:v>3.5325</c:v>
                </c:pt>
                <c:pt idx="10">
                  <c:v>3.9250000000000003</c:v>
                </c:pt>
                <c:pt idx="11">
                  <c:v>4.3175</c:v>
                </c:pt>
                <c:pt idx="12">
                  <c:v>4.71</c:v>
                </c:pt>
                <c:pt idx="13">
                  <c:v>5.1025</c:v>
                </c:pt>
                <c:pt idx="14">
                  <c:v>5.495</c:v>
                </c:pt>
                <c:pt idx="15">
                  <c:v>5.8875</c:v>
                </c:pt>
                <c:pt idx="16">
                  <c:v>6.28</c:v>
                </c:pt>
              </c:numCache>
            </c:numRef>
          </c:xVal>
          <c:yVal>
            <c:numRef>
              <c:f>Sheet1!$B$72:$B$88</c:f>
              <c:numCache>
                <c:formatCode>General</c:formatCode>
                <c:ptCount val="17"/>
                <c:pt idx="0">
                  <c:v>0.0</c:v>
                </c:pt>
                <c:pt idx="1">
                  <c:v>0.6595947408600529</c:v>
                </c:pt>
                <c:pt idx="2">
                  <c:v>0.9192104536998956</c:v>
                </c:pt>
                <c:pt idx="3">
                  <c:v>0.8093425705199212</c:v>
                </c:pt>
                <c:pt idx="4">
                  <c:v>0.7000005390155193</c:v>
                </c:pt>
                <c:pt idx="5">
                  <c:v>0.8086278107090878</c:v>
                </c:pt>
                <c:pt idx="6">
                  <c:v>0.9193214137077631</c:v>
                </c:pt>
                <c:pt idx="7">
                  <c:v>0.6616119562595848</c:v>
                </c:pt>
                <c:pt idx="8">
                  <c:v>0.003026035693525382</c:v>
                </c:pt>
                <c:pt idx="9">
                  <c:v>-0.6575702294632666</c:v>
                </c:pt>
                <c:pt idx="10">
                  <c:v>-0.9190928522833435</c:v>
                </c:pt>
                <c:pt idx="11">
                  <c:v>-0.8100575969764686</c:v>
                </c:pt>
                <c:pt idx="12">
                  <c:v>-0.7000048511115644</c:v>
                </c:pt>
                <c:pt idx="13">
                  <c:v>-0.8079133462229863</c:v>
                </c:pt>
                <c:pt idx="14">
                  <c:v>-0.9194257526174797</c:v>
                </c:pt>
                <c:pt idx="15">
                  <c:v>-0.6636218594622553</c:v>
                </c:pt>
                <c:pt idx="16">
                  <c:v>-0.006052034624712207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6B7685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美国闭源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0B1F3A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0B1F3A"/>
                        </a:solidFill>
                        <a:latin typeface="Microsoft YaHei"/>
                      </a:rPr>
                      <a:t>Opus 5.5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0B1F3A"/>
                        </a:solidFill>
                        <a:latin typeface="Microsoft YaHei"/>
                      </a:rPr>
                      <a:t>Sonnet 5.5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0B1F3A"/>
                        </a:solidFill>
                        <a:latin typeface="Microsoft YaHei"/>
                      </a:rPr>
                      <a:t>Gemini 4 Argon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0B1F3A"/>
                        </a:solidFill>
                        <a:latin typeface="Microsoft YaHei"/>
                      </a:rPr>
                      <a:t>GPT-6 Astra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0B1F3A"/>
                        </a:solidFill>
                        <a:latin typeface="Microsoft YaHei"/>
                      </a:rPr>
                      <a:t>GPT-6.1 Sol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0B1F3A"/>
                        </a:solidFill>
                        <a:latin typeface="Microsoft YaHei"/>
                      </a:rPr>
                      <a:t>Grok 4.7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Sheet1!$A$2:$A$7</c:f>
              <c:numCache>
                <c:formatCode>General</c:formatCode>
                <c:ptCount val="6"/>
                <c:pt idx="0">
                  <c:v>5.98</c:v>
                </c:pt>
                <c:pt idx="1">
                  <c:v>5.46</c:v>
                </c:pt>
                <c:pt idx="2">
                  <c:v>1.99</c:v>
                </c:pt>
                <c:pt idx="3">
                  <c:v>3.26</c:v>
                </c:pt>
                <c:pt idx="4">
                  <c:v>0.72</c:v>
                </c:pt>
                <c:pt idx="5">
                  <c:v>3.74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56</c:v>
                </c:pt>
                <c:pt idx="2">
                  <c:v>53</c:v>
                </c:pt>
                <c:pt idx="3">
                  <c:v>53</c:v>
                </c:pt>
                <c:pt idx="4">
                  <c:v>52</c:v>
                </c:pt>
                <c:pt idx="5">
                  <c:v>46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中国模型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F28C38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F28C38"/>
                        </a:solidFill>
                        <a:latin typeface="Microsoft YaHei"/>
                      </a:rPr>
                      <a:t>MiMo-V2.6-Pro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F28C38"/>
                        </a:solidFill>
                        <a:latin typeface="Microsoft YaHei"/>
                      </a:rPr>
                      <a:t>Qwen3.8-Max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F28C38"/>
                        </a:solidFill>
                        <a:latin typeface="Microsoft YaHei"/>
                      </a:rPr>
                      <a:t>GLM-5.3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F28C38"/>
                        </a:solidFill>
                        <a:latin typeface="Microsoft YaHei"/>
                      </a:rPr>
                      <a:t>Kimi K3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Sheet1!$A$10:$A$13</c:f>
              <c:numCache>
                <c:formatCode>General</c:formatCode>
                <c:ptCount val="4"/>
                <c:pt idx="0">
                  <c:v>0.13</c:v>
                </c:pt>
                <c:pt idx="1">
                  <c:v>5.41</c:v>
                </c:pt>
                <c:pt idx="2">
                  <c:v>2.01</c:v>
                </c:pt>
                <c:pt idx="3">
                  <c:v>2.0</c:v>
                </c:pt>
              </c:numCache>
            </c:numRef>
          </c:xVal>
          <c:yVal>
            <c:numRef>
              <c:f>Sheet1!$B$10:$B$13</c:f>
              <c:numCache>
                <c:formatCode>General</c:formatCode>
                <c:ptCount val="4"/>
                <c:pt idx="0">
                  <c:v>46</c:v>
                </c:pt>
                <c:pt idx="1">
                  <c:v>45</c:v>
                </c:pt>
                <c:pt idx="2">
                  <c:v>45</c:v>
                </c:pt>
                <c:pt idx="3">
                  <c:v>44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Sheet1!$B$15</c:f>
              <c:strCache>
                <c:ptCount val="1"/>
                <c:pt idx="0">
                  <c:v>Opus 5.5 思考档位</c:v>
                </c:pt>
              </c:strCache>
            </c:strRef>
          </c:tx>
          <c:spPr>
            <a:ln w="19050">
              <a:solidFill>
                <a:srgbClr val="6B7685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6B7685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6B7685"/>
                        </a:solidFill>
                        <a:latin typeface="Microsoft YaHei"/>
                      </a:rPr>
                      <a:t>low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6B7685"/>
                        </a:solidFill>
                        <a:latin typeface="Microsoft YaHei"/>
                      </a:rPr>
                      <a:t>medium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6B7685"/>
                        </a:solidFill>
                        <a:latin typeface="Microsoft YaHei"/>
                      </a:rPr>
                      <a:t> 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Sheet1!$A$16:$A$18</c:f>
              <c:numCache>
                <c:formatCode>General</c:formatCode>
                <c:ptCount val="3"/>
                <c:pt idx="0">
                  <c:v>0.55</c:v>
                </c:pt>
                <c:pt idx="1">
                  <c:v>1.34</c:v>
                </c:pt>
                <c:pt idx="2">
                  <c:v>5.98</c:v>
                </c:pt>
              </c:numCache>
            </c:numRef>
          </c:xVal>
          <c:yVal>
            <c:numRef>
              <c:f>Sheet1!$B$16:$B$18</c:f>
              <c:numCache>
                <c:formatCode>General</c:formatCode>
                <c:ptCount val="3"/>
                <c:pt idx="0">
                  <c:v>42</c:v>
                </c:pt>
                <c:pt idx="1">
                  <c:v>51</c:v>
                </c:pt>
                <c:pt idx="2">
                  <c:v>58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10.0"/>
          <c:min val="0.1"/>
        </c:scaling>
        <c:delete val="0"/>
        <c:axPos val="b"/>
        <c:majorGridlines>
          <c:spPr>
            <a:ln>
              <a:solidFill>
                <a:srgbClr val="E6EAF0"/>
              </a:solidFill>
            </a:ln>
          </c:spPr>
        </c:majorGridlines>
        <c:numFmt formatCode="&quot;$&quot;0.0#" sourceLinked="0"/>
        <c:majorTickMark val="out"/>
        <c:minorTickMark val="none"/>
        <c:tickLblPos val="nextTo"/>
        <c:spPr>
          <a:ln>
            <a:solidFill>
              <a:srgbClr val="E6EAF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60.0"/>
          <c:min val="38.0"/>
        </c:scaling>
        <c:delete val="0"/>
        <c:axPos val="l"/>
        <c:majorGridlines>
          <c:spPr>
            <a:ln>
              <a:solidFill>
                <a:srgbClr val="E6EA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6EAF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  <c:majorUnit val="4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6B7685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星数（万）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Sheet1!$A$2:$A$12</c:f>
              <c:strCache>
                <c:ptCount val="11"/>
                <c:pt idx="0">
                  <c:v>mem0 记忆层</c:v>
                </c:pt>
                <c:pt idx="1">
                  <c:v>MinerU PDF 解析</c:v>
                </c:pt>
                <c:pt idx="2">
                  <c:v>OpenHands 编程 Agent</c:v>
                </c:pt>
                <c:pt idx="3">
                  <c:v>PaddleOCR</c:v>
                </c:pt>
                <c:pt idx="4">
                  <c:v>MCP servers</c:v>
                </c:pt>
                <c:pt idx="5">
                  <c:v>browser-use 浏览器 Agent</c:v>
                </c:pt>
                <c:pt idx="6">
                  <c:v>Open WebUI 本地聊天界面</c:v>
                </c:pt>
                <c:pt idx="7">
                  <c:v>Dify 应用搭建平台</c:v>
                </c:pt>
                <c:pt idx="8">
                  <c:v>anthropics/skills</c:v>
                </c:pt>
                <c:pt idx="9">
                  <c:v>markitdown 文档转 Markdown</c:v>
                </c:pt>
                <c:pt idx="10">
                  <c:v>n8n 工作流自动化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6.7</c:v>
                </c:pt>
                <c:pt idx="1">
                  <c:v>8.2</c:v>
                </c:pt>
                <c:pt idx="2">
                  <c:v>9.1</c:v>
                </c:pt>
                <c:pt idx="3">
                  <c:v>9.1</c:v>
                </c:pt>
                <c:pt idx="4">
                  <c:v>9.1</c:v>
                </c:pt>
                <c:pt idx="5">
                  <c:v>11.8</c:v>
                </c:pt>
                <c:pt idx="6">
                  <c:v>15.6</c:v>
                </c:pt>
                <c:pt idx="7">
                  <c:v>15.9</c:v>
                </c:pt>
                <c:pt idx="8">
                  <c:v>18.2</c:v>
                </c:pt>
                <c:pt idx="9">
                  <c:v>19.1</c:v>
                </c:pt>
                <c:pt idx="10">
                  <c:v>20.8</c:v>
                </c:pt>
              </c:numCache>
            </c:numRef>
          </c:val>
        </c:ser>
        <c:dLbls>
          <c:numFmt formatCode="0.0&quot;万&quot;" sourceLinked="0"/>
          <c:txPr>
            <a:bodyPr/>
            <a:lstStyle/>
            <a:p>
              <a:pPr>
                <a:defRPr sz="1000">
                  <a:solidFill>
                    <a:srgbClr val="1A22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6EAF0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7685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开场。本次约 60 分钟。数据截至 2026 年 10 月 17 日，AI 行业变化很快，讲前请再核对价格与排名。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总分结构的“总”：先把全场结论摆出来，后面每一部分都是在展开这四句话。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12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DeepSeek-V3：6710 亿总参数，每 token 激活 370 亿，训练 14.8 万亿 token（技术报告）。R1 额外约 29.4 万美元（Nature 论文）。英伟达市值数据来自 2025-01-27 路透社等报道。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换算参考 OpenAI 帮助中心：英文 1 token ≈ 4 字符 ≈ 0.75 个单词；中文因分词器不同差异较大。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DeepSeek-V3 预训练 14.8 万亿 token（技术报告）。推理模型（o1、R1）在 RLHF 之后加了可验证题目的强化学习。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来源：OpenAI 2025 年 9 月《Why Language Models Hallucinate》（arXiv 2509.04664）；Mata v. Avianca（2023）；Moffatt v. Air Canada（2024）。比喻：记忆力超强但爱面子的学生。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分类依据：各厂商官方文档，详见研究稿 quirks.md 第 0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来源：chatgpt.com/pricing；claude.com/pricing；The Verge 2026-10-06（Gemini 免费版降级）；x.ai/news/x-subscription（2026-10-12）。Kimi 会员价为第三方数据。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来源：ai.google.dev/gemini-api/docs/pricing；help.aliyun.com/zh/model-studio/new-free-quota；openrouter.ai/docs/api/reference/limits；platform.kimi.com 文档。DeepSeek API 新用户是否赠送额度，官方未写明，不在 PPT 上写。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类比：模型像聪明的专家，Harness 是给他配的电脑、资料室和操作权限。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详细介绍见后两页。来源：各工具官网，见 tools.md。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来源：docs.qoder.com/account/pricing；docs.trae.ai；workbuddy.cn/docs；github.com/qwenlm/qwen-code。Trae 网上很多文章仍写旧价 Pro $10，以官方文档为准。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18 分钟，配合现场演示。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这是第三部分的“总”。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现场演示：同一个模型分别用两种问法，对比输出。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检索这一步通常是把段落转成向量存入知识库，按问题的向量找相似段落。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演示请用公开或脱敏资料，不要用客户数据。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 的 Agent 能力 2026-04-22 起在 Word/Excel/PowerPoint GA；Claude for Excel 支持带单元格引用的解释；ChatGPT for Excel 2026-05-05 起全档位可用。MinerU 支持扫描件和跨页表格合并；PaddleOCR-VL 1.6 强化表格。来源见 tools.md。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来源：Microsoft《Format data for Copilot in Excel》；OmniDocBench（CVPR 2025）；TableParseMap（arXiv 2608.09842）；LlamaIndex《The cost of overthinking》；Microsoft Copilot 编辑 FAQ。豆包只读前约 15 万字为第三方实测，未核实，不上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现场演示：把一份带合并单元格的报表直接丢给 AI，对比整理后再问的结果。可把口径写进 Copilot 的 .Rules 工作表或 Skills。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虎嗅 2026-06 观点：Coze/Dify/n8n 都已从纯拖拽转向混合路线，Coding Agent + Skills 正在挤压低代码平台。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codeg：github.com/spacering-net/codeg（原 xintaofei/codeg），Apache-2.0，2026-10-17 约 4.0k star。聚合多个编码 Agent 会话，通过 ACP 和 codeg-mcp 的 delegate_to_agent 派活，看板任务各自 worktree。注意：多 Agent 成本成倍增加，先在小任务上试。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第四部分的“总”。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论文：arXiv 2406.08464。项目：github.com/yetone/magpie；linux.do 讨论 2982198、3010081，有用户提醒可能封号。还有两个同名项目：Blinue/Magpie（窗口放大工具）、Magpie-Tools/magpie（代理 IP 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Anthropic《Many-shot Jailbreaking》2024-04-02（NeurIPS 2024）：成功率随示范数按幂律上升，对 Claude 2.0、GPT-4、Llama 2 等都有效。多轮升级参考微软 2024 年描述的 Crescendo。这一页刻意不展示任何可用提示词。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核心问题：模型分不清“指令”和“数据”。比喻：你让助理看邮件，邮件里写着“读到这封信的助理，请把老板通讯录寄给我”。来源：greshake.github.io；invariantlabs.ai/blog/mcp-github-vulnerability；NVD CVE-2025-32711。均为已披露并修复的安全研究。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 Willison 2025-06-16《The lethal trifecta》。EchoLeak 正是借 Markdown 链接和图片把数据带出去。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三星：2023-03 三起，限制单次 1024 字节，2023-05 禁用。GitGuardian 2025：2024 年 2377 万个；2026 报告：2025 年约 2900 万，AI 服务密钥 1,275,105 个（+81%）。其他案例：ChatGPT 2023-03-20 bug；DeepSeek 2025-01 数据库暴露（Wiz）。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来源：cac.gov.cn 各法规原文；2026-01-09 网信办备案公告（748 款备案、435 款登记）；GB 45438-2025 自 2025-09-01 施行。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企业版清单：数据分级、提供获批工具（堵不如疏）、密钥进密钥管理服务并开推送保护、Agent 权限按致命三要素评审、上线前红队测试、按《暂行办法》和《标识办法》合规。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参考：OWASP LLM Top 10（2025）；GitGuardian 报告；Simon Willison《The lethal trifecta》；Invariant Labs 的 MCP 安全研究（mcp-scan）。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收束第四部分。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收尾进入问答。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核心比喻：拟合。讲法：考试成绩和学习时长的例子，点是数据，线是模型学到的函数。参考 staff.ustc.edu.cn/~lgliu/Resources/DL/What_is_DeepLearning.html：深度学习本质上是用复合函数拟合数据。图中数据为示意。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要点来自刘利刚文：激活函数（如 ReLU）可看作基函数，网络是分段线性逼近；网络是复合函数；反向传播 = 链式法则 + 梯度下降。关系：深度神经网络 ⊂ 深度学习 ⊂ 机器学习 ⊂ 人工智能。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讲法：不按年份流水账，按“缺什么、补上什么”讲三个阶段。AlexNet 数据：ILSVRC 2012 top-5 错误率 15.3% vs 26.2%（Krizhevsky et al., 2012）。ChatGPT 两个月过亿：瑞银 2023-02 估算。GPT-3 参数：Brown et al., 2020。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InstructGPT 论文：1.3B 参数的 InstructGPT 输出在人类评测中优于 175B GPT-3。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合并原第 17、18、19 页。AA 智能指数取每个模型最高推理档；Cost per Task 列。DeepSeek V4.1 Flash 智能 39 分，但 AA 未给出同一版本的每任务成本，未放进散点图（V4 Pro 为 $0.67）。GPT-6.1 Sol 各档成本：low $0.13、medium $0.21、max $0.72。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合并原第 20、21 页。Terminal-Bench 4：Opus 5.5 64.8%、Sonnet 5.5 61.8%、GPT-6 Astra / GPT-6.1 Sol 58.2%、GLM-5.3 41.8%、Grok 4.7 37.6%、Qwen3.8-Max 27.0%。国内人民币价：Qwen 约 ¥12/¥36，Kimi ¥20/¥100。DeepSeek 高峰为北京时间工作日 9:00-12:00、14:00-18:00。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合并原第 22—24 页。GPT：OpenAI 2026-03 承认 5.2 过于谨慎（The Register 2026-03-04）。Claude：GitHub issue #3382“You're absolutely right”。Gemini：SycEval 谄媚率 62.47%；Fiction.LiveBench 120K 理解率 90%+。Grok：Simon Willison 复现搜索马斯克观点；2025-07 MechaHitler 事件。DeepSeek 幻觉率：Vectara HHEM 榜 V3 3.9%、R1 14.3%。GLM 高峰限流、Qwen 刷榜疑虑、MiniMax 调试深度为社区反馈。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合并原第 30、31 页。来源：claude.com/pricing；developers.openai.com/codex/pricing；cursor.com；cline.bot；kiro.dev/pricing；hark.com/pricing。国产模型落后约一代，但便宜、合规、国内直接用，多数日常任务够用。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 Agent Loop / Context Engineering / Harness Engineering 脑图重绘。讲法：中间是循环，左边管“能做什么、怎么评估”，右边管“看到什么”。GitHub star 为 2026-10-17 API 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GitHub：infiniflow/ragflow、microsoft/graphrag、HKUDS/LightRAG、vibrantlabsai/ragas（16,039）、promptfoo/promptfoo（26,061）。实测：财报 RAG 实验（按方案重实现，非严格复现），S2 固定 3 轮 88,497 token 18/20；S3+ 16,224 token 20/20；检索优化后单轮 S1 也 20/20。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原文以直播平台贵族体系升级为贯穿案例：跨 11 个仓库、数百个文件。核心公式 Agent = Model + Harness。六阶段不是流水线，是风险地图：哪段常失控就补哪段。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Star：superpowers 300,525；mattpocock/skills 293,810；OpenSpec 72,144；get-shit-done 64,284；BMAD-METHOD 54,228；oh-my-claudecode 39,963；Trellis 14,962。建议：先找最常失控的阶段，补一个 Skill 或检查清单，连续用两周看返工是否减少。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API 2026-10-17：n8n-io/n8n 207,668；microsoft/markitdown 190,564；anthropics/skills 181,550；langgenius/dify 158,656；open-webui/open-webui 155,902；browser-use/browser-use 118,192；modelcontextprotocol/servers 91,312；PaddlePaddle/PaddleOCR 91,238；OpenHands/OpenHands 91,068；opendatalab/MinerU 81,868；mem0ai/mem0 67,297。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来源：esim.gg 官网（+372 号码、154+ 国家覆盖、号码约 €2.99、42 国 10GB 约 €9）；OpenAI 帮助中心关于不支持 VoIP 号码；developers.openai.com 支持地区列表；Anthropic 2025-09-05 公告。招商银行卡：社区反馈不一，有人通过 Google Play / Apple Pay 订阅成功，也有网页直付被拒的报告，不能写成必然成功。eSIM.GG 号码能否通过具体平台验证取决于平台风控，X 等平台已知不支持。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esim.gg 数据来自官网（2026-10）。招行卡信息来自社区经验，互相矛盾处已写成“可能”。不提供规避风控的具体操作。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论文：Cai et al.《Are You Getting What You Pay For? Auditing Model Substitution in LLM APIs》arXiv 2504.04715（sunblaze-ucb/llm-api-audit）。OpenAI 条款：不得共享账户凭证，不得买卖或转让 API 密钥。Anthropic：不得共享凭证或转售。Magpie-Tools/magpie 是一个同名代理 IP 池项目，与 yetone/magpie 无关。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Classifiers 论文（Anthropic 2025-02）：基线越狱成功率 86%，加分类器后 4.4%；内测红队 183 人、约 3000+ 小时；公开挑战中有参与者找到通用越狱。新一代（2026-01）报告：1,700+ 小时、198,000 次尝试。数字是实验条件下的结果，不代表真实世界成功率。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AI 交流分享  ·  2026.10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315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从哪来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现在能做什么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怎么用起来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434840"/>
            <a:ext cx="1097280" cy="54864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9D4E3"/>
                </a:solidFill>
                <a:latin typeface="Microsoft YaHei"/>
                <a:ea typeface="Microsoft YaHei"/>
                <a:cs typeface="Microsoft YaHei"/>
              </a:rPr>
              <a:t>历史与原理 · 模型与工具 · 应用实践 · 风险与安全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今天讲四部分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历史与原理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怎么学会的：拟合、神经网络、大模型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120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12 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828800"/>
            <a:ext cx="26060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103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246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886200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能力成本一张图、脾气速查、工具与门槛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5032" y="5120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512064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14 分钟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828800"/>
            <a:ext cx="26060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3" y="2103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3" y="3246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应用实践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3" y="3886200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RAG、Agent 三层功夫、六阶段工作流、开源项目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01383" y="5120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3" y="512064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20 分钟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828800"/>
            <a:ext cx="26060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7736" y="2103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246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风险与安全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3886200"/>
            <a:ext cx="2057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海外注册、白嫖手段、破限与安全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17736" y="5120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512064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14 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先说结论：四句话带走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0317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50317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04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历史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0459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AI 本质是从数据里拟合规律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04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每次飞跃都靠数据、算力、架构凑齐；大模型像“超级输入法联想”，所以会幻觉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3289" y="1828800"/>
            <a:ext cx="250317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3289" y="1828800"/>
            <a:ext cx="250317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7609" y="2148840"/>
            <a:ext cx="204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7609" y="2651760"/>
            <a:ext cx="20459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没有一家通吃，按任务和预算选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7609" y="3931920"/>
            <a:ext cx="204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最强与性价比之王，单任务成本可差 8 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59" y="1828800"/>
            <a:ext cx="250317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5059" y="1828800"/>
            <a:ext cx="250317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9379" y="2148840"/>
            <a:ext cx="204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9379" y="2651760"/>
            <a:ext cx="20459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效果好坏，多半看资料和流程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9379" y="3931920"/>
            <a:ext cx="204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提示词 → RAG → 工作流 → Agent，逐级加码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6830" y="1828800"/>
            <a:ext cx="250317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6830" y="1828800"/>
            <a:ext cx="250317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1150" y="2148840"/>
            <a:ext cx="204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1150" y="2651760"/>
            <a:ext cx="20459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灰色捷径的代价在后面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1150" y="3931920"/>
            <a:ext cx="204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封号、数据泄露、被提示注入攻击，公司资料只走合规渠道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429000"/>
            <a:ext cx="1097280" cy="54864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历史与原理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不讲年表，讲清楚它到底在干什么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2023—2026：开源追上来，推理和 Agent 登场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38328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开源浪潮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274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LLaMA 之后，DeepSeek-V3 最后一轮训练算力约 557 万美元；2025-01-27 英伟达单日市值蒸发约 5890 亿美元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194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推理模型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971800"/>
            <a:ext cx="274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2024 年 o1 开始“先想再答”，靠数学、编程题强化学习，复杂问题准确率大涨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38328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945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274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2025—2026：模型能用电脑、写代码、跑命令、调工具，从“会聊天”到“会干活”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注：557 万美元是官方公布的单次训练算力成本，不含前期研发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原理⑤：大模型就是超级加强版“输入法联想”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926080" cy="73152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今天天气真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94760" y="2286000"/>
            <a:ext cx="548640" cy="365760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920240"/>
            <a:ext cx="1920240" cy="29260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487168"/>
            <a:ext cx="640080" cy="292608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395728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62656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054096"/>
            <a:ext cx="320040" cy="292608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962656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29584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……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621024"/>
            <a:ext cx="320040" cy="29260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3529584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选一个词接上，再预测下一个，循环几百上千次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783080"/>
            <a:ext cx="3200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0116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Token 是什么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5603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介于字和词之间的小积木。1 个汉字约 1—2 个 token，收费和“记忆长度”都按它算。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69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温度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57200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低：总选最可能的词，稳但死板；高：更有创意，也更易跑偏。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83480"/>
            <a:ext cx="6583680" cy="777240"/>
          </a:xfrm>
          <a:prstGeom prst="roundRect">
            <a:avLst>
              <a:gd name="adj" fmla="val 2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9834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它的目标是“接得通顺像真的”，不是“保证正确”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原理⑥：一个模型的三段“教育”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第 1 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读完整个图书馆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49039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海量文本练“猜下一个词”，学会语言和常识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120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12064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数万亿 token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9080" y="3566160"/>
            <a:ext cx="320040" cy="320040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828800"/>
            <a:ext cx="32918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828800"/>
            <a:ext cx="3291840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2148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第 2 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560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微调 SFT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200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岗前培训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749039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用精选的问答示范，教它像助手一样回答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79" y="5120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512064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几万到几百万条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72400" y="3566160"/>
            <a:ext cx="320040" cy="320040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1828800"/>
            <a:ext cx="32918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29184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48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第 3 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560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RLHF / 强化学习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00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礼仪老师 + 刷题特训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49039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人或评分模型打分，往更有用、更安全调；推理模型再刷数学编程题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5120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512064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偏好比较数据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原理⑦：幻觉是“机制使然”，不是偶发故障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目标错位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它被训练成“接得像”，不是“查得准”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78308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考试鼓励瞎蒙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603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答“不知道”得 0 分，瞎猜还有机会得分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知识被压缩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几万亿 token 压进有限参数，冷门事实易记混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79476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0233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知识有截止日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57200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训练后的事它不知道，却可能硬编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783080"/>
            <a:ext cx="3931920" cy="384048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0116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真实案例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60604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2023 年美国律师用 ChatGPT 写诉状，引用了 6 个根本不存在的判例，被法官处罚。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02336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C9D4E3"/>
                </a:solidFill>
                <a:latin typeface="Microsoft YaHei"/>
                <a:ea typeface="Microsoft YaHei"/>
                <a:cs typeface="Microsoft YaHei"/>
              </a:rPr>
              <a:t>2024 年加拿大航空客服机器人编造退款政策，法庭判航空公司照赔。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对策：要出处、接资料库（RAG）、关键事实人工复核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429000"/>
            <a:ext cx="1097280" cy="54864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没有一家通吃：按任务、预算和网络条件选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模型怎么分：三大阵营 + 推理开关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0317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50317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04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阵营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0459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美国闭源前沿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04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Claude、GPT、Gemini、Grok、Meta Muse：能力天花板，需海外网络和支付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3289" y="1828800"/>
            <a:ext cx="250317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3289" y="1828800"/>
            <a:ext cx="250317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7609" y="2148840"/>
            <a:ext cx="204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阵营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7609" y="2651760"/>
            <a:ext cx="20459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中国开放权重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7609" y="3931920"/>
            <a:ext cx="204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DeepSeek、Qwen、Kimi、GLM、MiniMax、小米 MiMo：便宜，可私有部署，国内直接用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59" y="1828800"/>
            <a:ext cx="250317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5059" y="1828800"/>
            <a:ext cx="250317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9379" y="2148840"/>
            <a:ext cx="204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阵营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9379" y="2651760"/>
            <a:ext cx="20459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小模型 / 本地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9379" y="3931920"/>
            <a:ext cx="204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Gemma、gpt-oss、Qwen 小尺寸：电脑上就能跑，数据不出门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6830" y="1828800"/>
            <a:ext cx="250317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6830" y="1828800"/>
            <a:ext cx="250317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1150" y="2148840"/>
            <a:ext cx="20459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开关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1150" y="2651760"/>
            <a:ext cx="20459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推理 vs 非推理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1150" y="3931920"/>
            <a:ext cx="204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主流模型大多“混合”：同一模型可开关思考，思考越深越准也越贵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聊天产品：免费版够用吗？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2026 年 10 月各家订阅价（美元 / 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1069848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1554480"/>
                <a:gridCol w="1645920"/>
                <a:gridCol w="173736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免费版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入门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主力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重度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 文本基本不限量，不含 Sol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 $8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Plus $20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 $100—$500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Sonnet、Haiku，无 Opus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 $20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 $100 起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Gemini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10-09 起只剩 Flash-Lite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Plus $4.99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Pro $19.99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Ultra $99.99 起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Grok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每天有限额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Plus $8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Premium $30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 $100 起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/ 千问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网页和 App 完全免费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聊天免费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¥49 起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7160" marR="91440" anchor="ctr">
                    <a:solidFill>
                      <a:srgbClr val="FDEFE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国内日常使用：DeepSeek、千问网页版免费又强，是最省心的起点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来源：各家官网价格页，2026-10-17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开发者白嫖指南：这些 API 有免费额度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3429000" cy="73152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Google AI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Gemini 3.8 Flash 等免费调用；免费层数据会被用于改进产品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429000" cy="73152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阿里百炼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新用户每个模型约 100 万 token，90 天有效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83080"/>
            <a:ext cx="3429000" cy="73152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智谱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060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GLM-4.7-Flash 免费调用，200K 上下文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3429000" cy="73152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OpenRouter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:free 模型每天 50 次；充过 $10 后每天 1000 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947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94760"/>
            <a:ext cx="3429000" cy="73152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069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Kimi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61772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新用户 ¥15 代金券，但不能用于 K3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7947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3794760"/>
            <a:ext cx="3429000" cy="73152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069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本地模型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1772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Qwen 小尺寸、Gemma、gpt-oss：完全免费，数据不出门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提醒：免费额度规则变化很快，Qwen Code 免费额度已于 2026-04-15 停止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模型负责思考，Harness 负责把事做完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206240" cy="39319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  ·  大脑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356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0">
                <a:solidFill>
                  <a:srgbClr val="C9D4E3"/>
                </a:solidFill>
                <a:latin typeface="Microsoft YaHei"/>
                <a:ea typeface="Microsoft YaHei"/>
                <a:cs typeface="Microsoft YaHei"/>
              </a:rPr>
              <a:t>理解、推理、生成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0">
                <a:solidFill>
                  <a:srgbClr val="C9D4E3"/>
                </a:solidFill>
                <a:latin typeface="Microsoft YaHei"/>
                <a:ea typeface="Microsoft YaHei"/>
                <a:cs typeface="Microsoft YaHei"/>
              </a:rPr>
              <a:t>决定能力上限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Claude · GPT · Gemini
DeepSeek · Qwen · Kimi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3832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Harness  ·  手脚和工作台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34640"/>
            <a:ext cx="1508760" cy="56692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83464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834640"/>
            <a:ext cx="1508760" cy="56692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283464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读写文件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834640"/>
            <a:ext cx="1508760" cy="56692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运行终端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11880"/>
            <a:ext cx="1508760" cy="56692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61188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联网搜索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611880"/>
            <a:ext cx="1508760" cy="56692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61188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记忆上下文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3611880"/>
            <a:ext cx="1508760" cy="56692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3611880"/>
            <a:ext cx="1508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权限控制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52628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同一个模型，换个 Harness，效果差很多
例：Terminal-Bench 里各家都用自家框架跑分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工具地图：四类工具，各管一段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560320" cy="68580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终端编程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69748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3192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927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4106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41064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562856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62856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Qwen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18464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84648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178308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1783080"/>
            <a:ext cx="256032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783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编辑器 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269748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2697480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33192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331927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Trae（字节）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394106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941064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Qoder（阿里）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562856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4562856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Kiro（AWS）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78308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783080"/>
            <a:ext cx="2560320" cy="68580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783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办公 / 生活 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269748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697480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WorkBuddy（腾讯）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33192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31927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Hark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394106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941064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Copilot / WPS 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178308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1783080"/>
            <a:ext cx="2560320" cy="68580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178308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编排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269748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2697480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codeg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9720" y="33192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331927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Conductor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89720" y="394106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3941064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Dify / Coze / n8n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国内能直接用的工具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人民币价格为国内版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91440" cy="1874519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9659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65960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阿里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688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Agentic IDE，前身通义灵码；Quest 模式自主改多文件，Repo Wiki 读懂大项目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Pro ¥59/月起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91440" cy="1874519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9659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1965960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字节跳动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AI IDE，SOLO 模式自主编码，可接多家国产模型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国际版 Pro $20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91440" cy="1874519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977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40233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023360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腾讯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5262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桌面办公 Agent：一句话交付 Word、Excel、PPT，打通腾讯文档和企微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257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免费 500 积分/月；¥99 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8404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840480"/>
            <a:ext cx="91440" cy="1874519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77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Qwen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402336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4023360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阿里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2628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开源终端 Agent，支持子 Agent、多模型 PK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257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免费开源，模型另付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429000"/>
            <a:ext cx="1097280" cy="54864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模型够强了，难的是让它稳定、可信地干活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AI 现在的六个难题，各有对应解法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总览：后面每一页都在展开这张表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106984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310896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难题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解法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本部分</a:t>
                      </a:r>
                    </a:p>
                  </a:txBody>
                  <a:tcPr marL="137160" marR="91440" anchor="ctr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会编造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一本正经地胡说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要出处、接资料库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不懂你的资料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不知道公司内部信息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检索后再回答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长文读不全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读了一半就作答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分段读、先列目录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/ PDF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数字算错、读错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表格错行、数字被改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算数交给公式和代码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/ PDF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不稳定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同样问题每次不一样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固定流程、写清规则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提示词 / 工作流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乱动手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改错文件、越权操作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权限、审批、隔离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编排</a:t>
                      </a:r>
                    </a:p>
                  </a:txBody>
                  <a:tcPr marL="137160" marR="91440" anchor="ctr"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好提示词 = 讲清目标、材料和交付格式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✕  一般的问法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“帮我写个产品介绍。”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659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✓  更好的问法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“面向 30 岁上班族，写 200 字介绍，突出省时，语气轻松，附 3 个标题备选。”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受众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834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写给谁看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25196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44348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9834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要达到什么效果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5196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834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给足背景和数据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25196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44348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9834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字数、结构、语气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复杂任务：先让模型列步骤，确认后再执行；常用要求写成固定规则或 Skill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RAG：先查资料，再回答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检索增强生成 = 让模型“开卷考试”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切块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把文档切成小段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3127248"/>
            <a:ext cx="384048" cy="329184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10312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找出与问题最相关的几段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3127248"/>
            <a:ext cx="384048" cy="329184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10312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重排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再精挑一遍，最相关的放前面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96528" y="3127248"/>
            <a:ext cx="384048" cy="329184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0" y="210312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880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5661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C9D4E3"/>
                </a:solidFill>
                <a:latin typeface="Microsoft YaHei"/>
                <a:ea typeface="Microsoft YaHei"/>
                <a:cs typeface="Microsoft YaHei"/>
              </a:rPr>
              <a:t>根据这些段落作答并注明出处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92040"/>
            <a:ext cx="5120640" cy="100584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5120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解决：模型不知道你的私有资料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892040"/>
            <a:ext cx="5120640" cy="1005840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892040"/>
            <a:ext cx="5120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解决：模型没依据时会编造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RAG 效果差，多半出在检索，而不是模型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0350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切块不当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91640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太碎或太大，关键信息被拆散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96312"/>
            <a:ext cx="60350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96312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没搜到答案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96312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段落里没有答案，模型只好猜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00984"/>
            <a:ext cx="60350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00984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口径混淆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00984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数字和名称相近，容易拿错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05656"/>
            <a:ext cx="60350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05656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一次不够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05656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需要多轮补查才能找齐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10328"/>
            <a:ext cx="60350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10328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没有标准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910328"/>
            <a:ext cx="3931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缺少标准答案，无法评估好坏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691640"/>
            <a:ext cx="4206240" cy="3904487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9659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例子：财报问答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606040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“归母净利润”和“扣非归母净利润”数字很像，模型拿错了也会很自信。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343400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>
                <a:solidFill>
                  <a:srgbClr val="C9D4E3"/>
                </a:solidFill>
                <a:latin typeface="Microsoft YaHei"/>
                <a:ea typeface="Microsoft YaHei"/>
                <a:cs typeface="Microsoft YaHei"/>
              </a:rPr>
              <a:t>所以要分开评估：
证据找到没有？答案对不对？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AI 做表格和文档：工具已经到位，翻车点在“输入”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pic>
        <p:nvPicPr>
          <p:cNvPr id="7" name="Picture 6" descr="excel_pdf.png"/>
          <p:cNvPicPr>
            <a:picLocks noChangeAspect="1"/>
          </p:cNvPicPr>
          <p:nvPr/>
        </p:nvPicPr>
        <p:blipFill>
          <a:blip r:embed="rId2"/>
          <a:srcRect l="17769" r="17769"/>
          <a:stretch>
            <a:fillRect/>
          </a:stretch>
        </p:blipFill>
        <p:spPr>
          <a:xfrm>
            <a:off x="731520" y="1783080"/>
            <a:ext cx="475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60720" y="1783080"/>
            <a:ext cx="566928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2057400"/>
            <a:ext cx="73152" cy="64008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9202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Excel 里直接用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3774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Copilot Agent Mode · Claude for Excel · ChatGPT for Excel · WPS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154680"/>
            <a:ext cx="566928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3429000"/>
            <a:ext cx="73152" cy="64008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32918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读长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7490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Kimi、豆包、ChatGPT / Claude 上传文件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526280"/>
            <a:ext cx="566928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4800600"/>
            <a:ext cx="73152" cy="64008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46634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PDF 先转结构化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51206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MinerU · PaddleOCR · Docling · Marker，转成 Markdown 再给模型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Excel / PDF 最常见的六种翻车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92807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合并单元格、多级表头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中国式报表是重灾区；微软要求单行表头、无合并、无小计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4708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892807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扫描件、水印、模糊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3317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选错模式直接读不到；难认的页面会幻觉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1868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644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跨页表格、无框线表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033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行列错位、重复输出，基准高分不等于真实好用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0896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1868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2644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数字被改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7033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“4-CNY”被读成“4-CYN”，还会“好心”补全空单元格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9028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360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只读了一半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749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超出上下文或只检索片段，后半部分没进模型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0560"/>
            <a:ext cx="52578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590288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6360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公式算错、直接改表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50749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编辑模式自动保存，共享者都能看到改动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可靠做法：整理 → 解析 → 提问 → 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37744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转成标准表：一行表头、去合并单元格和小计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3017520"/>
            <a:ext cx="365760" cy="329184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377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2377440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031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974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3756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扫描件先 OCR；复杂 PDF 用 MinerU 等转 Markdown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3017520"/>
            <a:ext cx="365760" cy="329184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2377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2377440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974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提问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3756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先用计划模式、改表前另存副本；长文先让它列目录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23960" y="3017520"/>
            <a:ext cx="365760" cy="329184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828800"/>
            <a:ext cx="2377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28800"/>
            <a:ext cx="237744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1031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6974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核对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33756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要求标页码和单元格；算数交给公式或代码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92040"/>
            <a:ext cx="10698480" cy="9144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89204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最快的三个检查点：行数对不对、合计对不对、表头有没有错位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流程固定用工作流，开放任务才交给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743200"/>
            <a:ext cx="914400" cy="54864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39112" y="2907792"/>
            <a:ext cx="219456" cy="219456"/>
          </a:xfrm>
          <a:prstGeom prst="rightArrow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743200"/>
            <a:ext cx="914400" cy="54864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步骤 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27832" y="2907792"/>
            <a:ext cx="219456" cy="219456"/>
          </a:xfrm>
          <a:prstGeom prst="rightArrow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2743200"/>
            <a:ext cx="914400" cy="54864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步骤 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416552" y="2907792"/>
            <a:ext cx="219456" cy="219456"/>
          </a:xfrm>
          <a:prstGeom prst="rightArrow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2743200"/>
            <a:ext cx="914400" cy="54864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743200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5760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步骤事先定好
稳定、可控、便宜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适合：报表、客服、批量处理（Dify、Coze、n8n）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78308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59" y="2715768"/>
            <a:ext cx="1005840" cy="603504"/>
          </a:xfrm>
          <a:prstGeom prst="roundRect">
            <a:avLst>
              <a:gd name="adj" fmla="val 50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59" y="2715768"/>
            <a:ext cx="1005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2761487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761487"/>
            <a:ext cx="82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2761487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761487"/>
            <a:ext cx="82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写代码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78440" y="2761487"/>
            <a:ext cx="822960" cy="512064"/>
          </a:xfrm>
          <a:prstGeom prst="roundRect">
            <a:avLst>
              <a:gd name="adj" fmla="val 50000"/>
            </a:avLst>
          </a:prstGeom>
          <a:solidFill>
            <a:srgbClr val="F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2761487"/>
            <a:ext cx="82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查文件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092440" y="2926079"/>
            <a:ext cx="365760" cy="182880"/>
          </a:xfrm>
          <a:prstGeom prst="right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65760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模型自己决定下一步
灵活，但成本和风险更高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75488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适合：调研、编程、排错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经验法则：能画成流程图的，先做工作流；趋势是“确定性编排 + 自治 Agent”混合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Agent 编排：让多个 Agent 分工、并行、互审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以开源工具 codeg 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你：一句需求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3246120"/>
            <a:ext cx="457200" cy="365760"/>
          </a:xfrm>
          <a:prstGeom prst="rightArrow">
            <a:avLst/>
          </a:prstGeom>
          <a:solidFill>
            <a:srgbClr val="6B7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9039" y="2651760"/>
            <a:ext cx="2377440" cy="15544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7889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2918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C9D4E3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C9D4E3"/>
                </a:solidFill>
                <a:latin typeface="Microsoft YaHei"/>
                <a:ea typeface="Microsoft YaHei"/>
                <a:cs typeface="Microsoft YaHei"/>
              </a:rPr>
              <a:t>拆任务、派活、汇总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126480" y="2331720"/>
            <a:ext cx="822960" cy="1097280"/>
          </a:xfrm>
          <a:prstGeom prst="line">
            <a:avLst/>
          </a:prstGeom>
          <a:ln w="25400">
            <a:solidFill>
              <a:srgbClr val="F28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178308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28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2024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3172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写测试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0" y="3429000"/>
            <a:ext cx="822960" cy="228600"/>
          </a:xfrm>
          <a:prstGeom prst="line">
            <a:avLst/>
          </a:prstGeom>
          <a:ln w="25400">
            <a:solidFill>
              <a:srgbClr val="F28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49440" y="310896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28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24612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另一个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65760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代码审查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3429000"/>
            <a:ext cx="822960" cy="1554479"/>
          </a:xfrm>
          <a:prstGeom prst="line">
            <a:avLst/>
          </a:prstGeom>
          <a:ln w="25400">
            <a:solidFill>
              <a:srgbClr val="F28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49440" y="443484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28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57200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Qwen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83479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查文档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783080"/>
            <a:ext cx="1828800" cy="3794760"/>
          </a:xfrm>
          <a:prstGeom prst="roundRect">
            <a:avLst>
              <a:gd name="adj" fmla="val 1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1965960"/>
            <a:ext cx="15544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每个任务独立 git 分支，互不干扰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做完等你审改动再合并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同类：Claude Code 子 Agent / Agent 团队、Conductor、OpenHands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429000"/>
            <a:ext cx="1097280" cy="54864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省一时的捷径，代价都在后面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风险与安全分三节讲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13759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13759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956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第 1 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9565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海外注册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95655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网络、手机号、支付、条款四道关；怎么过，坑在哪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3880" y="1828800"/>
            <a:ext cx="3413759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3880" y="1828800"/>
            <a:ext cx="3413759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148840"/>
            <a:ext cx="2956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第 2 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2651760"/>
            <a:ext cx="29565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白嫖手段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931920"/>
            <a:ext cx="295655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反代、号池、IP 池、Magpie：省下的钱，代价在后面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1828800"/>
            <a:ext cx="3413759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6239" y="1828800"/>
            <a:ext cx="3413759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2148840"/>
            <a:ext cx="2956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第 3 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651760"/>
            <a:ext cx="29565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破限与攻击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3931920"/>
            <a:ext cx="295655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越狱、提示注入、数据泄露，以及企业怎么防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第 2 节 · “Magpie”有两个意思，别搞混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21208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① 学术论文 Magpie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ICLR 2025，华盛顿大学 + AI2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只给模型“用户发言”的开头模板，它会自己编出像真人的问题。用这招合成 400 万条指令，筛出 30 万条。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177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启示：对齐模型“记住”了训练问题的分布；对闭源模型做大规模抽取蒸馏，违反条款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1206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12064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② linux.do 上火的 magpie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GitHub 开源项目 yetone/magpie（★1.4 万）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06324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本地模型网关：让 Claude Code、Codex 等共用一套模型配置，兼容三家接口格式。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61772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工具本身中性；用来多账号轮询、把订阅当 API 用，就会触碰条款，密钥也集中在一处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第 3 节 · 破限：不撬锁，靠话术让前台“自己开门”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400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角色扮演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借“小说反派”“无规则角色”的虚构外壳绕开规则；早年的 DAN 系列，多数已失效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6400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多样本越狱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长上下文里塞几百段虚构的“顺从示范”，模型被带节奏；越大的模型越容易被带偏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6400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多轮升级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83479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每一步都看似无害，逐步把对话推到越界内容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783080"/>
            <a:ext cx="3931920" cy="384048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0116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为什么跟你有关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606040"/>
            <a:ext cx="3383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个人：违反条款会被封号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企业：同样的话术会用来攻击你部署的客服和助手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防护：输入分类过滤、限制职责范围、上线前红队测试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提示注入：智能体时代的头号风险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OWASP《LLM 应用十大风险 2025》第 1 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pic>
        <p:nvPicPr>
          <p:cNvPr id="7" name="Picture 6" descr="security.png"/>
          <p:cNvPicPr>
            <a:picLocks noChangeAspect="1"/>
          </p:cNvPicPr>
          <p:nvPr/>
        </p:nvPicPr>
        <p:blipFill>
          <a:blip r:embed="rId2"/>
          <a:srcRect l="21488" r="21488"/>
          <a:stretch>
            <a:fillRect/>
          </a:stretch>
        </p:blipFill>
        <p:spPr>
          <a:xfrm>
            <a:off x="731520" y="1783080"/>
            <a:ext cx="420624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212080" y="1783080"/>
            <a:ext cx="62179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9202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Bing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7744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网页里藏 0 号字，浏览时被“策反”套取用户信息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154680"/>
            <a:ext cx="62179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2918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918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GitHub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74904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公开仓库一个恶意 Issue，让 Agent 把私有仓库信息写进公开 PR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4526280"/>
            <a:ext cx="62179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46634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6634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EchoLeak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12064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一封特制邮件，Microsoft 365 Copilot 零点击外泄数据，CVSS 9.3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致命三要素：三条腿至少砍掉一条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66160" y="2148840"/>
            <a:ext cx="0" cy="1600199"/>
          </a:xfrm>
          <a:prstGeom prst="line">
            <a:avLst/>
          </a:prstGeom>
          <a:ln w="31750">
            <a:solidFill>
              <a:srgbClr val="F28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554479" y="3749039"/>
            <a:ext cx="2011681" cy="1691640"/>
          </a:xfrm>
          <a:prstGeom prst="line">
            <a:avLst/>
          </a:prstGeom>
          <a:ln w="31750">
            <a:solidFill>
              <a:srgbClr val="F28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3566160" y="3749039"/>
            <a:ext cx="2011680" cy="1691640"/>
          </a:xfrm>
          <a:prstGeom prst="line">
            <a:avLst/>
          </a:prstGeom>
          <a:ln w="31750">
            <a:solidFill>
              <a:srgbClr val="F28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3383279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383279"/>
            <a:ext cx="1645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数据被骗走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82880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82880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能读你的私密数据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19" y="512064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19" y="512064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会接触不可信内容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512064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512064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能对外发送信息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783080"/>
            <a:ext cx="4480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01168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怎么用这个框架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37744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7269480" y="3035808"/>
            <a:ext cx="109728" cy="109728"/>
          </a:xfrm>
          <a:prstGeom prst="ellipse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9260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能读机密的 Agent，别让它同时上网乱读</a:t>
            </a:r>
          </a:p>
        </p:txBody>
      </p:sp>
      <p:sp>
        <p:nvSpPr>
          <p:cNvPr id="22" name="Oval 21"/>
          <p:cNvSpPr/>
          <p:nvPr/>
        </p:nvSpPr>
        <p:spPr>
          <a:xfrm>
            <a:off x="7269480" y="3602736"/>
            <a:ext cx="109728" cy="109728"/>
          </a:xfrm>
          <a:prstGeom prst="ellipse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49300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付款、发邮件、删文件，一律人工确认</a:t>
            </a:r>
          </a:p>
        </p:txBody>
      </p:sp>
      <p:sp>
        <p:nvSpPr>
          <p:cNvPr id="24" name="Oval 23"/>
          <p:cNvSpPr/>
          <p:nvPr/>
        </p:nvSpPr>
        <p:spPr>
          <a:xfrm>
            <a:off x="7269480" y="4169664"/>
            <a:ext cx="109728" cy="109728"/>
          </a:xfrm>
          <a:prstGeom prst="ellipse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405993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MCP 工具只用可信来源，锁定版本</a:t>
            </a:r>
          </a:p>
        </p:txBody>
      </p:sp>
      <p:sp>
        <p:nvSpPr>
          <p:cNvPr id="26" name="Oval 25"/>
          <p:cNvSpPr/>
          <p:nvPr/>
        </p:nvSpPr>
        <p:spPr>
          <a:xfrm>
            <a:off x="7269480" y="4736592"/>
            <a:ext cx="109728" cy="109728"/>
          </a:xfrm>
          <a:prstGeom prst="ellipse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462686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输出端过滤外链和图片地址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泄露最常见的不是黑客，而是自己人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3 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三星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2697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工程师把源代码、会议记录贴进 ChatGPT，随后公司禁用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1488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2900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429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GitHub 密钥泄露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977639"/>
            <a:ext cx="2697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新增泄露的密钥数，同比 +34%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1488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+81%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429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AI 服务密钥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39"/>
            <a:ext cx="2697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2025 年泄露约 127.5 万个，AI 写的代码泄露率约 2 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2022 年泄露的密钥，到现在仍有 70% 有效：泄露后要立刻吊销，删提交没用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3550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来源：Bloomberg；GitGuardian 2025 / 2026 报告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国内合规：看备案号，AI 内容要标识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10698480" cy="45720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" y="2871215"/>
            <a:ext cx="347472" cy="347472"/>
          </a:xfrm>
          <a:prstGeom prst="ellipse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3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2021.11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个人信息保护法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把客户资料贴进 AI 也算处理个人信息</a:t>
            </a:r>
          </a:p>
        </p:txBody>
      </p:sp>
      <p:sp>
        <p:nvSpPr>
          <p:cNvPr id="11" name="Oval 10"/>
          <p:cNvSpPr/>
          <p:nvPr/>
        </p:nvSpPr>
        <p:spPr>
          <a:xfrm>
            <a:off x="4453128" y="2871215"/>
            <a:ext cx="347472" cy="347472"/>
          </a:xfrm>
          <a:prstGeom prst="ellipse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3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2022.03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290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算法推荐规定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8620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建立算法备案制度</a:t>
            </a:r>
          </a:p>
        </p:txBody>
      </p:sp>
      <p:sp>
        <p:nvSpPr>
          <p:cNvPr id="15" name="Oval 14"/>
          <p:cNvSpPr/>
          <p:nvPr/>
        </p:nvSpPr>
        <p:spPr>
          <a:xfrm>
            <a:off x="7242048" y="2871215"/>
            <a:ext cx="347472" cy="347472"/>
          </a:xfrm>
          <a:prstGeom prst="ellipse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4883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2023.08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4290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生成式 AI 暂行办法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88620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面向公众的服务需备案，提供者对内容负责</a:t>
            </a:r>
          </a:p>
        </p:txBody>
      </p:sp>
      <p:sp>
        <p:nvSpPr>
          <p:cNvPr id="19" name="Oval 18"/>
          <p:cNvSpPr/>
          <p:nvPr/>
        </p:nvSpPr>
        <p:spPr>
          <a:xfrm>
            <a:off x="10030967" y="2871215"/>
            <a:ext cx="347472" cy="347472"/>
          </a:xfrm>
          <a:prstGeom prst="ellipse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214883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2025.09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399" y="34290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AI 内容标识办法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388620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生成内容要显式 + 隐式标识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10698480" cy="68580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698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截至 2025 年底，748 款生成式 AI 服务完成备案；用国内 AI 产品，先看页面上的备案号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AI 安全六不要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57400"/>
            <a:ext cx="502920" cy="502920"/>
          </a:xfrm>
          <a:prstGeom prst="ellipse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756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不贴敏感信息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身份证、密码、客户名单、源代码先脱敏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756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不全信结论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4320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数字、法条、引用要出处并点开核对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7830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2057400"/>
            <a:ext cx="502920" cy="502920"/>
          </a:xfrm>
          <a:prstGeom prst="ellipse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0756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不买灰色服务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代充、共享号、低价中转都不碰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069080"/>
            <a:ext cx="502920" cy="502920"/>
          </a:xfrm>
          <a:prstGeom prst="ellipse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69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0873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不放任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付款、发邮件、删文件保持人工确认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7947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4069080"/>
            <a:ext cx="502920" cy="502920"/>
          </a:xfrm>
          <a:prstGeom prst="ellipse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069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0873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不乱装插件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548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来路不明的插件和 MCP 能读走对话和密钥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37947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0" y="4069080"/>
            <a:ext cx="502920" cy="502920"/>
          </a:xfrm>
          <a:prstGeom prst="ellipse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069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0873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不信合成音视频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548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涉及转账，换个渠道再确认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团队落地：一张能直接照做的防护清单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342900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密钥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974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Key 放环境变量或密钥管理服务，不进代码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50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85032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开启 GitHub 推送保护和密钥扫描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725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72584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设消费上限和告警，泄露立刻吊销轮换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830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783080"/>
            <a:ext cx="342900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Agent 权限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974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974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付款、发邮件、合并代码、删除设人工审批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6850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685032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工具白名单，MCP 只用可信来源并锁版本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6725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672584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用扫描工具检查 MCP 工具说明是否被改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17830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1783080"/>
            <a:ext cx="342900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数据与上线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6974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6974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数据分级：公开 / 内部 / 机密 / 个人信息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850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685032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外部内容标成“数据”，和系统指令隔离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725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672584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上线前做提示注入和越狱红队测试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想长期用，就选更稳的路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383280" cy="109728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个人学习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国内可直接用的模型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DeepSeek、千问、Kimi 免费版已很强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383280" cy="1097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24028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工作使用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公司采购的官方 API 或企业版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0624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签数据协议，资料不外泄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383280" cy="109728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24028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需要海外模型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合规云平台或企业渠道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可开发票、有服务协议，由法务评估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40680"/>
            <a:ext cx="10698480" cy="59436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10698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敏感数据最稳的方案：开放权重模型私有化部署，数据不出公司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914400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今天回去就能做的三件事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19456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挑一个每周重复的任务，试着交给 AI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246120"/>
            <a:ext cx="640080" cy="640080"/>
          </a:xfrm>
          <a:prstGeom prst="ellipse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4612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按四要素，重写一次常用的提示词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297679"/>
            <a:ext cx="640080" cy="640080"/>
          </a:xfrm>
          <a:prstGeom prst="ellipse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9767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297679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工作资料只走合规渠道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原理①：AI 的本质，是从例子里“画”出一条规律线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深度学习 ≈ 数据拟合：给足够多的例子，让机器自己找出输入和输出之间的函数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78308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" y="1783080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比如：学习时长（横）→ 考试成绩（纵）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83080"/>
            <a:ext cx="47548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83080"/>
            <a:ext cx="91440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74519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传统编程：人写规则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267712"/>
            <a:ext cx="43891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“如果……就……”一条条写死。规则写不完，换个场景就失灵。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063240"/>
            <a:ext cx="47548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3063240"/>
            <a:ext cx="91440" cy="114300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154680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机器学习：给例子，自己找规律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47872"/>
            <a:ext cx="43891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喂进成千上万对“输入→答案”，机器调整参数，画出最贴合的那条线。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34340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343400"/>
            <a:ext cx="91440" cy="137160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434840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所以它的脾气也来自这里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28032"/>
            <a:ext cx="43891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例子越多越准；没见过的情况就靠“外推”，容易错。识图、翻译、写字，都是在拟合不同的函数。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参考：中国科学技术大学 刘利刚《什么是深度学习》（从函数逼近的角度理解）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原理②：神经网络就是很多“折一下”的简单函数叠起来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每个神经元只会做一件小事；叠得够多、调得够准，就能拼出任意形状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78308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1783080"/>
            <a:ext cx="5120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折线段越多（神经元越多），越贴近真实曲线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8308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783080"/>
            <a:ext cx="91440" cy="91440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1837943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1  积木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148840"/>
            <a:ext cx="4572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一个神经元 = 加权求和后“折一下”（激活函数）。单个很笨，像一根能弯一次的铁丝。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78892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2788920"/>
            <a:ext cx="91440" cy="91440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2843784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  叠起来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154679"/>
            <a:ext cx="4572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一层的输出喂给下一层，就是函数套函数。层数深，能把像素一步步变成“边缘→眼睛→猫”。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9476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794760"/>
            <a:ext cx="9144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3849624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  调旋钮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4160520"/>
            <a:ext cx="4572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每个连接的权重是一个旋钮。GPT-3 有 1750 亿个。训练就是：算错多少，按链式法则倒着调（反向传播）。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8006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4800600"/>
            <a:ext cx="91440" cy="914400"/>
          </a:xfrm>
          <a:prstGeom prst="rect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4855464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4  别神化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5166360"/>
            <a:ext cx="4572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它借了“神经元”的名字，但不是在模拟人脑，也不等于真正理解，本质仍是拟合。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参考：刘利刚《什么是深度学习》；Rumelhart, Hinton &amp; Williams, Nature 1986（反向传播）。图为示意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原理③：想法早就有了，为什么等了七十年？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配方一直是三样：数据 × 算力 × 好架构。缺一样，就进一次“寒冬”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429000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阶段一  1956—2011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人写规则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3017520" cy="2103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1956 达特茅斯会议提出“人工智能”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1958 感知机：最早的神经元模型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1974、1987 两次寒冬：规则写不完、电脑太慢、没数据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1997 深蓝胜卡斯帕罗夫：靠规则 + 暴力搜索，不会学习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919472"/>
            <a:ext cx="2971800" cy="38404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卡在：规则写不完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6260" y="178308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6260" y="1783080"/>
            <a:ext cx="342900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4860" y="196596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阶段二  2012—2021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860" y="228600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机器自己学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860" y="2788920"/>
            <a:ext cx="3017520" cy="2103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1986 反向传播早已发明，但一直跑不动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2009 ImageNet：1400 万张标注图片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2012 AlexNet 用两块游戏显卡训练，错误率 15.3%，第二名 26.2%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2016 AlphaGo 击败李世石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4860" y="4919472"/>
            <a:ext cx="2971800" cy="384048"/>
          </a:xfrm>
          <a:prstGeom prst="roundRect">
            <a:avLst>
              <a:gd name="adj" fmla="val 6000"/>
            </a:avLst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4860" y="491947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补上：数据 + GPU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78308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1783080"/>
            <a:ext cx="342900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阶段三  2017—今天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8600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大模型会说会干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88920"/>
            <a:ext cx="3017520" cy="2103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2017 Transformer：能同时看整段话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2020 GPT-3：1750 亿参数，规模出奇迹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2022 ChatGPT：两个月用户过亿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2024 推理模型，2025 起 Agent 会用电脑干活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919472"/>
            <a:ext cx="2971800" cy="384048"/>
          </a:xfrm>
          <a:prstGeom prst="roundRect">
            <a:avLst>
              <a:gd name="adj" fmla="val 6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91947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补上：新架构 + 规模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96128"/>
            <a:ext cx="10698480" cy="4114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596128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每一次起飞，都是数据、算力、架构三样同时凑齐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原理④：Transformer + 规模，让机器读懂上下文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两步：先学会“看全句”，再把模型和数据一起放大，最后用人类反馈调教说话方式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486400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5029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注意力：读到一个词，回头看相关的词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606040"/>
            <a:ext cx="777240" cy="4572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7772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妹妹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20" y="2606040"/>
            <a:ext cx="594360" cy="457200"/>
          </a:xfrm>
          <a:prstGeom prst="roundRect">
            <a:avLst>
              <a:gd name="adj" fmla="val 6000"/>
            </a:avLst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20" y="2606040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606040"/>
            <a:ext cx="594360" cy="457200"/>
          </a:xfrm>
          <a:prstGeom prst="roundRect">
            <a:avLst>
              <a:gd name="adj" fmla="val 6000"/>
            </a:avLst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606040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606040"/>
            <a:ext cx="777240" cy="457200"/>
          </a:xfrm>
          <a:prstGeom prst="roundRect">
            <a:avLst>
              <a:gd name="adj" fmla="val 6000"/>
            </a:avLst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606040"/>
            <a:ext cx="7772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明天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606040"/>
            <a:ext cx="594360" cy="457200"/>
          </a:xfrm>
          <a:prstGeom prst="roundRect">
            <a:avLst>
              <a:gd name="adj" fmla="val 6000"/>
            </a:avLst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606040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2606040"/>
            <a:ext cx="777240" cy="457200"/>
          </a:xfrm>
          <a:prstGeom prst="roundRect">
            <a:avLst>
              <a:gd name="adj" fmla="val 6000"/>
            </a:avLst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606040"/>
            <a:ext cx="7772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考试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00400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↑ 读到“她”时，注意力最集中在“妹妹”上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03320"/>
            <a:ext cx="5029200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以前的模型逐字往后读，读到后面忘了前面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Transformer 同时看整段，每个词都给其他词打“相关分”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能并行计算，正好吃满 GPU，于是能训练得非常大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78308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783080"/>
            <a:ext cx="502920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96596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规模 + 人类反馈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514600"/>
            <a:ext cx="1737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1.17 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514600"/>
            <a:ext cx="28346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GPT-1（2018）参数量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74720"/>
            <a:ext cx="1737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1750 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474720"/>
            <a:ext cx="28346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GPT-3（2020），两年放大约 1500 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1737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13 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434840"/>
            <a:ext cx="28346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InstructGPT 加了人类反馈（RLHF），回答比 1750 亿的 GPT-3 更受欢迎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4924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规模给“知识”，人类反馈给“说人话”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来源：Vaswani et al. 2017《Attention Is All You Need》；Radford 2018；Brown et al. 2020；Ouyang et al. 2022（InstructGPT）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能力 × 成本一张图：越靠左上越划算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纵轴：AA 智能指数 v4.3；横轴：完成一个测评任务的平均花费（美元，对数刻度）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737360"/>
          <a:ext cx="69494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78308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783080"/>
            <a:ext cx="91440" cy="132588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56231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性价比之王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76272"/>
            <a:ext cx="32004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GPT-6.1 Sol</a:t>
            </a:r>
          </a:p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52 分只要 $0.72；Opus 拿 58 分要 $5.98，贵 8 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20040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3200400"/>
            <a:ext cx="91440" cy="128016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273552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最省钱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93592"/>
            <a:ext cx="32004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小米 MiMo 46 分，每任务 $0.13；Qwen3.8-Max 同档分数却要 $5.41（思考 token 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4572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572000"/>
            <a:ext cx="9144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645152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思考档位是最大的旋钮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965192"/>
            <a:ext cx="32004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Opus low→max：42→58 分，$0.55→$5.98。日常 medium 就够，难题再开 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来源：artificialanalysis.ai，2026-10-17。LMArena 盲测前十分差约 30 分，误差带重叠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选型速查：智能、编程、价格放一张表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API 价格单位：美元 / 每百万 token（输入 / 输出）；编程为 Terminal-Bench 4 得分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1051560"/>
                <a:gridCol w="2011680"/>
                <a:gridCol w="1143000"/>
                <a:gridCol w="320040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编程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输入 / 输出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每任务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适合干什么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Opus 5.5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64.8%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 / $20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84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$5.98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难题、编程、Agent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GPT-6.1 Sol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58.2%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 / $10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$0.72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综合性价比最高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Gemini 4 Argon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 / $10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$1.99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长文档、图片视频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GLM-5.3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41.8%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$1.40 / $4.40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$2.01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国产编程首选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Qwen3.8-Max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27.0%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 / $6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C84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$5.41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中文、国内部署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 K3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 / $15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$2.00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长文写作、少谄媚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MiMo-V2.6-Pro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$0.43 / $0.87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$0.13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开放权重，最省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V4.1 Flash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$0.30 / $1.20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便宜批量，非高峰半价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669280"/>
            <a:ext cx="10698480" cy="384048"/>
          </a:xfrm>
          <a:prstGeom prst="roundRect">
            <a:avLst>
              <a:gd name="adj" fmla="val 6000"/>
            </a:avLst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241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标价低 ≠ 总价低：思考越多，输出 token 越多。Gemini 4 Argon 优惠价到 11-30，之后翻倍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9904"/>
            <a:ext cx="10058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来源：artificialanalysis.ai、Terminal-Bench 4 榜、各厂商价格页，2026-10-17；“—”为该榜未收录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各家脾气一页看完：像十个性格不同的同事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社区口碑 + 部分实测，是“家族印象”，新版本可能已改善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029968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冷酷学霸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41448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数学、精确推理、指令遵循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过度拒答，“爹味”说教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6916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8648" y="1691640"/>
            <a:ext cx="2029968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1847088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148840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耐心老师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441448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编程和 Agent 公认最强，文笔像人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953512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“你说得对”式谄媚，爱过度设计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16916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691640"/>
            <a:ext cx="2029968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1847088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148840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话痨，要鼓励式教育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441448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超长上下文，原生看图看视频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2953512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指令遵循差，会改不让改的代码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2904" y="16916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2904" y="1691640"/>
            <a:ext cx="2029968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1847088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Grok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2148840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敢说，也爹味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2441448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限制少，接 X 实时数据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2953512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争议话题先查马斯克怎么说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00032" y="1691640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00032" y="1691640"/>
            <a:ext cx="2029968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1847088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豆包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7192" y="2148840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正能量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7192" y="2441448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免费，App 里日常问答顺手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953512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爱正能量说教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630168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3630168"/>
            <a:ext cx="2029968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3785616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087368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莽撞小伙，思考狂魔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379976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极便宜，中文和推理强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892040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R1 幻觉率 14.3%，爱加戏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98648" y="3630168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98648" y="3630168"/>
            <a:ext cx="2029968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35808" y="3785616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Qwen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35808" y="4087368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全能工具人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35808" y="4379976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尺寸齐全，本地部署首选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35808" y="4892040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冷门知识易编，疑似刷榜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65776" y="3630168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65776" y="3630168"/>
            <a:ext cx="2029968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02936" y="3785616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Kimi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02936" y="4087368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敢顶嘴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2936" y="4379976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最不谄媚，长文写作好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02936" y="4892040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思考链长，有点啰嗦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32904" y="3630168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32904" y="3630168"/>
            <a:ext cx="2029968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0064" y="3785616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GLM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0064" y="4087368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国产 Claude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70064" y="4379976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编程手感最像 Claude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70064" y="4892040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高峰限流，人称“午夜战神”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00032" y="3630168"/>
            <a:ext cx="20299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00032" y="3630168"/>
            <a:ext cx="2029968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37192" y="3785616"/>
            <a:ext cx="17556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MiniMax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37192" y="4087368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Agent 专精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7192" y="4379976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＋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便宜、速度快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37192" y="4892040"/>
            <a:ext cx="175564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－ </a:t>
            </a:r>
            <a:r>
              <a:rPr sz="10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复杂调试深度不够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5486400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0120" y="5486400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三条规律：推理模型更爱编（DeepSeek V3 3.9% → R1 14.3%）· 拒答和谄媚是跷跷板 · 榜单和体感常对不上，自己试才算数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来源：OpenAI 2026-03 声明；Claude Code issue #3382；SycEval；Vectara 幻觉榜；linux.do 社区反馈，详见备注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海外与开源工具，以及用上它们的四道门槛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注意：Gemini CLI 已于 2026-06-18 停止服务个人账号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91440" cy="1261872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终端编程 Agent，子 Agent、Agent 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3347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无免费版，Pro $20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91440" cy="1261872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OpenAI 编程 Agent，桌面并行 + 云端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3347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含在 ChatGPT 各档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73736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737360"/>
            <a:ext cx="91440" cy="1261872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288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AI 编辑器，补全 +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3347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Free / $8 / $30 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0896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108960"/>
            <a:ext cx="91440" cy="1261872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2004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Cline / opencode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661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开源，自由换模型，可接本地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0507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软件免费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10896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108960"/>
            <a:ext cx="91440" cy="1261872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2004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Kiro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5661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AWS 出品，先写需求规格再写代码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00507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免费 50 积分/月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10896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3108960"/>
            <a:ext cx="91440" cy="1261872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2004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Hark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5661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生活 Agent：记忆、云端浏览器代办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00507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免费，付费加用量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480560"/>
            <a:ext cx="10698480" cy="14630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55371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想用海外工具，先过四道门槛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919472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地区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257800"/>
            <a:ext cx="2423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OpenAI、Anthropic 不对中国大陆和港澳开放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919472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网络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257800"/>
            <a:ext cx="2423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需要稳定的海外线路，IP 别乱跳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919472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 付费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5257800"/>
            <a:ext cx="2423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海外卡或应用商店订阅，国内卡网页直付多被拒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919472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数据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5257800"/>
            <a:ext cx="2423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公司资料能否出境，先看合规要求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来源：各工具官方定价页；OpenAI 支持地区列表；Anthropic 2025-09-05 公告。具体怎么过门槛见第四部分第 1 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Agent = 模型 + Harness：一张图看懂三层功夫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模型决定上限；给它看什么（上下文）和给它什么手脚与规矩（Harness），决定能不能稳定发挥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ED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B4BC4"/>
                </a:solidFill>
                <a:latin typeface="Microsoft YaHei"/>
                <a:ea typeface="Microsoft YaHei"/>
                <a:cs typeface="Microsoft YaHei"/>
              </a:rPr>
              <a:t>Harness 工程：手脚和规矩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8600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工具设计：Bash、读写、搜索、浏览器、操控电脑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99232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999232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权限与沙箱：能动什么、不能动什么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12464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12464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子 Agent / 多 Agent：分工、自主或协同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25696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425696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定时任务、长任务：Dynamic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38928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138928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评估：数据集 + 代码 / 模型 / 人工打分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73736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828800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循环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228600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F6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286000"/>
            <a:ext cx="18288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71032" y="2788920"/>
            <a:ext cx="219456" cy="292608"/>
          </a:xfrm>
          <a:prstGeom prst="downArrow">
            <a:avLst/>
          </a:prstGeom>
          <a:solidFill>
            <a:srgbClr val="6B7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83480" y="3127248"/>
            <a:ext cx="2194560" cy="548640"/>
          </a:xfrm>
          <a:prstGeom prst="roundRect">
            <a:avLst>
              <a:gd name="adj" fmla="val 6000"/>
            </a:avLst>
          </a:prstGeom>
          <a:solidFill>
            <a:srgbClr val="F7D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127248"/>
            <a:ext cx="21945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LLM 思考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257800" y="3721608"/>
            <a:ext cx="219456" cy="292608"/>
          </a:xfrm>
          <a:prstGeom prst="downArrow">
            <a:avLst/>
          </a:prstGeom>
          <a:solidFill>
            <a:srgbClr val="6B7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6675120" y="3721608"/>
            <a:ext cx="219456" cy="292608"/>
          </a:xfrm>
          <a:prstGeom prst="downArrow">
            <a:avLst/>
          </a:prstGeom>
          <a:solidFill>
            <a:srgbClr val="6B7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0" y="406908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069080"/>
            <a:ext cx="13716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最终结果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069080"/>
            <a:ext cx="1417320" cy="502920"/>
          </a:xfrm>
          <a:prstGeom prst="roundRect">
            <a:avLst>
              <a:gd name="adj" fmla="val 6000"/>
            </a:avLst>
          </a:prstGeom>
          <a:solidFill>
            <a:srgbClr val="9FD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4069080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32" name="Up Arrow 31"/>
          <p:cNvSpPr/>
          <p:nvPr/>
        </p:nvSpPr>
        <p:spPr>
          <a:xfrm>
            <a:off x="7315200" y="3246120"/>
            <a:ext cx="237744" cy="777240"/>
          </a:xfrm>
          <a:prstGeom prst="upArrow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709160"/>
            <a:ext cx="310896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工具结果再喂回 LLM，循环直到完成。Agent 不是一次问答，是“想→做→看结果→再想”。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73736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E3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82880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上下文工程：给它看什么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28600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8" y="228600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系统提示词、AGENTS.md：长期规矩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2999232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8" y="2999232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用户记忆 + 会话历史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712464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8" y="3712464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RAG、知识图谱：按需查资料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425696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8" y="4425696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Skill、MCP：渐进式披露，用到才加载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5138928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8" y="5138928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上下文编排与压缩：长任务不“失忆”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整理自社区 Agent 知识图谱；参考 Anthropic《Building effective agents》、anthropics/skills（★18.2 万）、MCP servers（★9.1 万）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RAG 进阶：开源项目、论文，和一次实测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效果差时先查检索，再考虑换模型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126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91440" cy="768096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92224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RAGFlow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★ 9.2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737360"/>
            <a:ext cx="370332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深度文档理解：先把 PDF 表格、版面解析对，再切块检索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78608"/>
            <a:ext cx="6126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578608"/>
            <a:ext cx="91440" cy="7680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334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GraphRAG（微软）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718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★ 3.6 万 ·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578608"/>
            <a:ext cx="370332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先建知识图谱再总结，适合“全文讲了哪些主题”这类全局问题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19856"/>
            <a:ext cx="6126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19856"/>
            <a:ext cx="91440" cy="7680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LightRAG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1304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★ 4.0 万 · EMNLP 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419856"/>
            <a:ext cx="370332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图 + 向量双层检索，比 GraphRAG 更快更省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61104"/>
            <a:ext cx="6126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61104"/>
            <a:ext cx="91440" cy="768096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31596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Self-RAG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654296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ICLR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261104"/>
            <a:ext cx="370332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模型自己判断要不要检索，并检查证据是否支持答案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02352"/>
            <a:ext cx="612648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102352"/>
            <a:ext cx="91440" cy="768096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157216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RAGAS / promptfoo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495544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★ 1.6 万 / 2.6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102352"/>
            <a:ext cx="370332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自动评估：答案是否忠于原文、该找的找到没有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1737360"/>
            <a:ext cx="4343400" cy="4133087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1874519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实测：上市公司年报问答 20 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377440"/>
            <a:ext cx="14630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 / 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377440"/>
            <a:ext cx="242316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固定 3 轮检索，耗 88,497 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246120"/>
            <a:ext cx="14630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 / 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246120"/>
            <a:ext cx="242316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自适应检索 + 优化召回，只耗 16,224 token（省 82%）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114800"/>
            <a:ext cx="14630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 / 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114800"/>
            <a:ext cx="242316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单轮检索、只优化召回，也全对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5029200"/>
            <a:ext cx="38404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结论：提升主要来自“找得准”，不是模型更强。注：题目只有 20 道，召回词典按题集调过，有过拟合风险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来源：GitHub API（2026-10-17）；Edge et al. arXiv 2404.16130；Guo et al. Findings of EMNLP 2025；Asai et al. Self-RAG；实测为本次分享准备的小实验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同一个模型，两种交付：AI 编程的六个检查点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需求：给列表页加个“导出 Excel”按钮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91440" cy="1783080"/>
          </a:xfrm>
          <a:prstGeom prst="rect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版本 A：一句话丢给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484632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十分钟写完，测试是绿的，然后：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导出列对不上 · 十万行直接卡死 · 没做权限校验 · 下个人不知道为什么这么写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91440" cy="1783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10512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版本 B：先对齐，再动手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76272"/>
            <a:ext cx="484632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先问清列、数据量、权限 → 写成 Spec → 拆成三个能独立验收的小块 → 测试先行 → 独立审查抓出“权限缺失” → 留交接文档</a:t>
            </a:r>
          </a:p>
        </p:txBody>
      </p:sp>
      <p:sp>
        <p:nvSpPr>
          <p:cNvPr id="15" name="Pentagon 14"/>
          <p:cNvSpPr/>
          <p:nvPr/>
        </p:nvSpPr>
        <p:spPr>
          <a:xfrm>
            <a:off x="731520" y="3703320"/>
            <a:ext cx="1691640" cy="640080"/>
          </a:xfrm>
          <a:prstGeom prst="homePlate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14173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Brainstorm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理解的是同一个问题吗？</a:t>
            </a:r>
          </a:p>
        </p:txBody>
      </p:sp>
      <p:sp>
        <p:nvSpPr>
          <p:cNvPr id="18" name="Chevron 17"/>
          <p:cNvSpPr/>
          <p:nvPr/>
        </p:nvSpPr>
        <p:spPr>
          <a:xfrm>
            <a:off x="2532888" y="3703320"/>
            <a:ext cx="1691640" cy="640080"/>
          </a:xfrm>
          <a:prstGeom prst="chevron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3703320"/>
            <a:ext cx="14173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4434840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责任放在系统哪一层？</a:t>
            </a:r>
          </a:p>
        </p:txBody>
      </p:sp>
      <p:sp>
        <p:nvSpPr>
          <p:cNvPr id="21" name="Chevron 20"/>
          <p:cNvSpPr/>
          <p:nvPr/>
        </p:nvSpPr>
        <p:spPr>
          <a:xfrm>
            <a:off x="4334256" y="3703320"/>
            <a:ext cx="1691640" cy="640080"/>
          </a:xfrm>
          <a:prstGeom prst="chevron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3703320"/>
            <a:ext cx="14173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4434840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能拆成独立验收的小块吗？</a:t>
            </a:r>
          </a:p>
        </p:txBody>
      </p:sp>
      <p:sp>
        <p:nvSpPr>
          <p:cNvPr id="24" name="Chevron 23"/>
          <p:cNvSpPr/>
          <p:nvPr/>
        </p:nvSpPr>
        <p:spPr>
          <a:xfrm>
            <a:off x="6135624" y="3703320"/>
            <a:ext cx="1691640" cy="640080"/>
          </a:xfrm>
          <a:prstGeom prst="chevron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3703320"/>
            <a:ext cx="14173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4434840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每一步有快速反馈吗？</a:t>
            </a:r>
          </a:p>
        </p:txBody>
      </p:sp>
      <p:sp>
        <p:nvSpPr>
          <p:cNvPr id="27" name="Chevron 26"/>
          <p:cNvSpPr/>
          <p:nvPr/>
        </p:nvSpPr>
        <p:spPr>
          <a:xfrm>
            <a:off x="7936992" y="3703320"/>
            <a:ext cx="1691640" cy="640080"/>
          </a:xfrm>
          <a:prstGeom prst="chevron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4152" y="3703320"/>
            <a:ext cx="14173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验证审查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4434840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有证据证明做对了吗？</a:t>
            </a:r>
          </a:p>
        </p:txBody>
      </p:sp>
      <p:sp>
        <p:nvSpPr>
          <p:cNvPr id="30" name="Chevron 29"/>
          <p:cNvSpPr/>
          <p:nvPr/>
        </p:nvSpPr>
        <p:spPr>
          <a:xfrm>
            <a:off x="9738360" y="3703320"/>
            <a:ext cx="1691640" cy="640080"/>
          </a:xfrm>
          <a:prstGeom prst="chevron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3703320"/>
            <a:ext cx="14173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Ship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交付沉淀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4434840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下一位能接得上吗？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1208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212080"/>
            <a:ext cx="1024128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差距不在模型，在 Harness：小任务直接聊，跨模块、涉及权限资金隐私的任务才走全六步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来源：czm《从 AI 写代码到 AI 工作流》（czm15053.github.io/ai-workflow-six-stages）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六阶段怎么落地：GitHub 上的开源工作流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按“团队最常在哪一步失控”来挑，不必全装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051560"/>
                <a:gridCol w="3291840"/>
                <a:gridCol w="1783080"/>
                <a:gridCol w="2057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★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强化哪几步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obra/superpowers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30.1 万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 Agent 立纪律：硬门禁、TDD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澄清 · 执行 · 验证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写得随意、不爱测试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mattpocock/skills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29.4 万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小而可组合的 Skill：盘问、写 Spec、交接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按需挑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想轻量起步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Fission-AI/OpenSpec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7.2 万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先写变更合同，审过再动手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 · 规划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需求常跑偏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gsd-build/get-shit-done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6.4 万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长任务分阶段，防上下文“腐烂”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 · 执行 · 交付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多天的大任务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BMAD-METHOD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 万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角色化敏捷团队：PM、架构、QA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全流程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复杂新产品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oh-my-claudecode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 万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Agent 编排与运行时治理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 · 验证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并行多 Agent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mindfold-ai/Trellis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28C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 万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任务和项目记忆存进仓库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规划到交付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跨会话、多人接力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来源：GitHub API，2026-10-17；定位与阶段映射参考 czm《从 AI 写代码到 AI 工作流》，非官方评级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GitHub 上值得收藏的 AI 开源项目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按星数排序，数据 2026-10-17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691640"/>
          <a:ext cx="67665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1737360"/>
            <a:ext cx="37033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737360"/>
            <a:ext cx="91440" cy="132588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810512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文档进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148840"/>
            <a:ext cx="33832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markitdown、MinerU、PaddleOCR：PDF、Excel、扫描件转成 AI 读得懂的文本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154680"/>
            <a:ext cx="37033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3154680"/>
            <a:ext cx="91440" cy="132588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1" y="3227832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搭应用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1" y="3566160"/>
            <a:ext cx="33832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Dify、n8n：拖拽搭工作流；Open WebUI：私有化聊天界面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572000"/>
            <a:ext cx="37033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4572000"/>
            <a:ext cx="91440" cy="13258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1" y="4645152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让 Agent 干活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1" y="4983480"/>
            <a:ext cx="33832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browser-use、OpenHands、MCP、Skills、mem0：手脚、工具、记忆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第 1 节 · 海外注册：网络、手机号、支付、条款四道关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讲清楚现状和坑，不保证任何一条一定能过；平台风控随时在变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8775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2587752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2219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1  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267712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机场节点 IP 多人共用，容易触发风控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家宽 / 原生住宅 IP 更像真人，更稳，但不是必需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固定一个地区，注册和日常别频繁跳节点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37360"/>
            <a:ext cx="258775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737360"/>
            <a:ext cx="2587752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2219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2  手机号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68880"/>
            <a:ext cx="2267712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OpenAI 不收 VoIP / Google Voice，只认移动号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常见做法：esim.gg 爱沙尼亚 +372 实体号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号码 €2.99，收短信免费，约一年用一次保号；能否过验证看平台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37360"/>
            <a:ext cx="258775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2587752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22219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  支付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2267712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国内卡网页直付 OpenAI、Claude 多数被拒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App 内订阅更容易：安卓 Google Play 绑招行万事达借记卡，或 iPhone 用 Apple Pay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结果受卡种、渠道、地区和风控影响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737360"/>
            <a:ext cx="2587752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1737360"/>
            <a:ext cx="2587752" cy="91440"/>
          </a:xfrm>
          <a:prstGeom prst="rect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920240"/>
            <a:ext cx="222199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4  条款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468880"/>
            <a:ext cx="2267712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OpenAI、Anthropic 不支持中国大陆和港澳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Anthropic 2025-09-05 起限制中资控股超 50% 的企业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以上做法违反地区条款，账号随时可能被封，余额不退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23560"/>
            <a:ext cx="10698480" cy="4114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62356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个人试用可以自己权衡；公司账号和公司资料，只走官方支持地区或国内合规渠道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第 1 节 · 两个最常被问的：esim.gg 和招行卡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都是社区里常见的说法，实际以官方页面和当下风控为准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578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257800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754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esim.gg：一个能收短信的海外号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爱沙尼亚 +372 号码，号码约 €2.99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收短信免费；流量另买（42 国 10GB 约 €9）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需要支持 eSIM 的手机，或 eSIM 卡贴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保号：大约一年内要用一次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坑：部分平台（如 X）不给 +372 发验证码；号码能否通过验证看平台风控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2578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5257800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754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招商银行卡：走应用商店，别走网页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68880"/>
            <a:ext cx="475488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网页直接绑卡付 OpenAI、Claude：大陆发行卡多数被拒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安卓：Google Play 绑招行万事达借记卡（先开通跨境线上支付），在 App 里订阅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iPhone：海外 Apple ID + Apple Pay 绑招行卡，App 内订阅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兜底：用应用商店礼品卡充值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· 坑：卡种、地区、渠道一变就可能失败；退款和售后麻烦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98480" cy="384048"/>
          </a:xfrm>
          <a:prstGeom prst="roundRect">
            <a:avLst>
              <a:gd name="adj" fmla="val 6000"/>
            </a:avLst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669280"/>
            <a:ext cx="10241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这些都只解决“注册得上”，解决不了“合不合规”和“会不会被封”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第 2 节 · 白嫖手段：反代、号池、IP 池，各有代价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只讲原理和风险，不教具体操作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69494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514600"/>
                <a:gridCol w="25603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做法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原理（一句话）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</a:t>
                      </a:r>
                    </a:p>
                  </a:txBody>
                  <a:tcPr marL="109728" marR="73152" marT="27432" marB="27432" anchor="ctr"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反代 / 中转站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第三方用海外账号转发接口，低价按量卖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提问和 Key 经第三方；可能偷换便宜模型；会跑路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多账号轮换（号池）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批量注册免费号或订阅号，额度用完自动切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批量注册违反条款，关联封号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 池 / 住宅代理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每个号配不同出口 IP，躲开风控关联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代理来源不明，常是被控设备；钱也不少花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订阅转 API 网关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 Claude Code、Codex 订阅当 API 共用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订阅只许本人使用；密钥集中一处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/ 拼车号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多人分摊一个 Plus / Pro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聊天记录车友可见；封号不退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免费额度叠加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各家新人额度、免费模型轮着用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2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合规，但额度常变；免费层数据可能被拿去训练</a:t>
                      </a:r>
                    </a:p>
                  </a:txBody>
                  <a:tcPr marL="109728" marR="73152" marT="27432" marB="27432" anchor="ctr"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69164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28800"/>
            <a:ext cx="3154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中转站卖的，是不是你付钱的那个模型？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54680" cy="2926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UC 伯克利 2025 年论文审计了 API 模型替换：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服务商可能偷偷换成量化版或更小的模型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只看输出文字很难测出来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可信硬件（TEE）证明才比较可靠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中转站没有任何这类保证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10698480" cy="41148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红线：公司资料和客户数据，绝不走第三方中转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000" b="1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第 3 节 · 防住破限有多难：两组公开数据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防守在变强，但没有一劳永逸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5508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AI 交流分享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502152" cy="91440"/>
          </a:xfrm>
          <a:prstGeom prst="rect">
            <a:avLst/>
          </a:prstGeom>
          <a:solidFill>
            <a:srgbClr val="F28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3044952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F28C38"/>
                </a:solidFill>
                <a:latin typeface="Microsoft YaHei"/>
                <a:ea typeface="Microsoft YaHei"/>
                <a:cs typeface="Microsoft YaHei"/>
              </a:rPr>
              <a:t>86% → 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3044952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加上“宪法分类器”后，1 万条合成越狱提示的成功率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Anthropic，2025-02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3736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737360"/>
            <a:ext cx="3502152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965960"/>
            <a:ext cx="3044952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3000+ 小时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88920"/>
            <a:ext cx="3044952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183 人悬赏红队，内测两个月没找到通用越狱；后来公开挑战有人攻破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977639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Anthropic，2025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8704" y="173736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18704" y="1737360"/>
            <a:ext cx="3502152" cy="91440"/>
          </a:xfrm>
          <a:prstGeom prst="rect">
            <a:avLst/>
          </a:prstGeom>
          <a:solidFill>
            <a:srgbClr val="1F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965960"/>
            <a:ext cx="3044952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1FA7B8"/>
                </a:solidFill>
                <a:latin typeface="Microsoft YaHei"/>
                <a:ea typeface="Microsoft YaHei"/>
                <a:cs typeface="Microsoft YaHei"/>
              </a:rPr>
              <a:t>19.8 万次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788920"/>
            <a:ext cx="3044952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新一代分类器 1700 多小时红队测试，只发现 1 个高危漏洞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3977639"/>
            <a:ext cx="30449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B7685"/>
                </a:solidFill>
                <a:latin typeface="Microsoft YaHei"/>
                <a:ea typeface="Microsoft YaHei"/>
                <a:cs typeface="Microsoft YaHei"/>
              </a:rPr>
              <a:t>Anthropic，2026-01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17720"/>
            <a:ext cx="91440" cy="1005840"/>
          </a:xfrm>
          <a:prstGeom prst="rect">
            <a:avLst/>
          </a:prstGeom>
          <a:solidFill>
            <a:srgbClr val="C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81728"/>
            <a:ext cx="10241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C84B3C"/>
                </a:solidFill>
                <a:latin typeface="Microsoft YaHei"/>
                <a:ea typeface="Microsoft YaHei"/>
                <a:cs typeface="Microsoft YaHei"/>
              </a:rPr>
              <a:t>反过来：模型越大、上下文越长，越容易被“多样本越狱”带偏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47488"/>
            <a:ext cx="102412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2233"/>
                </a:solidFill>
                <a:latin typeface="Microsoft YaHei"/>
                <a:ea typeface="Microsoft YaHei"/>
                <a:cs typeface="Microsoft YaHei"/>
              </a:rPr>
              <a:t>塞进几百段虚构的顺从示范，成功率随示范数按幂律上升（Anthropic 2024，对 Claude、GPT-4、Llama 都有效）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15000"/>
            <a:ext cx="10698480" cy="384048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715000"/>
            <a:ext cx="10241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对企业的意义：上线前做红队测试，加输入输出过滤，别只靠模型自觉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